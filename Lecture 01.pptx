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76"/>
  </p:notesMasterIdLst>
  <p:handoutMasterIdLst>
    <p:handoutMasterId r:id="rId77"/>
  </p:handoutMasterIdLst>
  <p:sldIdLst>
    <p:sldId id="330" r:id="rId2"/>
    <p:sldId id="347" r:id="rId3"/>
    <p:sldId id="348" r:id="rId4"/>
    <p:sldId id="417" r:id="rId5"/>
    <p:sldId id="349" r:id="rId6"/>
    <p:sldId id="350" r:id="rId7"/>
    <p:sldId id="411" r:id="rId8"/>
    <p:sldId id="352" r:id="rId9"/>
    <p:sldId id="353" r:id="rId10"/>
    <p:sldId id="354" r:id="rId11"/>
    <p:sldId id="421" r:id="rId12"/>
    <p:sldId id="356" r:id="rId13"/>
    <p:sldId id="357" r:id="rId14"/>
    <p:sldId id="358" r:id="rId15"/>
    <p:sldId id="360" r:id="rId16"/>
    <p:sldId id="359" r:id="rId17"/>
    <p:sldId id="413" r:id="rId18"/>
    <p:sldId id="420" r:id="rId19"/>
    <p:sldId id="361" r:id="rId20"/>
    <p:sldId id="419" r:id="rId21"/>
    <p:sldId id="422" r:id="rId22"/>
    <p:sldId id="423" r:id="rId23"/>
    <p:sldId id="363" r:id="rId24"/>
    <p:sldId id="393" r:id="rId25"/>
    <p:sldId id="364" r:id="rId26"/>
    <p:sldId id="408" r:id="rId27"/>
    <p:sldId id="404" r:id="rId28"/>
    <p:sldId id="403" r:id="rId29"/>
    <p:sldId id="375" r:id="rId30"/>
    <p:sldId id="426" r:id="rId31"/>
    <p:sldId id="427" r:id="rId32"/>
    <p:sldId id="374" r:id="rId33"/>
    <p:sldId id="429" r:id="rId34"/>
    <p:sldId id="430" r:id="rId35"/>
    <p:sldId id="376" r:id="rId36"/>
    <p:sldId id="377" r:id="rId37"/>
    <p:sldId id="378" r:id="rId38"/>
    <p:sldId id="379" r:id="rId39"/>
    <p:sldId id="380" r:id="rId40"/>
    <p:sldId id="381" r:id="rId41"/>
    <p:sldId id="366" r:id="rId42"/>
    <p:sldId id="435" r:id="rId43"/>
    <p:sldId id="407" r:id="rId44"/>
    <p:sldId id="384" r:id="rId45"/>
    <p:sldId id="385" r:id="rId46"/>
    <p:sldId id="391" r:id="rId47"/>
    <p:sldId id="409" r:id="rId48"/>
    <p:sldId id="400" r:id="rId49"/>
    <p:sldId id="434" r:id="rId50"/>
    <p:sldId id="424" r:id="rId51"/>
    <p:sldId id="367" r:id="rId52"/>
    <p:sldId id="369" r:id="rId53"/>
    <p:sldId id="370" r:id="rId54"/>
    <p:sldId id="414" r:id="rId55"/>
    <p:sldId id="371" r:id="rId56"/>
    <p:sldId id="372" r:id="rId57"/>
    <p:sldId id="416" r:id="rId58"/>
    <p:sldId id="425" r:id="rId59"/>
    <p:sldId id="386" r:id="rId60"/>
    <p:sldId id="432" r:id="rId61"/>
    <p:sldId id="398" r:id="rId62"/>
    <p:sldId id="389" r:id="rId63"/>
    <p:sldId id="390" r:id="rId64"/>
    <p:sldId id="401" r:id="rId65"/>
    <p:sldId id="431" r:id="rId66"/>
    <p:sldId id="402" r:id="rId67"/>
    <p:sldId id="387" r:id="rId68"/>
    <p:sldId id="392" r:id="rId69"/>
    <p:sldId id="412" r:id="rId70"/>
    <p:sldId id="436" r:id="rId71"/>
    <p:sldId id="394" r:id="rId72"/>
    <p:sldId id="395" r:id="rId73"/>
    <p:sldId id="396" r:id="rId74"/>
    <p:sldId id="331" r:id="rId75"/>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3" autoAdjust="0"/>
    <p:restoredTop sz="70950" autoAdjust="0"/>
  </p:normalViewPr>
  <p:slideViewPr>
    <p:cSldViewPr snapToGrid="0">
      <p:cViewPr varScale="1">
        <p:scale>
          <a:sx n="69" d="100"/>
          <a:sy n="69" d="100"/>
        </p:scale>
        <p:origin x="1742" y="67"/>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6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S Graduate Portal" userId="11a2f9de-9a00-4ac3-9430-f720d285ba39" providerId="ADAL" clId="{FD175389-D465-49AA-9459-07131C311C97}"/>
    <pc:docChg chg="modSld">
      <pc:chgData name="CS Graduate Portal" userId="11a2f9de-9a00-4ac3-9430-f720d285ba39" providerId="ADAL" clId="{FD175389-D465-49AA-9459-07131C311C97}" dt="2026-01-17T11:51:38.044" v="2" actId="729"/>
      <pc:docMkLst>
        <pc:docMk/>
      </pc:docMkLst>
      <pc:sldChg chg="modNotes">
        <pc:chgData name="CS Graduate Portal" userId="11a2f9de-9a00-4ac3-9430-f720d285ba39" providerId="ADAL" clId="{FD175389-D465-49AA-9459-07131C311C97}" dt="2026-01-17T11:41:00.024" v="1"/>
        <pc:sldMkLst>
          <pc:docMk/>
          <pc:sldMk cId="0" sldId="354"/>
        </pc:sldMkLst>
      </pc:sldChg>
      <pc:sldChg chg="modNotes">
        <pc:chgData name="CS Graduate Portal" userId="11a2f9de-9a00-4ac3-9430-f720d285ba39" providerId="ADAL" clId="{FD175389-D465-49AA-9459-07131C311C97}" dt="2026-01-17T11:41:00.024" v="1"/>
        <pc:sldMkLst>
          <pc:docMk/>
          <pc:sldMk cId="0" sldId="363"/>
        </pc:sldMkLst>
      </pc:sldChg>
      <pc:sldChg chg="modNotes">
        <pc:chgData name="CS Graduate Portal" userId="11a2f9de-9a00-4ac3-9430-f720d285ba39" providerId="ADAL" clId="{FD175389-D465-49AA-9459-07131C311C97}" dt="2026-01-17T11:41:00.024" v="1"/>
        <pc:sldMkLst>
          <pc:docMk/>
          <pc:sldMk cId="0" sldId="375"/>
        </pc:sldMkLst>
      </pc:sldChg>
      <pc:sldChg chg="modNotes">
        <pc:chgData name="CS Graduate Portal" userId="11a2f9de-9a00-4ac3-9430-f720d285ba39" providerId="ADAL" clId="{FD175389-D465-49AA-9459-07131C311C97}" dt="2026-01-17T11:41:00.024" v="1"/>
        <pc:sldMkLst>
          <pc:docMk/>
          <pc:sldMk cId="0" sldId="381"/>
        </pc:sldMkLst>
      </pc:sldChg>
      <pc:sldChg chg="mod modShow">
        <pc:chgData name="CS Graduate Portal" userId="11a2f9de-9a00-4ac3-9430-f720d285ba39" providerId="ADAL" clId="{FD175389-D465-49AA-9459-07131C311C97}" dt="2026-01-17T11:51:38.044" v="2" actId="729"/>
        <pc:sldMkLst>
          <pc:docMk/>
          <pc:sldMk cId="0" sldId="384"/>
        </pc:sldMkLst>
      </pc:sldChg>
      <pc:sldChg chg="modNotes">
        <pc:chgData name="CS Graduate Portal" userId="11a2f9de-9a00-4ac3-9430-f720d285ba39" providerId="ADAL" clId="{FD175389-D465-49AA-9459-07131C311C97}" dt="2026-01-17T11:41:00.024" v="1"/>
        <pc:sldMkLst>
          <pc:docMk/>
          <pc:sldMk cId="1975106829" sldId="423"/>
        </pc:sldMkLst>
      </pc:sldChg>
      <pc:sldChg chg="modNotes">
        <pc:chgData name="CS Graduate Portal" userId="11a2f9de-9a00-4ac3-9430-f720d285ba39" providerId="ADAL" clId="{FD175389-D465-49AA-9459-07131C311C97}" dt="2026-01-17T11:41:00.024" v="1"/>
        <pc:sldMkLst>
          <pc:docMk/>
          <pc:sldMk cId="4218784340" sldId="430"/>
        </pc:sldMkLst>
      </pc:sldChg>
    </pc:docChg>
  </pc:docChgLst>
  <pc:docChgLst>
    <pc:chgData name="CS Graduate Portal" userId="11a2f9de-9a00-4ac3-9430-f720d285ba39" providerId="ADAL" clId="{22F3D2E6-24AA-4DBD-8450-F5B9505859DB}"/>
    <pc:docChg chg="modSld">
      <pc:chgData name="CS Graduate Portal" userId="11a2f9de-9a00-4ac3-9430-f720d285ba39" providerId="ADAL" clId="{22F3D2E6-24AA-4DBD-8450-F5B9505859DB}" dt="2025-08-28T05:37:36.638" v="0"/>
      <pc:docMkLst>
        <pc:docMk/>
      </pc:docMkLst>
      <pc:sldChg chg="modNotesTx">
        <pc:chgData name="CS Graduate Portal" userId="11a2f9de-9a00-4ac3-9430-f720d285ba39" providerId="ADAL" clId="{22F3D2E6-24AA-4DBD-8450-F5B9505859DB}" dt="2025-08-28T05:37:36.638" v="0"/>
        <pc:sldMkLst>
          <pc:docMk/>
          <pc:sldMk cId="2023772516" sldId="435"/>
        </pc:sldMkLst>
      </pc:sldChg>
    </pc:docChg>
  </pc:docChgLst>
  <pc:docChgLst>
    <pc:chgData name="CS Graduate Portal" userId="11a2f9de-9a00-4ac3-9430-f720d285ba39" providerId="ADAL" clId="{580E1501-05DF-46ED-9DC7-2818D7A40E61}"/>
    <pc:docChg chg="undo custSel addSld delSld modSld">
      <pc:chgData name="CS Graduate Portal" userId="11a2f9de-9a00-4ac3-9430-f720d285ba39" providerId="ADAL" clId="{580E1501-05DF-46ED-9DC7-2818D7A40E61}" dt="2024-08-23T14:32:41.745" v="513" actId="20577"/>
      <pc:docMkLst>
        <pc:docMk/>
      </pc:docMkLst>
      <pc:sldChg chg="modSp mod">
        <pc:chgData name="CS Graduate Portal" userId="11a2f9de-9a00-4ac3-9430-f720d285ba39" providerId="ADAL" clId="{580E1501-05DF-46ED-9DC7-2818D7A40E61}" dt="2024-08-17T18:37:02.365" v="185" actId="20577"/>
        <pc:sldMkLst>
          <pc:docMk/>
          <pc:sldMk cId="0" sldId="347"/>
        </pc:sldMkLst>
        <pc:spChg chg="mod">
          <ac:chgData name="CS Graduate Portal" userId="11a2f9de-9a00-4ac3-9430-f720d285ba39" providerId="ADAL" clId="{580E1501-05DF-46ED-9DC7-2818D7A40E61}" dt="2024-08-17T18:37:02.365" v="185" actId="20577"/>
          <ac:spMkLst>
            <pc:docMk/>
            <pc:sldMk cId="0" sldId="347"/>
            <ac:spMk id="7171" creationId="{D002EA22-F1BB-4F36-8EAD-4A3CBBBFD932}"/>
          </ac:spMkLst>
        </pc:spChg>
      </pc:sldChg>
      <pc:sldChg chg="modSp mod">
        <pc:chgData name="CS Graduate Portal" userId="11a2f9de-9a00-4ac3-9430-f720d285ba39" providerId="ADAL" clId="{580E1501-05DF-46ED-9DC7-2818D7A40E61}" dt="2024-08-17T01:28:35.712" v="180" actId="20577"/>
        <pc:sldMkLst>
          <pc:docMk/>
          <pc:sldMk cId="0" sldId="348"/>
        </pc:sldMkLst>
        <pc:spChg chg="mod">
          <ac:chgData name="CS Graduate Portal" userId="11a2f9de-9a00-4ac3-9430-f720d285ba39" providerId="ADAL" clId="{580E1501-05DF-46ED-9DC7-2818D7A40E61}" dt="2024-08-17T01:28:35.712" v="180" actId="20577"/>
          <ac:spMkLst>
            <pc:docMk/>
            <pc:sldMk cId="0" sldId="348"/>
            <ac:spMk id="9219" creationId="{6838C557-FE18-4536-BEF7-BBF21B888B10}"/>
          </ac:spMkLst>
        </pc:spChg>
      </pc:sldChg>
      <pc:sldChg chg="modSp mod">
        <pc:chgData name="CS Graduate Portal" userId="11a2f9de-9a00-4ac3-9430-f720d285ba39" providerId="ADAL" clId="{580E1501-05DF-46ED-9DC7-2818D7A40E61}" dt="2024-08-17T18:39:51.995" v="186" actId="20577"/>
        <pc:sldMkLst>
          <pc:docMk/>
          <pc:sldMk cId="0" sldId="352"/>
        </pc:sldMkLst>
        <pc:spChg chg="mod">
          <ac:chgData name="CS Graduate Portal" userId="11a2f9de-9a00-4ac3-9430-f720d285ba39" providerId="ADAL" clId="{580E1501-05DF-46ED-9DC7-2818D7A40E61}" dt="2024-08-17T18:39:51.995" v="186" actId="20577"/>
          <ac:spMkLst>
            <pc:docMk/>
            <pc:sldMk cId="0" sldId="352"/>
            <ac:spMk id="15363" creationId="{CFEE02D0-0B66-42F3-A811-C29D1CE4B68A}"/>
          </ac:spMkLst>
        </pc:spChg>
      </pc:sldChg>
      <pc:sldChg chg="modSp mod">
        <pc:chgData name="CS Graduate Portal" userId="11a2f9de-9a00-4ac3-9430-f720d285ba39" providerId="ADAL" clId="{580E1501-05DF-46ED-9DC7-2818D7A40E61}" dt="2024-08-17T18:41:32.851" v="188" actId="20577"/>
        <pc:sldMkLst>
          <pc:docMk/>
          <pc:sldMk cId="0" sldId="353"/>
        </pc:sldMkLst>
        <pc:spChg chg="mod">
          <ac:chgData name="CS Graduate Portal" userId="11a2f9de-9a00-4ac3-9430-f720d285ba39" providerId="ADAL" clId="{580E1501-05DF-46ED-9DC7-2818D7A40E61}" dt="2024-08-17T18:41:32.851" v="188" actId="20577"/>
          <ac:spMkLst>
            <pc:docMk/>
            <pc:sldMk cId="0" sldId="353"/>
            <ac:spMk id="16387" creationId="{BA616C95-31EB-4384-984E-E8D92B883E14}"/>
          </ac:spMkLst>
        </pc:spChg>
      </pc:sldChg>
      <pc:sldChg chg="modNotesTx">
        <pc:chgData name="CS Graduate Portal" userId="11a2f9de-9a00-4ac3-9430-f720d285ba39" providerId="ADAL" clId="{580E1501-05DF-46ED-9DC7-2818D7A40E61}" dt="2024-08-23T14:28:27.089" v="368"/>
        <pc:sldMkLst>
          <pc:docMk/>
          <pc:sldMk cId="0" sldId="354"/>
        </pc:sldMkLst>
      </pc:sldChg>
      <pc:sldChg chg="modSp mod">
        <pc:chgData name="CS Graduate Portal" userId="11a2f9de-9a00-4ac3-9430-f720d285ba39" providerId="ADAL" clId="{580E1501-05DF-46ED-9DC7-2818D7A40E61}" dt="2024-08-17T18:44:18.982" v="189" actId="20577"/>
        <pc:sldMkLst>
          <pc:docMk/>
          <pc:sldMk cId="0" sldId="359"/>
        </pc:sldMkLst>
        <pc:spChg chg="mod">
          <ac:chgData name="CS Graduate Portal" userId="11a2f9de-9a00-4ac3-9430-f720d285ba39" providerId="ADAL" clId="{580E1501-05DF-46ED-9DC7-2818D7A40E61}" dt="2024-08-17T18:44:18.982" v="189" actId="20577"/>
          <ac:spMkLst>
            <pc:docMk/>
            <pc:sldMk cId="0" sldId="359"/>
            <ac:spMk id="30723" creationId="{DD3C56CA-14C9-45EF-B0B3-BE810695D017}"/>
          </ac:spMkLst>
        </pc:spChg>
      </pc:sldChg>
      <pc:sldChg chg="modNotesTx">
        <pc:chgData name="CS Graduate Portal" userId="11a2f9de-9a00-4ac3-9430-f720d285ba39" providerId="ADAL" clId="{580E1501-05DF-46ED-9DC7-2818D7A40E61}" dt="2024-08-18T01:21:12.798" v="193"/>
        <pc:sldMkLst>
          <pc:docMk/>
          <pc:sldMk cId="0" sldId="363"/>
        </pc:sldMkLst>
      </pc:sldChg>
      <pc:sldChg chg="mod modShow">
        <pc:chgData name="CS Graduate Portal" userId="11a2f9de-9a00-4ac3-9430-f720d285ba39" providerId="ADAL" clId="{580E1501-05DF-46ED-9DC7-2818D7A40E61}" dt="2024-08-17T01:26:41.572" v="0" actId="729"/>
        <pc:sldMkLst>
          <pc:docMk/>
          <pc:sldMk cId="4234517732" sldId="367"/>
        </pc:sldMkLst>
      </pc:sldChg>
      <pc:sldChg chg="mod modShow">
        <pc:chgData name="CS Graduate Portal" userId="11a2f9de-9a00-4ac3-9430-f720d285ba39" providerId="ADAL" clId="{580E1501-05DF-46ED-9DC7-2818D7A40E61}" dt="2024-08-17T01:26:41.572" v="0" actId="729"/>
        <pc:sldMkLst>
          <pc:docMk/>
          <pc:sldMk cId="383480689" sldId="369"/>
        </pc:sldMkLst>
      </pc:sldChg>
      <pc:sldChg chg="mod modShow">
        <pc:chgData name="CS Graduate Portal" userId="11a2f9de-9a00-4ac3-9430-f720d285ba39" providerId="ADAL" clId="{580E1501-05DF-46ED-9DC7-2818D7A40E61}" dt="2024-08-17T01:26:41.572" v="0" actId="729"/>
        <pc:sldMkLst>
          <pc:docMk/>
          <pc:sldMk cId="2776590847" sldId="370"/>
        </pc:sldMkLst>
      </pc:sldChg>
      <pc:sldChg chg="mod modShow">
        <pc:chgData name="CS Graduate Portal" userId="11a2f9de-9a00-4ac3-9430-f720d285ba39" providerId="ADAL" clId="{580E1501-05DF-46ED-9DC7-2818D7A40E61}" dt="2024-08-17T01:26:41.572" v="0" actId="729"/>
        <pc:sldMkLst>
          <pc:docMk/>
          <pc:sldMk cId="93671000" sldId="371"/>
        </pc:sldMkLst>
      </pc:sldChg>
      <pc:sldChg chg="mod modShow">
        <pc:chgData name="CS Graduate Portal" userId="11a2f9de-9a00-4ac3-9430-f720d285ba39" providerId="ADAL" clId="{580E1501-05DF-46ED-9DC7-2818D7A40E61}" dt="2024-08-17T01:26:41.572" v="0" actId="729"/>
        <pc:sldMkLst>
          <pc:docMk/>
          <pc:sldMk cId="675199779" sldId="372"/>
        </pc:sldMkLst>
      </pc:sldChg>
      <pc:sldChg chg="modNotesTx">
        <pc:chgData name="CS Graduate Portal" userId="11a2f9de-9a00-4ac3-9430-f720d285ba39" providerId="ADAL" clId="{580E1501-05DF-46ED-9DC7-2818D7A40E61}" dt="2024-08-23T14:32:02.864" v="369"/>
        <pc:sldMkLst>
          <pc:docMk/>
          <pc:sldMk cId="0" sldId="375"/>
        </pc:sldMkLst>
      </pc:sldChg>
      <pc:sldChg chg="modNotesTx">
        <pc:chgData name="CS Graduate Portal" userId="11a2f9de-9a00-4ac3-9430-f720d285ba39" providerId="ADAL" clId="{580E1501-05DF-46ED-9DC7-2818D7A40E61}" dt="2024-08-18T01:41:51.049" v="353"/>
        <pc:sldMkLst>
          <pc:docMk/>
          <pc:sldMk cId="0" sldId="381"/>
        </pc:sldMkLst>
      </pc:sldChg>
      <pc:sldChg chg="mod modShow">
        <pc:chgData name="CS Graduate Portal" userId="11a2f9de-9a00-4ac3-9430-f720d285ba39" providerId="ADAL" clId="{580E1501-05DF-46ED-9DC7-2818D7A40E61}" dt="2024-08-18T00:56:11.333" v="191" actId="729"/>
        <pc:sldMkLst>
          <pc:docMk/>
          <pc:sldMk cId="0" sldId="385"/>
        </pc:sldMkLst>
      </pc:sldChg>
      <pc:sldChg chg="mod modShow">
        <pc:chgData name="CS Graduate Portal" userId="11a2f9de-9a00-4ac3-9430-f720d285ba39" providerId="ADAL" clId="{580E1501-05DF-46ED-9DC7-2818D7A40E61}" dt="2024-08-17T01:26:41.572" v="0" actId="729"/>
        <pc:sldMkLst>
          <pc:docMk/>
          <pc:sldMk cId="424880489" sldId="386"/>
        </pc:sldMkLst>
      </pc:sldChg>
      <pc:sldChg chg="mod modShow">
        <pc:chgData name="CS Graduate Portal" userId="11a2f9de-9a00-4ac3-9430-f720d285ba39" providerId="ADAL" clId="{580E1501-05DF-46ED-9DC7-2818D7A40E61}" dt="2024-08-17T01:26:41.572" v="0" actId="729"/>
        <pc:sldMkLst>
          <pc:docMk/>
          <pc:sldMk cId="0" sldId="387"/>
        </pc:sldMkLst>
      </pc:sldChg>
      <pc:sldChg chg="mod modShow">
        <pc:chgData name="CS Graduate Portal" userId="11a2f9de-9a00-4ac3-9430-f720d285ba39" providerId="ADAL" clId="{580E1501-05DF-46ED-9DC7-2818D7A40E61}" dt="2024-08-17T01:26:41.572" v="0" actId="729"/>
        <pc:sldMkLst>
          <pc:docMk/>
          <pc:sldMk cId="0" sldId="389"/>
        </pc:sldMkLst>
      </pc:sldChg>
      <pc:sldChg chg="mod modShow">
        <pc:chgData name="CS Graduate Portal" userId="11a2f9de-9a00-4ac3-9430-f720d285ba39" providerId="ADAL" clId="{580E1501-05DF-46ED-9DC7-2818D7A40E61}" dt="2024-08-17T01:26:41.572" v="0" actId="729"/>
        <pc:sldMkLst>
          <pc:docMk/>
          <pc:sldMk cId="0" sldId="390"/>
        </pc:sldMkLst>
      </pc:sldChg>
      <pc:sldChg chg="mod modShow">
        <pc:chgData name="CS Graduate Portal" userId="11a2f9de-9a00-4ac3-9430-f720d285ba39" providerId="ADAL" clId="{580E1501-05DF-46ED-9DC7-2818D7A40E61}" dt="2024-08-17T01:26:41.572" v="0" actId="729"/>
        <pc:sldMkLst>
          <pc:docMk/>
          <pc:sldMk cId="0" sldId="391"/>
        </pc:sldMkLst>
      </pc:sldChg>
      <pc:sldChg chg="mod modShow">
        <pc:chgData name="CS Graduate Portal" userId="11a2f9de-9a00-4ac3-9430-f720d285ba39" providerId="ADAL" clId="{580E1501-05DF-46ED-9DC7-2818D7A40E61}" dt="2024-08-17T01:26:41.572" v="0" actId="729"/>
        <pc:sldMkLst>
          <pc:docMk/>
          <pc:sldMk cId="0" sldId="392"/>
        </pc:sldMkLst>
      </pc:sldChg>
      <pc:sldChg chg="modSp mod">
        <pc:chgData name="CS Graduate Portal" userId="11a2f9de-9a00-4ac3-9430-f720d285ba39" providerId="ADAL" clId="{580E1501-05DF-46ED-9DC7-2818D7A40E61}" dt="2024-08-18T01:24:44.357" v="351" actId="120"/>
        <pc:sldMkLst>
          <pc:docMk/>
          <pc:sldMk cId="0" sldId="393"/>
        </pc:sldMkLst>
        <pc:spChg chg="mod">
          <ac:chgData name="CS Graduate Portal" userId="11a2f9de-9a00-4ac3-9430-f720d285ba39" providerId="ADAL" clId="{580E1501-05DF-46ED-9DC7-2818D7A40E61}" dt="2024-08-18T01:24:44.357" v="351" actId="120"/>
          <ac:spMkLst>
            <pc:docMk/>
            <pc:sldMk cId="0" sldId="393"/>
            <ac:spMk id="2" creationId="{00AC8D8D-292B-2943-B449-B924F9BB88F3}"/>
          </ac:spMkLst>
        </pc:spChg>
      </pc:sldChg>
      <pc:sldChg chg="mod modShow">
        <pc:chgData name="CS Graduate Portal" userId="11a2f9de-9a00-4ac3-9430-f720d285ba39" providerId="ADAL" clId="{580E1501-05DF-46ED-9DC7-2818D7A40E61}" dt="2024-08-17T01:26:41.572" v="0" actId="729"/>
        <pc:sldMkLst>
          <pc:docMk/>
          <pc:sldMk cId="1699638004" sldId="394"/>
        </pc:sldMkLst>
      </pc:sldChg>
      <pc:sldChg chg="mod modShow">
        <pc:chgData name="CS Graduate Portal" userId="11a2f9de-9a00-4ac3-9430-f720d285ba39" providerId="ADAL" clId="{580E1501-05DF-46ED-9DC7-2818D7A40E61}" dt="2024-08-17T01:26:41.572" v="0" actId="729"/>
        <pc:sldMkLst>
          <pc:docMk/>
          <pc:sldMk cId="3784797541" sldId="395"/>
        </pc:sldMkLst>
      </pc:sldChg>
      <pc:sldChg chg="mod modShow">
        <pc:chgData name="CS Graduate Portal" userId="11a2f9de-9a00-4ac3-9430-f720d285ba39" providerId="ADAL" clId="{580E1501-05DF-46ED-9DC7-2818D7A40E61}" dt="2024-08-17T01:26:41.572" v="0" actId="729"/>
        <pc:sldMkLst>
          <pc:docMk/>
          <pc:sldMk cId="2337351862" sldId="396"/>
        </pc:sldMkLst>
      </pc:sldChg>
      <pc:sldChg chg="mod modShow">
        <pc:chgData name="CS Graduate Portal" userId="11a2f9de-9a00-4ac3-9430-f720d285ba39" providerId="ADAL" clId="{580E1501-05DF-46ED-9DC7-2818D7A40E61}" dt="2024-08-17T01:26:41.572" v="0" actId="729"/>
        <pc:sldMkLst>
          <pc:docMk/>
          <pc:sldMk cId="0" sldId="398"/>
        </pc:sldMkLst>
      </pc:sldChg>
      <pc:sldChg chg="mod modShow">
        <pc:chgData name="CS Graduate Portal" userId="11a2f9de-9a00-4ac3-9430-f720d285ba39" providerId="ADAL" clId="{580E1501-05DF-46ED-9DC7-2818D7A40E61}" dt="2024-08-17T01:26:41.572" v="0" actId="729"/>
        <pc:sldMkLst>
          <pc:docMk/>
          <pc:sldMk cId="0" sldId="400"/>
        </pc:sldMkLst>
      </pc:sldChg>
      <pc:sldChg chg="mod modShow">
        <pc:chgData name="CS Graduate Portal" userId="11a2f9de-9a00-4ac3-9430-f720d285ba39" providerId="ADAL" clId="{580E1501-05DF-46ED-9DC7-2818D7A40E61}" dt="2024-08-17T01:26:41.572" v="0" actId="729"/>
        <pc:sldMkLst>
          <pc:docMk/>
          <pc:sldMk cId="0" sldId="401"/>
        </pc:sldMkLst>
      </pc:sldChg>
      <pc:sldChg chg="mod modShow">
        <pc:chgData name="CS Graduate Portal" userId="11a2f9de-9a00-4ac3-9430-f720d285ba39" providerId="ADAL" clId="{580E1501-05DF-46ED-9DC7-2818D7A40E61}" dt="2024-08-17T01:26:41.572" v="0" actId="729"/>
        <pc:sldMkLst>
          <pc:docMk/>
          <pc:sldMk cId="0" sldId="402"/>
        </pc:sldMkLst>
      </pc:sldChg>
      <pc:sldChg chg="modSp mod">
        <pc:chgData name="CS Graduate Portal" userId="11a2f9de-9a00-4ac3-9430-f720d285ba39" providerId="ADAL" clId="{580E1501-05DF-46ED-9DC7-2818D7A40E61}" dt="2024-08-18T01:43:42.272" v="367" actId="20577"/>
        <pc:sldMkLst>
          <pc:docMk/>
          <pc:sldMk cId="0" sldId="407"/>
        </pc:sldMkLst>
        <pc:spChg chg="mod">
          <ac:chgData name="CS Graduate Portal" userId="11a2f9de-9a00-4ac3-9430-f720d285ba39" providerId="ADAL" clId="{580E1501-05DF-46ED-9DC7-2818D7A40E61}" dt="2024-08-18T01:43:42.272" v="367" actId="20577"/>
          <ac:spMkLst>
            <pc:docMk/>
            <pc:sldMk cId="0" sldId="407"/>
            <ac:spMk id="83971" creationId="{2977E9C9-146A-4591-9F2A-95F7D8433681}"/>
          </ac:spMkLst>
        </pc:spChg>
      </pc:sldChg>
      <pc:sldChg chg="mod modShow">
        <pc:chgData name="CS Graduate Portal" userId="11a2f9de-9a00-4ac3-9430-f720d285ba39" providerId="ADAL" clId="{580E1501-05DF-46ED-9DC7-2818D7A40E61}" dt="2024-08-17T01:26:41.572" v="0" actId="729"/>
        <pc:sldMkLst>
          <pc:docMk/>
          <pc:sldMk cId="0" sldId="409"/>
        </pc:sldMkLst>
      </pc:sldChg>
      <pc:sldChg chg="mod modShow">
        <pc:chgData name="CS Graduate Portal" userId="11a2f9de-9a00-4ac3-9430-f720d285ba39" providerId="ADAL" clId="{580E1501-05DF-46ED-9DC7-2818D7A40E61}" dt="2024-08-17T01:26:41.572" v="0" actId="729"/>
        <pc:sldMkLst>
          <pc:docMk/>
          <pc:sldMk cId="0" sldId="412"/>
        </pc:sldMkLst>
      </pc:sldChg>
      <pc:sldChg chg="mod modShow">
        <pc:chgData name="CS Graduate Portal" userId="11a2f9de-9a00-4ac3-9430-f720d285ba39" providerId="ADAL" clId="{580E1501-05DF-46ED-9DC7-2818D7A40E61}" dt="2024-08-17T01:26:41.572" v="0" actId="729"/>
        <pc:sldMkLst>
          <pc:docMk/>
          <pc:sldMk cId="4280181171" sldId="414"/>
        </pc:sldMkLst>
      </pc:sldChg>
      <pc:sldChg chg="mod modShow">
        <pc:chgData name="CS Graduate Portal" userId="11a2f9de-9a00-4ac3-9430-f720d285ba39" providerId="ADAL" clId="{580E1501-05DF-46ED-9DC7-2818D7A40E61}" dt="2024-08-17T01:26:41.572" v="0" actId="729"/>
        <pc:sldMkLst>
          <pc:docMk/>
          <pc:sldMk cId="4030651419" sldId="416"/>
        </pc:sldMkLst>
      </pc:sldChg>
      <pc:sldChg chg="mod modShow">
        <pc:chgData name="CS Graduate Portal" userId="11a2f9de-9a00-4ac3-9430-f720d285ba39" providerId="ADAL" clId="{580E1501-05DF-46ED-9DC7-2818D7A40E61}" dt="2024-08-17T18:45:27.654" v="190" actId="729"/>
        <pc:sldMkLst>
          <pc:docMk/>
          <pc:sldMk cId="2890568288" sldId="419"/>
        </pc:sldMkLst>
      </pc:sldChg>
      <pc:sldChg chg="modNotesTx">
        <pc:chgData name="CS Graduate Portal" userId="11a2f9de-9a00-4ac3-9430-f720d285ba39" providerId="ADAL" clId="{580E1501-05DF-46ED-9DC7-2818D7A40E61}" dt="2024-08-18T01:17:06.434" v="192"/>
        <pc:sldMkLst>
          <pc:docMk/>
          <pc:sldMk cId="1975106829" sldId="423"/>
        </pc:sldMkLst>
      </pc:sldChg>
      <pc:sldChg chg="mod modShow">
        <pc:chgData name="CS Graduate Portal" userId="11a2f9de-9a00-4ac3-9430-f720d285ba39" providerId="ADAL" clId="{580E1501-05DF-46ED-9DC7-2818D7A40E61}" dt="2024-08-17T01:26:41.572" v="0" actId="729"/>
        <pc:sldMkLst>
          <pc:docMk/>
          <pc:sldMk cId="630411232" sldId="424"/>
        </pc:sldMkLst>
      </pc:sldChg>
      <pc:sldChg chg="mod modShow">
        <pc:chgData name="CS Graduate Portal" userId="11a2f9de-9a00-4ac3-9430-f720d285ba39" providerId="ADAL" clId="{580E1501-05DF-46ED-9DC7-2818D7A40E61}" dt="2024-08-17T01:26:41.572" v="0" actId="729"/>
        <pc:sldMkLst>
          <pc:docMk/>
          <pc:sldMk cId="2948303507" sldId="425"/>
        </pc:sldMkLst>
      </pc:sldChg>
      <pc:sldChg chg="modSp mod">
        <pc:chgData name="CS Graduate Portal" userId="11a2f9de-9a00-4ac3-9430-f720d285ba39" providerId="ADAL" clId="{580E1501-05DF-46ED-9DC7-2818D7A40E61}" dt="2024-08-23T14:32:41.745" v="513" actId="20577"/>
        <pc:sldMkLst>
          <pc:docMk/>
          <pc:sldMk cId="1990771269" sldId="427"/>
        </pc:sldMkLst>
        <pc:spChg chg="mod">
          <ac:chgData name="CS Graduate Portal" userId="11a2f9de-9a00-4ac3-9430-f720d285ba39" providerId="ADAL" clId="{580E1501-05DF-46ED-9DC7-2818D7A40E61}" dt="2024-08-23T14:32:41.745" v="513" actId="20577"/>
          <ac:spMkLst>
            <pc:docMk/>
            <pc:sldMk cId="1990771269" sldId="427"/>
            <ac:spMk id="61443" creationId="{791B5A88-3ACB-440F-8638-FDCD2CDEF4EB}"/>
          </ac:spMkLst>
        </pc:spChg>
      </pc:sldChg>
      <pc:sldChg chg="modNotesTx">
        <pc:chgData name="CS Graduate Portal" userId="11a2f9de-9a00-4ac3-9430-f720d285ba39" providerId="ADAL" clId="{580E1501-05DF-46ED-9DC7-2818D7A40E61}" dt="2024-08-18T01:32:54.927" v="352"/>
        <pc:sldMkLst>
          <pc:docMk/>
          <pc:sldMk cId="4218784340" sldId="430"/>
        </pc:sldMkLst>
      </pc:sldChg>
      <pc:sldChg chg="mod modShow">
        <pc:chgData name="CS Graduate Portal" userId="11a2f9de-9a00-4ac3-9430-f720d285ba39" providerId="ADAL" clId="{580E1501-05DF-46ED-9DC7-2818D7A40E61}" dt="2024-08-17T01:26:41.572" v="0" actId="729"/>
        <pc:sldMkLst>
          <pc:docMk/>
          <pc:sldMk cId="2818565648" sldId="431"/>
        </pc:sldMkLst>
      </pc:sldChg>
      <pc:sldChg chg="mod modShow">
        <pc:chgData name="CS Graduate Portal" userId="11a2f9de-9a00-4ac3-9430-f720d285ba39" providerId="ADAL" clId="{580E1501-05DF-46ED-9DC7-2818D7A40E61}" dt="2024-08-17T01:26:41.572" v="0" actId="729"/>
        <pc:sldMkLst>
          <pc:docMk/>
          <pc:sldMk cId="3017129735" sldId="432"/>
        </pc:sldMkLst>
      </pc:sldChg>
      <pc:sldChg chg="mod modShow">
        <pc:chgData name="CS Graduate Portal" userId="11a2f9de-9a00-4ac3-9430-f720d285ba39" providerId="ADAL" clId="{580E1501-05DF-46ED-9DC7-2818D7A40E61}" dt="2024-08-17T01:26:41.572" v="0" actId="729"/>
        <pc:sldMkLst>
          <pc:docMk/>
          <pc:sldMk cId="3827084463" sldId="434"/>
        </pc:sldMkLst>
      </pc:sldChg>
      <pc:sldChg chg="mod modShow">
        <pc:chgData name="CS Graduate Portal" userId="11a2f9de-9a00-4ac3-9430-f720d285ba39" providerId="ADAL" clId="{580E1501-05DF-46ED-9DC7-2818D7A40E61}" dt="2024-08-17T01:26:41.572" v="0" actId="729"/>
        <pc:sldMkLst>
          <pc:docMk/>
          <pc:sldMk cId="2441439607" sldId="436"/>
        </pc:sldMkLst>
      </pc:sldChg>
      <pc:sldChg chg="modSp new del mod">
        <pc:chgData name="CS Graduate Portal" userId="11a2f9de-9a00-4ac3-9430-f720d285ba39" providerId="ADAL" clId="{580E1501-05DF-46ED-9DC7-2818D7A40E61}" dt="2024-08-18T01:24:16.680" v="346" actId="47"/>
        <pc:sldMkLst>
          <pc:docMk/>
          <pc:sldMk cId="2024316265" sldId="437"/>
        </pc:sldMkLst>
        <pc:spChg chg="mod">
          <ac:chgData name="CS Graduate Portal" userId="11a2f9de-9a00-4ac3-9430-f720d285ba39" providerId="ADAL" clId="{580E1501-05DF-46ED-9DC7-2818D7A40E61}" dt="2024-08-18T01:24:07.496" v="345" actId="20577"/>
          <ac:spMkLst>
            <pc:docMk/>
            <pc:sldMk cId="2024316265" sldId="437"/>
            <ac:spMk id="3" creationId="{4AF511D6-B611-3755-17AB-F3C1C6361C1B}"/>
          </ac:spMkLst>
        </pc:spChg>
      </pc:sldChg>
      <pc:sldChg chg="add del">
        <pc:chgData name="CS Graduate Portal" userId="11a2f9de-9a00-4ac3-9430-f720d285ba39" providerId="ADAL" clId="{580E1501-05DF-46ED-9DC7-2818D7A40E61}" dt="2024-08-18T01:24:16.680" v="346" actId="47"/>
        <pc:sldMkLst>
          <pc:docMk/>
          <pc:sldMk cId="2545567549" sldId="43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1117600" y="696913"/>
            <a:ext cx="46482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3141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1198563" y="701675"/>
            <a:ext cx="4681537"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1117600" y="696913"/>
            <a:ext cx="46482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1117600" y="696913"/>
            <a:ext cx="46482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1117600" y="696913"/>
            <a:ext cx="46482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1117600" y="696913"/>
            <a:ext cx="46482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GB" altLang="en-US" dirty="0">
                <a:latin typeface="Times New Roman" panose="02020603050405020304" pitchFamily="18" charset="0"/>
              </a:rPr>
              <a:t>Drivers are not considered middleware; they are typically classified as system software or system programs.</a:t>
            </a:r>
          </a:p>
          <a:p>
            <a:endParaRPr lang="en-GB" altLang="en-US" dirty="0">
              <a:latin typeface="Times New Roman" panose="02020603050405020304" pitchFamily="18" charset="0"/>
            </a:endParaRPr>
          </a:p>
          <a:p>
            <a:r>
              <a:rPr lang="en-GB" altLang="en-US" dirty="0">
                <a:latin typeface="Times New Roman" panose="02020603050405020304" pitchFamily="18" charset="0"/>
              </a:rPr>
              <a:t> Drivers:</a:t>
            </a:r>
          </a:p>
          <a:p>
            <a:r>
              <a:rPr lang="en-GB" altLang="en-US" dirty="0">
                <a:latin typeface="Times New Roman" panose="02020603050405020304" pitchFamily="18" charset="0"/>
              </a:rPr>
              <a:t>- Definition: Drivers are specialized software components that enable the operating system to communicate with hardware devices. They act as a bridge between the operating system and the hardware, translating OS commands into device-specific operations.</a:t>
            </a:r>
          </a:p>
          <a:p>
            <a:r>
              <a:rPr lang="en-GB" altLang="en-US" dirty="0">
                <a:latin typeface="Times New Roman" panose="02020603050405020304" pitchFamily="18" charset="0"/>
              </a:rPr>
              <a:t>- Examples:</a:t>
            </a:r>
          </a:p>
          <a:p>
            <a:r>
              <a:rPr lang="en-GB" altLang="en-US" dirty="0">
                <a:latin typeface="Times New Roman" panose="02020603050405020304" pitchFamily="18" charset="0"/>
              </a:rPr>
              <a:t>  - Printer Driver: Allows the OS to communicate with and control a printer.</a:t>
            </a:r>
          </a:p>
          <a:p>
            <a:r>
              <a:rPr lang="en-GB" altLang="en-US" dirty="0">
                <a:latin typeface="Times New Roman" panose="02020603050405020304" pitchFamily="18" charset="0"/>
              </a:rPr>
              <a:t>  - Graphics Driver: Enables the OS to use the functionalities of a graphics card.</a:t>
            </a:r>
          </a:p>
          <a:p>
            <a:r>
              <a:rPr lang="en-GB" altLang="en-US" dirty="0">
                <a:latin typeface="Times New Roman" panose="02020603050405020304" pitchFamily="18" charset="0"/>
              </a:rPr>
              <a:t>  - Network Driver: Manages the network interface card (NIC) to facilitate networking capabilities.</a:t>
            </a:r>
          </a:p>
          <a:p>
            <a:endParaRPr lang="en-GB" altLang="en-US" dirty="0">
              <a:latin typeface="Times New Roman" panose="02020603050405020304" pitchFamily="18" charset="0"/>
            </a:endParaRPr>
          </a:p>
          <a:p>
            <a:r>
              <a:rPr lang="en-GB" altLang="en-US" dirty="0">
                <a:latin typeface="Times New Roman" panose="02020603050405020304" pitchFamily="18" charset="0"/>
              </a:rPr>
              <a:t> Middleware:</a:t>
            </a:r>
          </a:p>
          <a:p>
            <a:r>
              <a:rPr lang="en-GB" altLang="en-US" dirty="0">
                <a:latin typeface="Times New Roman" panose="02020603050405020304" pitchFamily="18" charset="0"/>
              </a:rPr>
              <a:t>- Definition: Middleware is software that provides common services and capabilities to applications beyond what's offered by the operating system. It sits between the OS and applications, enabling communication, data management, and other services across different systems and applications.</a:t>
            </a:r>
          </a:p>
          <a:p>
            <a:r>
              <a:rPr lang="en-GB" altLang="en-US" dirty="0">
                <a:latin typeface="Times New Roman" panose="02020603050405020304" pitchFamily="18" charset="0"/>
              </a:rPr>
              <a:t>- Examples:</a:t>
            </a:r>
          </a:p>
          <a:p>
            <a:r>
              <a:rPr lang="en-GB" altLang="en-US" dirty="0">
                <a:latin typeface="Times New Roman" panose="02020603050405020304" pitchFamily="18" charset="0"/>
              </a:rPr>
              <a:t>  - Application Servers: Provide runtime environments for applications (e.g., Tomcat, JBoss).</a:t>
            </a:r>
          </a:p>
          <a:p>
            <a:r>
              <a:rPr lang="en-GB" altLang="en-US" dirty="0">
                <a:latin typeface="Times New Roman" panose="02020603050405020304" pitchFamily="18" charset="0"/>
              </a:rPr>
              <a:t>  - Message Brokers: Facilitate communication between distributed systems (e.g., Apache Kafka, RabbitMQ).</a:t>
            </a:r>
          </a:p>
          <a:p>
            <a:r>
              <a:rPr lang="en-GB" altLang="en-US" dirty="0">
                <a:latin typeface="Times New Roman" panose="02020603050405020304" pitchFamily="18" charset="0"/>
              </a:rPr>
              <a:t>  - Database Middleware: Helps applications interact with databases more efficiently (e.g., ODBC, JDBC).</a:t>
            </a:r>
          </a:p>
          <a:p>
            <a:endParaRPr lang="en-GB" altLang="en-US" dirty="0">
              <a:latin typeface="Times New Roman" panose="02020603050405020304" pitchFamily="18" charset="0"/>
            </a:endParaRPr>
          </a:p>
          <a:p>
            <a:r>
              <a:rPr lang="en-GB" altLang="en-US" dirty="0">
                <a:latin typeface="Times New Roman" panose="02020603050405020304" pitchFamily="18" charset="0"/>
              </a:rPr>
              <a:t> Key Difference:</a:t>
            </a:r>
          </a:p>
          <a:p>
            <a:r>
              <a:rPr lang="en-GB" altLang="en-US" dirty="0">
                <a:latin typeface="Times New Roman" panose="02020603050405020304" pitchFamily="18" charset="0"/>
              </a:rPr>
              <a:t>- Drivers are closely tied to hardware, providing the necessary interface for the OS to control hardware devices.</a:t>
            </a:r>
          </a:p>
          <a:p>
            <a:r>
              <a:rPr lang="en-GB" altLang="en-US" dirty="0">
                <a:latin typeface="Times New Roman" panose="02020603050405020304" pitchFamily="18" charset="0"/>
              </a:rPr>
              <a:t>- Middleware operates at a higher level, facilitating communication and management between applications and the underlying system, often across different platforms and networked environments.</a:t>
            </a:r>
            <a:endParaRPr lang="en-US" altLang="en-US" dirty="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0043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1117600" y="696913"/>
            <a:ext cx="46482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51FF58-C105-4A9E-9630-D9A0E11B7B0F}"/>
              </a:ext>
            </a:extLst>
          </p:cNvPr>
          <p:cNvSpPr>
            <a:spLocks noGrp="1" noRot="1" noChangeAspect="1" noChangeArrowheads="1" noTextEdit="1"/>
          </p:cNvSpPr>
          <p:nvPr>
            <p:ph type="sldImg"/>
          </p:nvPr>
        </p:nvSpPr>
        <p:spPr>
          <a:xfrm>
            <a:off x="1117600" y="696913"/>
            <a:ext cx="4648200" cy="3486150"/>
          </a:xfrm>
          <a:ln/>
        </p:spPr>
      </p:sp>
      <p:sp>
        <p:nvSpPr>
          <p:cNvPr id="25603" name="Rectangle 3">
            <a:extLst>
              <a:ext uri="{FF2B5EF4-FFF2-40B4-BE49-F238E27FC236}">
                <a16:creationId xmlns:a16="http://schemas.microsoft.com/office/drawing/2014/main" id="{775B7E24-1F9A-4145-81FD-5FA9539C1B5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BE2D62-DA23-4A1C-BD18-BB29F30D2677}"/>
              </a:ext>
            </a:extLst>
          </p:cNvPr>
          <p:cNvSpPr>
            <a:spLocks noGrp="1" noRot="1" noChangeAspect="1" noChangeArrowheads="1" noTextEdit="1"/>
          </p:cNvSpPr>
          <p:nvPr>
            <p:ph type="sldImg"/>
          </p:nvPr>
        </p:nvSpPr>
        <p:spPr>
          <a:xfrm>
            <a:off x="1117600" y="696913"/>
            <a:ext cx="4648200" cy="3486150"/>
          </a:xfrm>
          <a:ln/>
        </p:spPr>
      </p:sp>
      <p:sp>
        <p:nvSpPr>
          <p:cNvPr id="27651" name="Rectangle 3">
            <a:extLst>
              <a:ext uri="{FF2B5EF4-FFF2-40B4-BE49-F238E27FC236}">
                <a16:creationId xmlns:a16="http://schemas.microsoft.com/office/drawing/2014/main" id="{F0FE727F-6BA6-4D29-9307-3BEF0414952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1117600" y="696913"/>
            <a:ext cx="46482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FB1ABE3-7495-4F27-8466-A83A6316E355}"/>
              </a:ext>
            </a:extLst>
          </p:cNvPr>
          <p:cNvSpPr>
            <a:spLocks noGrp="1" noRot="1" noChangeAspect="1" noChangeArrowheads="1" noTextEdit="1"/>
          </p:cNvSpPr>
          <p:nvPr>
            <p:ph type="sldImg"/>
          </p:nvPr>
        </p:nvSpPr>
        <p:spPr>
          <a:xfrm>
            <a:off x="1117600" y="696913"/>
            <a:ext cx="4648200" cy="3486150"/>
          </a:xfrm>
          <a:ln/>
        </p:spPr>
      </p:sp>
      <p:sp>
        <p:nvSpPr>
          <p:cNvPr id="33795" name="Rectangle 3">
            <a:extLst>
              <a:ext uri="{FF2B5EF4-FFF2-40B4-BE49-F238E27FC236}">
                <a16:creationId xmlns:a16="http://schemas.microsoft.com/office/drawing/2014/main" id="{0AB51EC2-9DAA-4A25-97D8-1FD619E54EE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1117600" y="696913"/>
            <a:ext cx="46482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2252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GB" altLang="en-US" dirty="0">
                <a:latin typeface="Times New Roman" panose="02020603050405020304" pitchFamily="18" charset="0"/>
              </a:rPr>
              <a:t>RAM (Random Access Memory) vs DRAM (Dynamic Random Access Memory)</a:t>
            </a:r>
          </a:p>
          <a:p>
            <a:endParaRPr lang="en-GB" altLang="en-US" dirty="0">
              <a:latin typeface="Times New Roman" panose="02020603050405020304" pitchFamily="18" charset="0"/>
            </a:endParaRPr>
          </a:p>
          <a:p>
            <a:r>
              <a:rPr lang="en-GB" altLang="en-US" dirty="0">
                <a:latin typeface="Times New Roman" panose="02020603050405020304" pitchFamily="18" charset="0"/>
              </a:rPr>
              <a:t>Both RAM and DRAM are types of memory used in computers and other digital devices, but there are important differences between them.</a:t>
            </a:r>
          </a:p>
          <a:p>
            <a:endParaRPr lang="en-GB" altLang="en-US" dirty="0">
              <a:latin typeface="Times New Roman" panose="02020603050405020304" pitchFamily="18" charset="0"/>
            </a:endParaRPr>
          </a:p>
          <a:p>
            <a:r>
              <a:rPr lang="en-GB" altLang="en-US" dirty="0">
                <a:latin typeface="Times New Roman" panose="02020603050405020304" pitchFamily="18" charset="0"/>
              </a:rPr>
              <a:t> RAM (Random Access Memory)</a:t>
            </a:r>
          </a:p>
          <a:p>
            <a:endParaRPr lang="en-GB" altLang="en-US" dirty="0">
              <a:latin typeface="Times New Roman" panose="02020603050405020304" pitchFamily="18" charset="0"/>
            </a:endParaRPr>
          </a:p>
          <a:p>
            <a:r>
              <a:rPr lang="en-GB" altLang="en-US" dirty="0">
                <a:latin typeface="Times New Roman" panose="02020603050405020304" pitchFamily="18" charset="0"/>
              </a:rPr>
              <a:t>1. General Definition:</a:t>
            </a:r>
          </a:p>
          <a:p>
            <a:r>
              <a:rPr lang="en-GB" altLang="en-US" dirty="0">
                <a:latin typeface="Times New Roman" panose="02020603050405020304" pitchFamily="18" charset="0"/>
              </a:rPr>
              <a:t>   - RAM is a broad term for memory that can be accessed randomly, meaning any byte of memory can be accessed without touching the preceding bytes.</a:t>
            </a:r>
          </a:p>
          <a:p>
            <a:endParaRPr lang="en-GB" altLang="en-US" dirty="0">
              <a:latin typeface="Times New Roman" panose="02020603050405020304" pitchFamily="18" charset="0"/>
            </a:endParaRPr>
          </a:p>
          <a:p>
            <a:r>
              <a:rPr lang="en-GB" altLang="en-US" dirty="0">
                <a:latin typeface="Times New Roman" panose="02020603050405020304" pitchFamily="18" charset="0"/>
              </a:rPr>
              <a:t>2. Types of RAM:</a:t>
            </a:r>
          </a:p>
          <a:p>
            <a:r>
              <a:rPr lang="en-GB" altLang="en-US" dirty="0">
                <a:latin typeface="Times New Roman" panose="02020603050405020304" pitchFamily="18" charset="0"/>
              </a:rPr>
              <a:t>   - DRAM (Dynamic RAM): Needs to be refreshed thousands of times per second.</a:t>
            </a:r>
          </a:p>
          <a:p>
            <a:r>
              <a:rPr lang="en-GB" altLang="en-US" dirty="0">
                <a:latin typeface="Times New Roman" panose="02020603050405020304" pitchFamily="18" charset="0"/>
              </a:rPr>
              <a:t>   - SRAM (Static RAM): Does not need to be refreshed as often as DRAM.</a:t>
            </a:r>
          </a:p>
          <a:p>
            <a:endParaRPr lang="en-GB" altLang="en-US" dirty="0">
              <a:latin typeface="Times New Roman" panose="02020603050405020304" pitchFamily="18" charset="0"/>
            </a:endParaRPr>
          </a:p>
          <a:p>
            <a:r>
              <a:rPr lang="en-GB" altLang="en-US" dirty="0">
                <a:latin typeface="Times New Roman" panose="02020603050405020304" pitchFamily="18" charset="0"/>
              </a:rPr>
              <a:t>3. Characteristics:</a:t>
            </a:r>
          </a:p>
          <a:p>
            <a:r>
              <a:rPr lang="en-GB" altLang="en-US" dirty="0">
                <a:latin typeface="Times New Roman" panose="02020603050405020304" pitchFamily="18" charset="0"/>
              </a:rPr>
              <a:t>   - Volatile Memory: All RAM types are volatile, meaning they lose their contents when the power is turned off.</a:t>
            </a:r>
          </a:p>
          <a:p>
            <a:r>
              <a:rPr lang="en-GB" altLang="en-US" dirty="0">
                <a:latin typeface="Times New Roman" panose="02020603050405020304" pitchFamily="18" charset="0"/>
              </a:rPr>
              <a:t>   - Speed: RAM is fast compared to secondary storage like hard drives and SSDs.</a:t>
            </a:r>
          </a:p>
          <a:p>
            <a:endParaRPr lang="en-GB" altLang="en-US" dirty="0">
              <a:latin typeface="Times New Roman" panose="02020603050405020304" pitchFamily="18" charset="0"/>
            </a:endParaRPr>
          </a:p>
          <a:p>
            <a:r>
              <a:rPr lang="en-GB" altLang="en-US" dirty="0">
                <a:latin typeface="Times New Roman" panose="02020603050405020304" pitchFamily="18" charset="0"/>
              </a:rPr>
              <a:t>4. Use Case:</a:t>
            </a:r>
          </a:p>
          <a:p>
            <a:r>
              <a:rPr lang="en-GB" altLang="en-US" dirty="0">
                <a:latin typeface="Times New Roman" panose="02020603050405020304" pitchFamily="18" charset="0"/>
              </a:rPr>
              <a:t>   - Used for the main memory in computing devices to store working data and machine code currently being used.</a:t>
            </a:r>
          </a:p>
          <a:p>
            <a:endParaRPr lang="en-GB" altLang="en-US" dirty="0">
              <a:latin typeface="Times New Roman" panose="02020603050405020304" pitchFamily="18" charset="0"/>
            </a:endParaRPr>
          </a:p>
          <a:p>
            <a:r>
              <a:rPr lang="en-GB" altLang="en-US" dirty="0">
                <a:latin typeface="Times New Roman" panose="02020603050405020304" pitchFamily="18" charset="0"/>
              </a:rPr>
              <a:t> DRAM (Dynamic Random Access Memory)</a:t>
            </a:r>
          </a:p>
          <a:p>
            <a:endParaRPr lang="en-GB" altLang="en-US" dirty="0">
              <a:latin typeface="Times New Roman" panose="02020603050405020304" pitchFamily="18" charset="0"/>
            </a:endParaRPr>
          </a:p>
          <a:p>
            <a:r>
              <a:rPr lang="en-GB" altLang="en-US" dirty="0">
                <a:latin typeface="Times New Roman" panose="02020603050405020304" pitchFamily="18" charset="0"/>
              </a:rPr>
              <a:t>1. Specific Type of RAM:</a:t>
            </a:r>
          </a:p>
          <a:p>
            <a:r>
              <a:rPr lang="en-GB" altLang="en-US" dirty="0">
                <a:latin typeface="Times New Roman" panose="02020603050405020304" pitchFamily="18" charset="0"/>
              </a:rPr>
              <a:t>   - DRAM is a specific type of RAM that stores each bit of data in a separate capacitor.</a:t>
            </a:r>
          </a:p>
          <a:p>
            <a:endParaRPr lang="en-GB" altLang="en-US" dirty="0">
              <a:latin typeface="Times New Roman" panose="02020603050405020304" pitchFamily="18" charset="0"/>
            </a:endParaRPr>
          </a:p>
          <a:p>
            <a:r>
              <a:rPr lang="en-GB" altLang="en-US" dirty="0">
                <a:latin typeface="Times New Roman" panose="02020603050405020304" pitchFamily="18" charset="0"/>
              </a:rPr>
              <a:t>2. Characteristics:</a:t>
            </a:r>
          </a:p>
          <a:p>
            <a:r>
              <a:rPr lang="en-GB" altLang="en-US" dirty="0">
                <a:latin typeface="Times New Roman" panose="02020603050405020304" pitchFamily="18" charset="0"/>
              </a:rPr>
              <a:t>   - Needs Refreshing: The capacitors in DRAM need to be periodically refreshed to retain data because they gradually lose their charge.</a:t>
            </a:r>
          </a:p>
          <a:p>
            <a:r>
              <a:rPr lang="en-GB" altLang="en-US" dirty="0">
                <a:latin typeface="Times New Roman" panose="02020603050405020304" pitchFamily="18" charset="0"/>
              </a:rPr>
              <a:t>   - Higher Density: Typically, DRAM has a higher density (more bits per chip) than SRAM.</a:t>
            </a:r>
          </a:p>
          <a:p>
            <a:r>
              <a:rPr lang="en-GB" altLang="en-US" dirty="0">
                <a:latin typeface="Times New Roman" panose="02020603050405020304" pitchFamily="18" charset="0"/>
              </a:rPr>
              <a:t>   - Cost: DRAM is cheaper to produce than SRAM.</a:t>
            </a:r>
          </a:p>
          <a:p>
            <a:r>
              <a:rPr lang="en-GB" altLang="en-US" dirty="0">
                <a:latin typeface="Times New Roman" panose="02020603050405020304" pitchFamily="18" charset="0"/>
              </a:rPr>
              <a:t>   - Speed: Generally slower than SRAM but faster than many other forms of memory.</a:t>
            </a:r>
          </a:p>
          <a:p>
            <a:endParaRPr lang="en-GB" altLang="en-US" dirty="0">
              <a:latin typeface="Times New Roman" panose="02020603050405020304" pitchFamily="18" charset="0"/>
            </a:endParaRPr>
          </a:p>
          <a:p>
            <a:r>
              <a:rPr lang="en-GB" altLang="en-US" dirty="0">
                <a:latin typeface="Times New Roman" panose="02020603050405020304" pitchFamily="18" charset="0"/>
              </a:rPr>
              <a:t>3. Use Case:</a:t>
            </a:r>
          </a:p>
          <a:p>
            <a:r>
              <a:rPr lang="en-GB" altLang="en-US" dirty="0">
                <a:latin typeface="Times New Roman" panose="02020603050405020304" pitchFamily="18" charset="0"/>
              </a:rPr>
              <a:t>   - Commonly used for the main system memory (RAM) in computers, laptops, and other devices.</a:t>
            </a:r>
          </a:p>
          <a:p>
            <a:endParaRPr lang="en-GB" altLang="en-US" dirty="0">
              <a:latin typeface="Times New Roman" panose="02020603050405020304" pitchFamily="18" charset="0"/>
            </a:endParaRPr>
          </a:p>
          <a:p>
            <a:r>
              <a:rPr lang="en-GB" altLang="en-US" dirty="0">
                <a:latin typeface="Times New Roman" panose="02020603050405020304" pitchFamily="18" charset="0"/>
              </a:rPr>
              <a:t> Comparison:</a:t>
            </a:r>
          </a:p>
          <a:p>
            <a:endParaRPr lang="en-GB" altLang="en-US" dirty="0">
              <a:latin typeface="Times New Roman" panose="02020603050405020304" pitchFamily="18" charset="0"/>
            </a:endParaRPr>
          </a:p>
          <a:p>
            <a:r>
              <a:rPr lang="en-GB" altLang="en-US" dirty="0">
                <a:latin typeface="Times New Roman" panose="02020603050405020304" pitchFamily="18" charset="0"/>
              </a:rPr>
              <a:t>1. Speed:</a:t>
            </a:r>
          </a:p>
          <a:p>
            <a:r>
              <a:rPr lang="en-GB" altLang="en-US" dirty="0">
                <a:latin typeface="Times New Roman" panose="02020603050405020304" pitchFamily="18" charset="0"/>
              </a:rPr>
              <a:t>   - RAM (General): The term encompasses both faster (SRAM) and slower (DRAM) types of memory.</a:t>
            </a:r>
          </a:p>
          <a:p>
            <a:r>
              <a:rPr lang="en-GB" altLang="en-US" dirty="0">
                <a:latin typeface="Times New Roman" panose="02020603050405020304" pitchFamily="18" charset="0"/>
              </a:rPr>
              <a:t>   - DRAM: Slower compared to SRAM but typically used for main system memory because of its higher density and lower cost.</a:t>
            </a:r>
          </a:p>
          <a:p>
            <a:endParaRPr lang="en-GB" altLang="en-US" dirty="0">
              <a:latin typeface="Times New Roman" panose="02020603050405020304" pitchFamily="18" charset="0"/>
            </a:endParaRPr>
          </a:p>
          <a:p>
            <a:r>
              <a:rPr lang="en-GB" altLang="en-US" dirty="0">
                <a:latin typeface="Times New Roman" panose="02020603050405020304" pitchFamily="18" charset="0"/>
              </a:rPr>
              <a:t>2. Structure:</a:t>
            </a:r>
          </a:p>
          <a:p>
            <a:r>
              <a:rPr lang="en-GB" altLang="en-US" dirty="0">
                <a:latin typeface="Times New Roman" panose="02020603050405020304" pitchFamily="18" charset="0"/>
              </a:rPr>
              <a:t>   - RAM (General): Can be either static (SRAM) or dynamic (DRAM).</a:t>
            </a:r>
          </a:p>
          <a:p>
            <a:r>
              <a:rPr lang="en-GB" altLang="en-US" dirty="0">
                <a:latin typeface="Times New Roman" panose="02020603050405020304" pitchFamily="18" charset="0"/>
              </a:rPr>
              <a:t>   - DRAM: Specifically uses capacitors and transistors to store data, requiring periodic refreshing.</a:t>
            </a:r>
          </a:p>
          <a:p>
            <a:endParaRPr lang="en-GB" altLang="en-US" dirty="0">
              <a:latin typeface="Times New Roman" panose="02020603050405020304" pitchFamily="18" charset="0"/>
            </a:endParaRPr>
          </a:p>
          <a:p>
            <a:r>
              <a:rPr lang="en-GB" altLang="en-US" dirty="0">
                <a:latin typeface="Times New Roman" panose="02020603050405020304" pitchFamily="18" charset="0"/>
              </a:rPr>
              <a:t>3. Cost and Density:</a:t>
            </a:r>
          </a:p>
          <a:p>
            <a:r>
              <a:rPr lang="en-GB" altLang="en-US" dirty="0">
                <a:latin typeface="Times New Roman" panose="02020603050405020304" pitchFamily="18" charset="0"/>
              </a:rPr>
              <a:t>   - RAM (General): SRAM is more expensive and has lower density, while DRAM is cheaper and has higher density.</a:t>
            </a:r>
          </a:p>
          <a:p>
            <a:r>
              <a:rPr lang="en-GB" altLang="en-US" dirty="0">
                <a:latin typeface="Times New Roman" panose="02020603050405020304" pitchFamily="18" charset="0"/>
              </a:rPr>
              <a:t>   - DRAM: More cost-effective for providing large amounts of volatile memory.</a:t>
            </a:r>
          </a:p>
          <a:p>
            <a:endParaRPr lang="en-GB" altLang="en-US" dirty="0">
              <a:latin typeface="Times New Roman" panose="02020603050405020304" pitchFamily="18" charset="0"/>
            </a:endParaRPr>
          </a:p>
          <a:p>
            <a:r>
              <a:rPr lang="en-GB" altLang="en-US" dirty="0">
                <a:latin typeface="Times New Roman" panose="02020603050405020304" pitchFamily="18" charset="0"/>
              </a:rPr>
              <a:t>4. Power Consumption:</a:t>
            </a:r>
          </a:p>
          <a:p>
            <a:r>
              <a:rPr lang="en-GB" altLang="en-US" dirty="0">
                <a:latin typeface="Times New Roman" panose="02020603050405020304" pitchFamily="18" charset="0"/>
              </a:rPr>
              <a:t>   - RAM (General): SRAM consumes less power because it does not need to be refreshed.</a:t>
            </a:r>
          </a:p>
          <a:p>
            <a:r>
              <a:rPr lang="en-GB" altLang="en-US" dirty="0">
                <a:latin typeface="Times New Roman" panose="02020603050405020304" pitchFamily="18" charset="0"/>
              </a:rPr>
              <a:t>   - DRAM: Consumes more power due to the need for refreshing.</a:t>
            </a:r>
          </a:p>
          <a:p>
            <a:endParaRPr lang="en-GB" altLang="en-US" dirty="0">
              <a:latin typeface="Times New Roman" panose="02020603050405020304" pitchFamily="18" charset="0"/>
            </a:endParaRPr>
          </a:p>
          <a:p>
            <a:r>
              <a:rPr lang="en-GB" altLang="en-US" dirty="0">
                <a:latin typeface="Times New Roman" panose="02020603050405020304" pitchFamily="18" charset="0"/>
              </a:rPr>
              <a:t> Summary</a:t>
            </a:r>
          </a:p>
          <a:p>
            <a:endParaRPr lang="en-GB" altLang="en-US" dirty="0">
              <a:latin typeface="Times New Roman" panose="02020603050405020304" pitchFamily="18" charset="0"/>
            </a:endParaRPr>
          </a:p>
          <a:p>
            <a:r>
              <a:rPr lang="en-GB" altLang="en-US" dirty="0">
                <a:latin typeface="Times New Roman" panose="02020603050405020304" pitchFamily="18" charset="0"/>
              </a:rPr>
              <a:t>- RAM is a general term for any type of volatile memory that provides fast access to data.</a:t>
            </a:r>
          </a:p>
          <a:p>
            <a:r>
              <a:rPr lang="en-GB" altLang="en-US" dirty="0">
                <a:latin typeface="Times New Roman" panose="02020603050405020304" pitchFamily="18" charset="0"/>
              </a:rPr>
              <a:t>- DRAM is a specific type of RAM that is widely used for system memory in computers due to its cost-effectiveness and higher density, despite being slower and requiring more power than SRAM.</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GB" altLang="en-US" dirty="0">
                <a:latin typeface="Times New Roman" panose="02020603050405020304" pitchFamily="18" charset="0"/>
              </a:rPr>
              <a:t>HDD (Hard Disk Drive) vs </a:t>
            </a:r>
            <a:r>
              <a:rPr lang="en-GB" altLang="en-US" dirty="0" err="1">
                <a:latin typeface="Times New Roman" panose="02020603050405020304" pitchFamily="18" charset="0"/>
              </a:rPr>
              <a:t>NVMe</a:t>
            </a:r>
            <a:r>
              <a:rPr lang="en-GB" altLang="en-US" dirty="0">
                <a:latin typeface="Times New Roman" panose="02020603050405020304" pitchFamily="18" charset="0"/>
              </a:rPr>
              <a:t> (Non-Volatile Memory Express)</a:t>
            </a:r>
          </a:p>
          <a:p>
            <a:endParaRPr lang="en-GB" altLang="en-US" dirty="0">
              <a:latin typeface="Times New Roman" panose="02020603050405020304" pitchFamily="18" charset="0"/>
            </a:endParaRPr>
          </a:p>
          <a:p>
            <a:r>
              <a:rPr lang="en-GB" altLang="en-US" dirty="0">
                <a:latin typeface="Times New Roman" panose="02020603050405020304" pitchFamily="18" charset="0"/>
              </a:rPr>
              <a:t> HDD (Hard Disk Drive)</a:t>
            </a:r>
          </a:p>
          <a:p>
            <a:endParaRPr lang="en-GB" altLang="en-US" dirty="0">
              <a:latin typeface="Times New Roman" panose="02020603050405020304" pitchFamily="18" charset="0"/>
            </a:endParaRPr>
          </a:p>
          <a:p>
            <a:r>
              <a:rPr lang="en-GB" altLang="en-US" dirty="0">
                <a:latin typeface="Times New Roman" panose="02020603050405020304" pitchFamily="18" charset="0"/>
              </a:rPr>
              <a:t>1. Technology:</a:t>
            </a:r>
          </a:p>
          <a:p>
            <a:r>
              <a:rPr lang="en-GB" altLang="en-US" dirty="0">
                <a:latin typeface="Times New Roman" panose="02020603050405020304" pitchFamily="18" charset="0"/>
              </a:rPr>
              <a:t>   - HDDs use spinning disks (platters) coated with magnetic material to store data. A read/write head on an arm accesses the data while the platters spin.</a:t>
            </a:r>
          </a:p>
          <a:p>
            <a:endParaRPr lang="en-GB" altLang="en-US" dirty="0">
              <a:latin typeface="Times New Roman" panose="02020603050405020304" pitchFamily="18" charset="0"/>
            </a:endParaRPr>
          </a:p>
          <a:p>
            <a:r>
              <a:rPr lang="en-GB" altLang="en-US" dirty="0">
                <a:latin typeface="Times New Roman" panose="02020603050405020304" pitchFamily="18" charset="0"/>
              </a:rPr>
              <a:t>2. Performance:</a:t>
            </a:r>
          </a:p>
          <a:p>
            <a:r>
              <a:rPr lang="en-GB" altLang="en-US" dirty="0">
                <a:latin typeface="Times New Roman" panose="02020603050405020304" pitchFamily="18" charset="0"/>
              </a:rPr>
              <a:t>   - Speed: HDDs are relatively slow because they rely on mechanical movement. Typical speeds range from 5400 to 7200 RPM, with data transfer rates between 80-160 MB/s.</a:t>
            </a:r>
          </a:p>
          <a:p>
            <a:r>
              <a:rPr lang="en-GB" altLang="en-US" dirty="0">
                <a:latin typeface="Times New Roman" panose="02020603050405020304" pitchFamily="18" charset="0"/>
              </a:rPr>
              <a:t>   - Latency: Higher latency due to the time it takes for the read/write head to move to the correct location on the disk.</a:t>
            </a:r>
          </a:p>
          <a:p>
            <a:endParaRPr lang="en-GB" altLang="en-US" dirty="0">
              <a:latin typeface="Times New Roman" panose="02020603050405020304" pitchFamily="18" charset="0"/>
            </a:endParaRPr>
          </a:p>
          <a:p>
            <a:r>
              <a:rPr lang="en-GB" altLang="en-US" dirty="0">
                <a:latin typeface="Times New Roman" panose="02020603050405020304" pitchFamily="18" charset="0"/>
              </a:rPr>
              <a:t>3. Capacity:</a:t>
            </a:r>
          </a:p>
          <a:p>
            <a:r>
              <a:rPr lang="en-GB" altLang="en-US" dirty="0">
                <a:latin typeface="Times New Roman" panose="02020603050405020304" pitchFamily="18" charset="0"/>
              </a:rPr>
              <a:t>   - Storage Size: HDDs can offer large storage capacities, often ranging from 1TB to 16TB or more, making them cost-effective for bulk storage.</a:t>
            </a:r>
          </a:p>
          <a:p>
            <a:endParaRPr lang="en-GB" altLang="en-US" dirty="0">
              <a:latin typeface="Times New Roman" panose="02020603050405020304" pitchFamily="18" charset="0"/>
            </a:endParaRPr>
          </a:p>
          <a:p>
            <a:r>
              <a:rPr lang="en-GB" altLang="en-US" dirty="0">
                <a:latin typeface="Times New Roman" panose="02020603050405020304" pitchFamily="18" charset="0"/>
              </a:rPr>
              <a:t>4. Durability:</a:t>
            </a:r>
          </a:p>
          <a:p>
            <a:r>
              <a:rPr lang="en-GB" altLang="en-US" dirty="0">
                <a:latin typeface="Times New Roman" panose="02020603050405020304" pitchFamily="18" charset="0"/>
              </a:rPr>
              <a:t>   - Mechanical Parts: The presence of moving parts makes HDDs more susceptible to physical damage from drops or shocks.</a:t>
            </a:r>
          </a:p>
          <a:p>
            <a:endParaRPr lang="en-GB" altLang="en-US" dirty="0">
              <a:latin typeface="Times New Roman" panose="02020603050405020304" pitchFamily="18" charset="0"/>
            </a:endParaRPr>
          </a:p>
          <a:p>
            <a:r>
              <a:rPr lang="en-GB" altLang="en-US" dirty="0">
                <a:latin typeface="Times New Roman" panose="02020603050405020304" pitchFamily="18" charset="0"/>
              </a:rPr>
              <a:t>5. Cost:</a:t>
            </a:r>
          </a:p>
          <a:p>
            <a:r>
              <a:rPr lang="en-GB" altLang="en-US" dirty="0">
                <a:latin typeface="Times New Roman" panose="02020603050405020304" pitchFamily="18" charset="0"/>
              </a:rPr>
              <a:t>   - Price per GB: Generally lower cost per GB compared to SSDs, making them a budget-friendly option for large storage needs.</a:t>
            </a:r>
          </a:p>
          <a:p>
            <a:endParaRPr lang="en-GB" altLang="en-US" dirty="0">
              <a:latin typeface="Times New Roman" panose="02020603050405020304" pitchFamily="18" charset="0"/>
            </a:endParaRPr>
          </a:p>
          <a:p>
            <a:r>
              <a:rPr lang="en-GB" altLang="en-US" dirty="0">
                <a:latin typeface="Times New Roman" panose="02020603050405020304" pitchFamily="18" charset="0"/>
              </a:rPr>
              <a:t>6. Use Case:</a:t>
            </a:r>
          </a:p>
          <a:p>
            <a:r>
              <a:rPr lang="en-GB" altLang="en-US" dirty="0">
                <a:latin typeface="Times New Roman" panose="02020603050405020304" pitchFamily="18" charset="0"/>
              </a:rPr>
              <a:t>   - Primary Use: Ideal for large-scale storage needs where speed is less critical, such as archival storage, backup solutions, and systems where cost is a significant factor.</a:t>
            </a:r>
          </a:p>
          <a:p>
            <a:endParaRPr lang="en-GB" altLang="en-US" dirty="0">
              <a:latin typeface="Times New Roman" panose="02020603050405020304" pitchFamily="18" charset="0"/>
            </a:endParaRPr>
          </a:p>
          <a:p>
            <a:r>
              <a:rPr lang="en-GB" altLang="en-US" dirty="0">
                <a:latin typeface="Times New Roman" panose="02020603050405020304" pitchFamily="18" charset="0"/>
              </a:rPr>
              <a:t> </a:t>
            </a:r>
            <a:r>
              <a:rPr lang="en-GB" altLang="en-US" dirty="0" err="1">
                <a:latin typeface="Times New Roman" panose="02020603050405020304" pitchFamily="18" charset="0"/>
              </a:rPr>
              <a:t>NVMe</a:t>
            </a:r>
            <a:r>
              <a:rPr lang="en-GB" altLang="en-US" dirty="0">
                <a:latin typeface="Times New Roman" panose="02020603050405020304" pitchFamily="18" charset="0"/>
              </a:rPr>
              <a:t> (Non-Volatile Memory Express)</a:t>
            </a:r>
          </a:p>
          <a:p>
            <a:endParaRPr lang="en-GB" altLang="en-US" dirty="0">
              <a:latin typeface="Times New Roman" panose="02020603050405020304" pitchFamily="18" charset="0"/>
            </a:endParaRPr>
          </a:p>
          <a:p>
            <a:r>
              <a:rPr lang="en-GB" altLang="en-US" dirty="0">
                <a:latin typeface="Times New Roman" panose="02020603050405020304" pitchFamily="18" charset="0"/>
              </a:rPr>
              <a:t>1. Technology:</a:t>
            </a:r>
          </a:p>
          <a:p>
            <a:r>
              <a:rPr lang="en-GB" altLang="en-US" dirty="0">
                <a:latin typeface="Times New Roman" panose="02020603050405020304" pitchFamily="18" charset="0"/>
              </a:rPr>
              <a:t>   - </a:t>
            </a:r>
            <a:r>
              <a:rPr lang="en-GB" altLang="en-US" dirty="0" err="1">
                <a:latin typeface="Times New Roman" panose="02020603050405020304" pitchFamily="18" charset="0"/>
              </a:rPr>
              <a:t>NVMe</a:t>
            </a:r>
            <a:r>
              <a:rPr lang="en-GB" altLang="en-US" dirty="0">
                <a:latin typeface="Times New Roman" panose="02020603050405020304" pitchFamily="18" charset="0"/>
              </a:rPr>
              <a:t> is a protocol designed specifically for high-speed communication with NAND flash memory. </a:t>
            </a:r>
            <a:r>
              <a:rPr lang="en-GB" altLang="en-US" dirty="0" err="1">
                <a:latin typeface="Times New Roman" panose="02020603050405020304" pitchFamily="18" charset="0"/>
              </a:rPr>
              <a:t>NVMe</a:t>
            </a:r>
            <a:r>
              <a:rPr lang="en-GB" altLang="en-US" dirty="0">
                <a:latin typeface="Times New Roman" panose="02020603050405020304" pitchFamily="18" charset="0"/>
              </a:rPr>
              <a:t> SSDs connect directly to the PCIe (Peripheral Component Interconnect Express) bus, providing much faster data transfer speeds compared to SATA SSDs and HDDs.</a:t>
            </a:r>
          </a:p>
          <a:p>
            <a:endParaRPr lang="en-GB" altLang="en-US" dirty="0">
              <a:latin typeface="Times New Roman" panose="02020603050405020304" pitchFamily="18" charset="0"/>
            </a:endParaRPr>
          </a:p>
          <a:p>
            <a:r>
              <a:rPr lang="en-GB" altLang="en-US" dirty="0">
                <a:latin typeface="Times New Roman" panose="02020603050405020304" pitchFamily="18" charset="0"/>
              </a:rPr>
              <a:t>2. Performance:</a:t>
            </a:r>
          </a:p>
          <a:p>
            <a:r>
              <a:rPr lang="en-GB" altLang="en-US" dirty="0">
                <a:latin typeface="Times New Roman" panose="02020603050405020304" pitchFamily="18" charset="0"/>
              </a:rPr>
              <a:t>   - Speed: </a:t>
            </a:r>
            <a:r>
              <a:rPr lang="en-GB" altLang="en-US" dirty="0" err="1">
                <a:latin typeface="Times New Roman" panose="02020603050405020304" pitchFamily="18" charset="0"/>
              </a:rPr>
              <a:t>NVMe</a:t>
            </a:r>
            <a:r>
              <a:rPr lang="en-GB" altLang="en-US" dirty="0">
                <a:latin typeface="Times New Roman" panose="02020603050405020304" pitchFamily="18" charset="0"/>
              </a:rPr>
              <a:t> SSDs offer extremely high speeds, with data transfer rates ranging from 1,000 MB/s to over 7,000 MB/s, significantly faster than both HDDs and traditional SATA SSDs.</a:t>
            </a:r>
          </a:p>
          <a:p>
            <a:r>
              <a:rPr lang="en-GB" altLang="en-US" dirty="0">
                <a:latin typeface="Times New Roman" panose="02020603050405020304" pitchFamily="18" charset="0"/>
              </a:rPr>
              <a:t>   - Latency: Much lower latency due to the direct PCIe connection and the optimized </a:t>
            </a:r>
            <a:r>
              <a:rPr lang="en-GB" altLang="en-US" dirty="0" err="1">
                <a:latin typeface="Times New Roman" panose="02020603050405020304" pitchFamily="18" charset="0"/>
              </a:rPr>
              <a:t>NVMe</a:t>
            </a:r>
            <a:r>
              <a:rPr lang="en-GB" altLang="en-US" dirty="0">
                <a:latin typeface="Times New Roman" panose="02020603050405020304" pitchFamily="18" charset="0"/>
              </a:rPr>
              <a:t> protocol.</a:t>
            </a:r>
          </a:p>
          <a:p>
            <a:endParaRPr lang="en-GB" altLang="en-US" dirty="0">
              <a:latin typeface="Times New Roman" panose="02020603050405020304" pitchFamily="18" charset="0"/>
            </a:endParaRPr>
          </a:p>
          <a:p>
            <a:r>
              <a:rPr lang="en-GB" altLang="en-US" dirty="0">
                <a:latin typeface="Times New Roman" panose="02020603050405020304" pitchFamily="18" charset="0"/>
              </a:rPr>
              <a:t>3. Capacity:</a:t>
            </a:r>
          </a:p>
          <a:p>
            <a:r>
              <a:rPr lang="en-GB" altLang="en-US" dirty="0">
                <a:latin typeface="Times New Roman" panose="02020603050405020304" pitchFamily="18" charset="0"/>
              </a:rPr>
              <a:t>   - Storage Size: </a:t>
            </a:r>
            <a:r>
              <a:rPr lang="en-GB" altLang="en-US" dirty="0" err="1">
                <a:latin typeface="Times New Roman" panose="02020603050405020304" pitchFamily="18" charset="0"/>
              </a:rPr>
              <a:t>NVMe</a:t>
            </a:r>
            <a:r>
              <a:rPr lang="en-GB" altLang="en-US" dirty="0">
                <a:latin typeface="Times New Roman" panose="02020603050405020304" pitchFamily="18" charset="0"/>
              </a:rPr>
              <a:t> SSDs come in various capacities, typically ranging from 250GB to 4TB, with higher capacities becoming more available over time.</a:t>
            </a:r>
          </a:p>
          <a:p>
            <a:endParaRPr lang="en-GB" altLang="en-US" dirty="0">
              <a:latin typeface="Times New Roman" panose="02020603050405020304" pitchFamily="18" charset="0"/>
            </a:endParaRPr>
          </a:p>
          <a:p>
            <a:r>
              <a:rPr lang="en-GB" altLang="en-US" dirty="0">
                <a:latin typeface="Times New Roman" panose="02020603050405020304" pitchFamily="18" charset="0"/>
              </a:rPr>
              <a:t>4. Durability:</a:t>
            </a:r>
          </a:p>
          <a:p>
            <a:r>
              <a:rPr lang="en-GB" altLang="en-US" dirty="0">
                <a:latin typeface="Times New Roman" panose="02020603050405020304" pitchFamily="18" charset="0"/>
              </a:rPr>
              <a:t>   - No Moving Parts: </a:t>
            </a:r>
            <a:r>
              <a:rPr lang="en-GB" altLang="en-US" dirty="0" err="1">
                <a:latin typeface="Times New Roman" panose="02020603050405020304" pitchFamily="18" charset="0"/>
              </a:rPr>
              <a:t>NVMe</a:t>
            </a:r>
            <a:r>
              <a:rPr lang="en-GB" altLang="en-US" dirty="0">
                <a:latin typeface="Times New Roman" panose="02020603050405020304" pitchFamily="18" charset="0"/>
              </a:rPr>
              <a:t> SSDs have no mechanical parts, making them more durable and resistant to physical shock and vibration compared to HDDs.</a:t>
            </a:r>
          </a:p>
          <a:p>
            <a:endParaRPr lang="en-GB" altLang="en-US" dirty="0">
              <a:latin typeface="Times New Roman" panose="02020603050405020304" pitchFamily="18" charset="0"/>
            </a:endParaRPr>
          </a:p>
          <a:p>
            <a:r>
              <a:rPr lang="en-GB" altLang="en-US" dirty="0">
                <a:latin typeface="Times New Roman" panose="02020603050405020304" pitchFamily="18" charset="0"/>
              </a:rPr>
              <a:t>5. Cost:</a:t>
            </a:r>
          </a:p>
          <a:p>
            <a:r>
              <a:rPr lang="en-GB" altLang="en-US" dirty="0">
                <a:latin typeface="Times New Roman" panose="02020603050405020304" pitchFamily="18" charset="0"/>
              </a:rPr>
              <a:t>   - Price per GB: Higher cost per GB compared to HDDs, though prices have been decreasing steadily.</a:t>
            </a:r>
          </a:p>
          <a:p>
            <a:endParaRPr lang="en-GB" altLang="en-US" dirty="0">
              <a:latin typeface="Times New Roman" panose="02020603050405020304" pitchFamily="18" charset="0"/>
            </a:endParaRPr>
          </a:p>
          <a:p>
            <a:r>
              <a:rPr lang="en-GB" altLang="en-US" dirty="0">
                <a:latin typeface="Times New Roman" panose="02020603050405020304" pitchFamily="18" charset="0"/>
              </a:rPr>
              <a:t>6. Use Case:</a:t>
            </a:r>
          </a:p>
          <a:p>
            <a:r>
              <a:rPr lang="en-GB" altLang="en-US" dirty="0">
                <a:latin typeface="Times New Roman" panose="02020603050405020304" pitchFamily="18" charset="0"/>
              </a:rPr>
              <a:t>   - Primary Use: Ideal for applications requiring high speed and low latency, such as operating systems, high-performance gaming, video editing, and data-intensive applications. Also preferred in high-end computing environments and servers where performance is critical.</a:t>
            </a:r>
          </a:p>
          <a:p>
            <a:endParaRPr lang="en-GB" altLang="en-US" dirty="0">
              <a:latin typeface="Times New Roman" panose="02020603050405020304" pitchFamily="18" charset="0"/>
            </a:endParaRPr>
          </a:p>
          <a:p>
            <a:r>
              <a:rPr lang="en-GB" altLang="en-US" dirty="0">
                <a:latin typeface="Times New Roman" panose="02020603050405020304" pitchFamily="18" charset="0"/>
              </a:rPr>
              <a:t> Comparison</a:t>
            </a:r>
          </a:p>
          <a:p>
            <a:endParaRPr lang="en-GB" altLang="en-US" dirty="0">
              <a:latin typeface="Times New Roman" panose="02020603050405020304" pitchFamily="18" charset="0"/>
            </a:endParaRPr>
          </a:p>
          <a:p>
            <a:r>
              <a:rPr lang="en-GB" altLang="en-US" dirty="0">
                <a:latin typeface="Times New Roman" panose="02020603050405020304" pitchFamily="18" charset="0"/>
              </a:rPr>
              <a:t>1. Speed and Performance:</a:t>
            </a:r>
          </a:p>
          <a:p>
            <a:r>
              <a:rPr lang="en-GB" altLang="en-US" dirty="0">
                <a:latin typeface="Times New Roman" panose="02020603050405020304" pitchFamily="18" charset="0"/>
              </a:rPr>
              <a:t>   - HDD: Slower data transfer rates and higher latency due to mechanical components.</a:t>
            </a:r>
          </a:p>
          <a:p>
            <a:r>
              <a:rPr lang="en-GB" altLang="en-US" dirty="0">
                <a:latin typeface="Times New Roman" panose="02020603050405020304" pitchFamily="18" charset="0"/>
              </a:rPr>
              <a:t>   - </a:t>
            </a:r>
            <a:r>
              <a:rPr lang="en-GB" altLang="en-US" dirty="0" err="1">
                <a:latin typeface="Times New Roman" panose="02020603050405020304" pitchFamily="18" charset="0"/>
              </a:rPr>
              <a:t>NVMe</a:t>
            </a:r>
            <a:r>
              <a:rPr lang="en-GB" altLang="en-US" dirty="0">
                <a:latin typeface="Times New Roman" panose="02020603050405020304" pitchFamily="18" charset="0"/>
              </a:rPr>
              <a:t>: Extremely fast data transfer rates and low latency, significantly outperforming HDDs.</a:t>
            </a:r>
          </a:p>
          <a:p>
            <a:endParaRPr lang="en-GB" altLang="en-US" dirty="0">
              <a:latin typeface="Times New Roman" panose="02020603050405020304" pitchFamily="18" charset="0"/>
            </a:endParaRPr>
          </a:p>
          <a:p>
            <a:r>
              <a:rPr lang="en-GB" altLang="en-US" dirty="0">
                <a:latin typeface="Times New Roman" panose="02020603050405020304" pitchFamily="18" charset="0"/>
              </a:rPr>
              <a:t>2. Durability:</a:t>
            </a:r>
          </a:p>
          <a:p>
            <a:r>
              <a:rPr lang="en-GB" altLang="en-US" dirty="0">
                <a:latin typeface="Times New Roman" panose="02020603050405020304" pitchFamily="18" charset="0"/>
              </a:rPr>
              <a:t>   - HDD: More prone to physical damage due to moving parts.</a:t>
            </a:r>
          </a:p>
          <a:p>
            <a:r>
              <a:rPr lang="en-GB" altLang="en-US" dirty="0">
                <a:latin typeface="Times New Roman" panose="02020603050405020304" pitchFamily="18" charset="0"/>
              </a:rPr>
              <a:t>   - </a:t>
            </a:r>
            <a:r>
              <a:rPr lang="en-GB" altLang="en-US" dirty="0" err="1">
                <a:latin typeface="Times New Roman" panose="02020603050405020304" pitchFamily="18" charset="0"/>
              </a:rPr>
              <a:t>NVMe</a:t>
            </a:r>
            <a:r>
              <a:rPr lang="en-GB" altLang="en-US" dirty="0">
                <a:latin typeface="Times New Roman" panose="02020603050405020304" pitchFamily="18" charset="0"/>
              </a:rPr>
              <a:t>: More durable with no moving parts, making it better suited for mobile devices and environments where physical shocks may occur.</a:t>
            </a:r>
          </a:p>
          <a:p>
            <a:endParaRPr lang="en-GB" altLang="en-US" dirty="0">
              <a:latin typeface="Times New Roman" panose="02020603050405020304" pitchFamily="18" charset="0"/>
            </a:endParaRPr>
          </a:p>
          <a:p>
            <a:r>
              <a:rPr lang="en-GB" altLang="en-US" dirty="0">
                <a:latin typeface="Times New Roman" panose="02020603050405020304" pitchFamily="18" charset="0"/>
              </a:rPr>
              <a:t>3. Capacity and Cost:</a:t>
            </a:r>
          </a:p>
          <a:p>
            <a:r>
              <a:rPr lang="en-GB" altLang="en-US" dirty="0">
                <a:latin typeface="Times New Roman" panose="02020603050405020304" pitchFamily="18" charset="0"/>
              </a:rPr>
              <a:t>   - HDD: Offers higher capacities at a lower cost per GB, making it suitable for bulk storage.</a:t>
            </a:r>
          </a:p>
          <a:p>
            <a:r>
              <a:rPr lang="en-GB" altLang="en-US" dirty="0">
                <a:latin typeface="Times New Roman" panose="02020603050405020304" pitchFamily="18" charset="0"/>
              </a:rPr>
              <a:t>   - </a:t>
            </a:r>
            <a:r>
              <a:rPr lang="en-GB" altLang="en-US" dirty="0" err="1">
                <a:latin typeface="Times New Roman" panose="02020603050405020304" pitchFamily="18" charset="0"/>
              </a:rPr>
              <a:t>NVMe</a:t>
            </a:r>
            <a:r>
              <a:rPr lang="en-GB" altLang="en-US" dirty="0">
                <a:latin typeface="Times New Roman" panose="02020603050405020304" pitchFamily="18" charset="0"/>
              </a:rPr>
              <a:t>: Higher cost per GB, but prices are decreasing, and capacities are increasing.</a:t>
            </a:r>
          </a:p>
          <a:p>
            <a:endParaRPr lang="en-GB" altLang="en-US" dirty="0">
              <a:latin typeface="Times New Roman" panose="02020603050405020304" pitchFamily="18" charset="0"/>
            </a:endParaRPr>
          </a:p>
          <a:p>
            <a:r>
              <a:rPr lang="en-GB" altLang="en-US" dirty="0">
                <a:latin typeface="Times New Roman" panose="02020603050405020304" pitchFamily="18" charset="0"/>
              </a:rPr>
              <a:t>4. Use Case:</a:t>
            </a:r>
          </a:p>
          <a:p>
            <a:r>
              <a:rPr lang="en-GB" altLang="en-US" dirty="0">
                <a:latin typeface="Times New Roman" panose="02020603050405020304" pitchFamily="18" charset="0"/>
              </a:rPr>
              <a:t>   - HDD: Suitable for cost-effective bulk storage, backups, and situations where speed is not a primary concern.</a:t>
            </a:r>
          </a:p>
          <a:p>
            <a:r>
              <a:rPr lang="en-GB" altLang="en-US" dirty="0">
                <a:latin typeface="Times New Roman" panose="02020603050405020304" pitchFamily="18" charset="0"/>
              </a:rPr>
              <a:t>   - </a:t>
            </a:r>
            <a:r>
              <a:rPr lang="en-GB" altLang="en-US" dirty="0" err="1">
                <a:latin typeface="Times New Roman" panose="02020603050405020304" pitchFamily="18" charset="0"/>
              </a:rPr>
              <a:t>NVMe</a:t>
            </a:r>
            <a:r>
              <a:rPr lang="en-GB" altLang="en-US" dirty="0">
                <a:latin typeface="Times New Roman" panose="02020603050405020304" pitchFamily="18" charset="0"/>
              </a:rPr>
              <a:t>: Suitable for high-performance applications requiring fast read/write speeds and low latency, such as operating systems, games, and professional software.</a:t>
            </a:r>
          </a:p>
          <a:p>
            <a:endParaRPr lang="en-GB" altLang="en-US" dirty="0">
              <a:latin typeface="Times New Roman" panose="02020603050405020304" pitchFamily="18" charset="0"/>
            </a:endParaRPr>
          </a:p>
          <a:p>
            <a:r>
              <a:rPr lang="en-GB" altLang="en-US" dirty="0">
                <a:latin typeface="Times New Roman" panose="02020603050405020304" pitchFamily="18" charset="0"/>
              </a:rPr>
              <a:t> Summary</a:t>
            </a:r>
          </a:p>
          <a:p>
            <a:endParaRPr lang="en-GB" altLang="en-US" dirty="0">
              <a:latin typeface="Times New Roman" panose="02020603050405020304" pitchFamily="18" charset="0"/>
            </a:endParaRPr>
          </a:p>
          <a:p>
            <a:r>
              <a:rPr lang="en-GB" altLang="en-US" dirty="0">
                <a:latin typeface="Times New Roman" panose="02020603050405020304" pitchFamily="18" charset="0"/>
              </a:rPr>
              <a:t>- HDD: Best for high-capacity, cost-effective storage solutions where speed is not a primary concern.</a:t>
            </a:r>
          </a:p>
          <a:p>
            <a:r>
              <a:rPr lang="en-GB" altLang="en-US" dirty="0">
                <a:latin typeface="Times New Roman" panose="02020603050405020304" pitchFamily="18" charset="0"/>
              </a:rPr>
              <a:t>- </a:t>
            </a:r>
            <a:r>
              <a:rPr lang="en-GB" altLang="en-US" dirty="0" err="1">
                <a:latin typeface="Times New Roman" panose="02020603050405020304" pitchFamily="18" charset="0"/>
              </a:rPr>
              <a:t>NVMe</a:t>
            </a:r>
            <a:r>
              <a:rPr lang="en-GB" altLang="en-US" dirty="0">
                <a:latin typeface="Times New Roman" panose="02020603050405020304" pitchFamily="18" charset="0"/>
              </a:rPr>
              <a:t>: Best for high-speed, high-performance storage needs where fast data access and low latency are critical.</a:t>
            </a:r>
            <a:endParaRPr lang="en-US" altLang="en-US" dirty="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1117600" y="696913"/>
            <a:ext cx="46482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1117600" y="696913"/>
            <a:ext cx="46482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1117600" y="696913"/>
            <a:ext cx="46482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1117600" y="696913"/>
            <a:ext cx="46482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GB" altLang="en-US" dirty="0">
                <a:latin typeface="Times New Roman" panose="02020603050405020304" pitchFamily="18" charset="0"/>
              </a:rPr>
              <a:t> More Examples of Software and Hardware Interrupts:</a:t>
            </a:r>
          </a:p>
          <a:p>
            <a:endParaRPr lang="en-GB" altLang="en-US" dirty="0">
              <a:latin typeface="Times New Roman" panose="02020603050405020304" pitchFamily="18" charset="0"/>
            </a:endParaRPr>
          </a:p>
          <a:p>
            <a:r>
              <a:rPr lang="en-GB" altLang="en-US" dirty="0">
                <a:latin typeface="Times New Roman" panose="02020603050405020304" pitchFamily="18" charset="0"/>
              </a:rPr>
              <a:t> Software Interrupts:</a:t>
            </a:r>
          </a:p>
          <a:p>
            <a:r>
              <a:rPr lang="en-GB" altLang="en-US" dirty="0">
                <a:latin typeface="Times New Roman" panose="02020603050405020304" pitchFamily="18" charset="0"/>
              </a:rPr>
              <a:t>   - Illegal Operation Code (Opcode): When a program tries to execute an illegal or undefined instruction, a software interrupt is generated. This often leads to an exception handling routine, such as terminating the process or displaying an error message.</a:t>
            </a:r>
          </a:p>
          <a:p>
            <a:r>
              <a:rPr lang="en-GB" altLang="en-US" dirty="0">
                <a:latin typeface="Times New Roman" panose="02020603050405020304" pitchFamily="18" charset="0"/>
              </a:rPr>
              <a:t>   - Overflow Interrupt: If a program performs an arithmetic operation that exceeds the maximum size that can be stored in a register (like integer overflow), a software interrupt may be triggered to handle the situation.</a:t>
            </a:r>
          </a:p>
          <a:p>
            <a:r>
              <a:rPr lang="en-GB" altLang="en-US" dirty="0">
                <a:latin typeface="Times New Roman" panose="02020603050405020304" pitchFamily="18" charset="0"/>
              </a:rPr>
              <a:t>   - Trap Instruction: In some systems, a trap is a software-generated interrupt used by the operating system to catch and handle exceptions or to implement system calls. For example, the `INT 0x80` instruction in older Linux systems is a trap used to invoke system calls.</a:t>
            </a:r>
          </a:p>
          <a:p>
            <a:endParaRPr lang="en-GB" altLang="en-US" dirty="0">
              <a:latin typeface="Times New Roman" panose="02020603050405020304" pitchFamily="18" charset="0"/>
            </a:endParaRPr>
          </a:p>
          <a:p>
            <a:r>
              <a:rPr lang="en-GB" altLang="en-US" dirty="0">
                <a:latin typeface="Times New Roman" panose="02020603050405020304" pitchFamily="18" charset="0"/>
              </a:rPr>
              <a:t> Hardware Interrupts:</a:t>
            </a:r>
          </a:p>
          <a:p>
            <a:r>
              <a:rPr lang="en-GB" altLang="en-US" dirty="0">
                <a:latin typeface="Times New Roman" panose="02020603050405020304" pitchFamily="18" charset="0"/>
              </a:rPr>
              <a:t>   - Mouse Interrupt: Similar to keyboard interrupts, when a user moves the mouse or clicks a button, the mouse sends a hardware interrupt to the CPU, which then processes the input to move the cursor or select an item on the screen.</a:t>
            </a:r>
          </a:p>
          <a:p>
            <a:r>
              <a:rPr lang="en-GB" altLang="en-US" dirty="0">
                <a:latin typeface="Times New Roman" panose="02020603050405020304" pitchFamily="18" charset="0"/>
              </a:rPr>
              <a:t>   - Disk I/O Interrupt: When a disk drive completes a read or write operation, it sends a hardware interrupt to notify the CPU that the data transfer is complete and the system can proceed with processing the data.</a:t>
            </a:r>
          </a:p>
          <a:p>
            <a:r>
              <a:rPr lang="en-GB" altLang="en-US" dirty="0">
                <a:latin typeface="Times New Roman" panose="02020603050405020304" pitchFamily="18" charset="0"/>
              </a:rPr>
              <a:t>   - Power Failure Interrupt: Some systems are equipped with sensors that detect a sudden power failure. This generates a hardware interrupt that signals the CPU to initiate a shutdown sequence or to switch to a backup power source, like a battery.</a:t>
            </a:r>
          </a:p>
          <a:p>
            <a:r>
              <a:rPr lang="en-GB" altLang="en-US" dirty="0">
                <a:latin typeface="Times New Roman" panose="02020603050405020304" pitchFamily="18" charset="0"/>
              </a:rPr>
              <a:t>   - Peripheral Interrupt (USB Device): When a USB device, such as a flash drive or printer, is connected or disconnected, the USB controller generates a hardware interrupt to inform the operating system that a change has occurred, prompting it to load or unload the appropriate device drivers.</a:t>
            </a:r>
          </a:p>
          <a:p>
            <a:endParaRPr lang="en-GB" altLang="en-US" dirty="0">
              <a:latin typeface="Times New Roman" panose="02020603050405020304" pitchFamily="18" charset="0"/>
            </a:endParaRPr>
          </a:p>
          <a:p>
            <a:r>
              <a:rPr lang="en-GB" altLang="en-US" dirty="0">
                <a:latin typeface="Times New Roman" panose="02020603050405020304" pitchFamily="18" charset="0"/>
              </a:rPr>
              <a:t> Interrupt Handling:</a:t>
            </a:r>
          </a:p>
          <a:p>
            <a:r>
              <a:rPr lang="en-GB" altLang="en-US" dirty="0">
                <a:latin typeface="Times New Roman" panose="02020603050405020304" pitchFamily="18" charset="0"/>
              </a:rPr>
              <a:t>   - Interrupt Vector Table (IVT): Both software and hardware interrupts use an Interrupt Vector Table (IVT) to determine the appropriate Interrupt Service Routine (ISR) to handle the interrupt. The IVT maps specific interrupt requests to their corresponding handlers.</a:t>
            </a:r>
          </a:p>
          <a:p>
            <a:r>
              <a:rPr lang="en-GB" altLang="en-US" dirty="0">
                <a:latin typeface="Times New Roman" panose="02020603050405020304" pitchFamily="18" charset="0"/>
              </a:rPr>
              <a:t>   - Priority Levels: Hardware interrupts usually have priority levels assigned to them. Higher-priority interrupts can </a:t>
            </a:r>
            <a:r>
              <a:rPr lang="en-GB" altLang="en-US" dirty="0" err="1">
                <a:latin typeface="Times New Roman" panose="02020603050405020304" pitchFamily="18" charset="0"/>
              </a:rPr>
              <a:t>preempt</a:t>
            </a:r>
            <a:r>
              <a:rPr lang="en-GB" altLang="en-US" dirty="0">
                <a:latin typeface="Times New Roman" panose="02020603050405020304" pitchFamily="18" charset="0"/>
              </a:rPr>
              <a:t> lower-priority ones, ensuring that critical tasks are handled promptly. For instance, a timer interrupt might have a higher priority than a keyboard interrupt.</a:t>
            </a:r>
          </a:p>
          <a:p>
            <a:endParaRPr lang="en-GB" altLang="en-US" dirty="0">
              <a:latin typeface="Times New Roman" panose="02020603050405020304" pitchFamily="18" charset="0"/>
            </a:endParaRPr>
          </a:p>
          <a:p>
            <a:r>
              <a:rPr lang="en-GB" altLang="en-US" dirty="0">
                <a:latin typeface="Times New Roman" panose="02020603050405020304" pitchFamily="18" charset="0"/>
              </a:rPr>
              <a:t> Further Examples of Specific Use Cases:</a:t>
            </a:r>
          </a:p>
          <a:p>
            <a:r>
              <a:rPr lang="en-GB" altLang="en-US" dirty="0">
                <a:latin typeface="Times New Roman" panose="02020603050405020304" pitchFamily="18" charset="0"/>
              </a:rPr>
              <a:t>   - Software Interrupt - Debugging: Debuggers often use software interrupts to pause the execution of a program and allow the developer to inspect the state of the program at a particular point.</a:t>
            </a:r>
          </a:p>
          <a:p>
            <a:r>
              <a:rPr lang="en-GB" altLang="en-US" dirty="0">
                <a:latin typeface="Times New Roman" panose="02020603050405020304" pitchFamily="18" charset="0"/>
              </a:rPr>
              <a:t>   - Hardware Interrupt - Real-Time Systems: In real-time operating systems (RTOS), hardware interrupts are crucial for meeting time-sensitive tasks, such as controlling industrial machinery, where immediate responses to sensor inputs are required.</a:t>
            </a:r>
          </a:p>
          <a:p>
            <a:r>
              <a:rPr lang="en-GB" altLang="en-US" dirty="0">
                <a:latin typeface="Times New Roman" panose="02020603050405020304" pitchFamily="18" charset="0"/>
              </a:rPr>
              <a:t>   - Software Interrupt - User Interface (UI): Graphical user interfaces (GUIs) might use software interrupts to update the display when a user interacts with a window or clicks a button, triggering an event-driven interrupt.</a:t>
            </a:r>
          </a:p>
          <a:p>
            <a:r>
              <a:rPr lang="en-GB" altLang="en-US" dirty="0">
                <a:latin typeface="Times New Roman" panose="02020603050405020304" pitchFamily="18" charset="0"/>
              </a:rPr>
              <a:t>   - Hardware Interrupt - Audio Processing: When audio hardware, like a sound card, finishes playing a buffer of audio data, it sends an interrupt to the CPU, which can then load the next buffer of audio data, ensuring continuous sound playback without glitches.</a:t>
            </a:r>
          </a:p>
          <a:p>
            <a:endParaRPr lang="en-GB" altLang="en-US" dirty="0">
              <a:latin typeface="Times New Roman" panose="02020603050405020304" pitchFamily="18" charset="0"/>
            </a:endParaRPr>
          </a:p>
          <a:p>
            <a:r>
              <a:rPr lang="en-GB" altLang="en-US" dirty="0">
                <a:latin typeface="Times New Roman" panose="02020603050405020304" pitchFamily="18" charset="0"/>
              </a:rPr>
              <a:t>These examples demonstrate the broad range of applications and contexts in which both software and hardware interrupts play a crucial role in modern computing systems. They ensure responsive, efficient, and reliable operation across various types of hardware and software environments.</a:t>
            </a:r>
            <a:endParaRPr lang="en-US" altLang="en-US" dirty="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1117600" y="696913"/>
            <a:ext cx="46482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GB" altLang="en-US" dirty="0">
                <a:latin typeface="Times New Roman" panose="02020603050405020304" pitchFamily="18" charset="0"/>
              </a:rPr>
              <a:t>User Mode vs Kernel Mode</a:t>
            </a:r>
          </a:p>
          <a:p>
            <a:endParaRPr lang="en-GB" altLang="en-US" dirty="0">
              <a:latin typeface="Times New Roman" panose="02020603050405020304" pitchFamily="18" charset="0"/>
            </a:endParaRPr>
          </a:p>
          <a:p>
            <a:r>
              <a:rPr lang="en-GB" altLang="en-US" dirty="0">
                <a:latin typeface="Times New Roman" panose="02020603050405020304" pitchFamily="18" charset="0"/>
              </a:rPr>
              <a:t> User Mode</a:t>
            </a:r>
          </a:p>
          <a:p>
            <a:endParaRPr lang="en-GB" altLang="en-US" dirty="0">
              <a:latin typeface="Times New Roman" panose="02020603050405020304" pitchFamily="18" charset="0"/>
            </a:endParaRPr>
          </a:p>
          <a:p>
            <a:r>
              <a:rPr lang="en-GB" altLang="en-US" dirty="0">
                <a:latin typeface="Times New Roman" panose="02020603050405020304" pitchFamily="18" charset="0"/>
              </a:rPr>
              <a:t>1. Definition:</a:t>
            </a:r>
          </a:p>
          <a:p>
            <a:r>
              <a:rPr lang="en-GB" altLang="en-US" dirty="0">
                <a:latin typeface="Times New Roman" panose="02020603050405020304" pitchFamily="18" charset="0"/>
              </a:rPr>
              <a:t>   - User mode is a restricted mode where applications run with limited access to system resources and hardware.</a:t>
            </a:r>
          </a:p>
          <a:p>
            <a:endParaRPr lang="en-GB" altLang="en-US" dirty="0">
              <a:latin typeface="Times New Roman" panose="02020603050405020304" pitchFamily="18" charset="0"/>
            </a:endParaRPr>
          </a:p>
          <a:p>
            <a:r>
              <a:rPr lang="en-GB" altLang="en-US" dirty="0">
                <a:latin typeface="Times New Roman" panose="02020603050405020304" pitchFamily="18" charset="0"/>
              </a:rPr>
              <a:t>2. Access Rights:</a:t>
            </a:r>
          </a:p>
          <a:p>
            <a:r>
              <a:rPr lang="en-GB" altLang="en-US" dirty="0">
                <a:latin typeface="Times New Roman" panose="02020603050405020304" pitchFamily="18" charset="0"/>
              </a:rPr>
              <a:t>   - Limited access to system resources, preventing direct interaction with hardware and critical system areas.</a:t>
            </a:r>
          </a:p>
          <a:p>
            <a:endParaRPr lang="en-GB" altLang="en-US" dirty="0">
              <a:latin typeface="Times New Roman" panose="02020603050405020304" pitchFamily="18" charset="0"/>
            </a:endParaRPr>
          </a:p>
          <a:p>
            <a:r>
              <a:rPr lang="en-GB" altLang="en-US" dirty="0">
                <a:latin typeface="Times New Roman" panose="02020603050405020304" pitchFamily="18" charset="0"/>
              </a:rPr>
              <a:t>3. Operations:</a:t>
            </a:r>
          </a:p>
          <a:p>
            <a:r>
              <a:rPr lang="en-GB" altLang="en-US" dirty="0">
                <a:latin typeface="Times New Roman" panose="02020603050405020304" pitchFamily="18" charset="0"/>
              </a:rPr>
              <a:t>   - Running user applications (e.g., word processors, web browsers).</a:t>
            </a:r>
          </a:p>
          <a:p>
            <a:r>
              <a:rPr lang="en-GB" altLang="en-US" dirty="0">
                <a:latin typeface="Times New Roman" panose="02020603050405020304" pitchFamily="18" charset="0"/>
              </a:rPr>
              <a:t>   - Performing general computing tasks like creating documents, browsing the internet, and running games.</a:t>
            </a:r>
          </a:p>
          <a:p>
            <a:endParaRPr lang="en-GB" altLang="en-US" dirty="0">
              <a:latin typeface="Times New Roman" panose="02020603050405020304" pitchFamily="18" charset="0"/>
            </a:endParaRPr>
          </a:p>
          <a:p>
            <a:r>
              <a:rPr lang="en-GB" altLang="en-US" dirty="0">
                <a:latin typeface="Times New Roman" panose="02020603050405020304" pitchFamily="18" charset="0"/>
              </a:rPr>
              <a:t>4. System Calls:</a:t>
            </a:r>
          </a:p>
          <a:p>
            <a:r>
              <a:rPr lang="en-GB" altLang="en-US" dirty="0">
                <a:latin typeface="Times New Roman" panose="02020603050405020304" pitchFamily="18" charset="0"/>
              </a:rPr>
              <a:t>   - Applications in user mode must use system calls to request services from the kernel (e.g., file operations, memory allocation).</a:t>
            </a:r>
          </a:p>
          <a:p>
            <a:endParaRPr lang="en-GB" altLang="en-US" dirty="0">
              <a:latin typeface="Times New Roman" panose="02020603050405020304" pitchFamily="18" charset="0"/>
            </a:endParaRPr>
          </a:p>
          <a:p>
            <a:r>
              <a:rPr lang="en-GB" altLang="en-US" dirty="0">
                <a:latin typeface="Times New Roman" panose="02020603050405020304" pitchFamily="18" charset="0"/>
              </a:rPr>
              <a:t>5. Security:</a:t>
            </a:r>
          </a:p>
          <a:p>
            <a:r>
              <a:rPr lang="en-GB" altLang="en-US" dirty="0">
                <a:latin typeface="Times New Roman" panose="02020603050405020304" pitchFamily="18" charset="0"/>
              </a:rPr>
              <a:t>   - Higher security as applications run with limited privileges, reducing the risk of system crashes and unauthorized access.</a:t>
            </a:r>
          </a:p>
          <a:p>
            <a:endParaRPr lang="en-GB" altLang="en-US" dirty="0">
              <a:latin typeface="Times New Roman" panose="02020603050405020304" pitchFamily="18" charset="0"/>
            </a:endParaRPr>
          </a:p>
          <a:p>
            <a:r>
              <a:rPr lang="en-GB" altLang="en-US" dirty="0">
                <a:latin typeface="Times New Roman" panose="02020603050405020304" pitchFamily="18" charset="0"/>
              </a:rPr>
              <a:t>6. Error Handling:</a:t>
            </a:r>
          </a:p>
          <a:p>
            <a:r>
              <a:rPr lang="en-GB" altLang="en-US" dirty="0">
                <a:latin typeface="Times New Roman" panose="02020603050405020304" pitchFamily="18" charset="0"/>
              </a:rPr>
              <a:t>   - Errors in user mode typically affect only the application, not the entire system.</a:t>
            </a:r>
          </a:p>
          <a:p>
            <a:endParaRPr lang="en-GB" altLang="en-US" dirty="0">
              <a:latin typeface="Times New Roman" panose="02020603050405020304" pitchFamily="18" charset="0"/>
            </a:endParaRPr>
          </a:p>
          <a:p>
            <a:r>
              <a:rPr lang="en-GB" altLang="en-US" dirty="0">
                <a:latin typeface="Times New Roman" panose="02020603050405020304" pitchFamily="18" charset="0"/>
              </a:rPr>
              <a:t>7. Examples:</a:t>
            </a:r>
          </a:p>
          <a:p>
            <a:r>
              <a:rPr lang="en-GB" altLang="en-US" dirty="0">
                <a:latin typeface="Times New Roman" panose="02020603050405020304" pitchFamily="18" charset="0"/>
              </a:rPr>
              <a:t>   - Executing software like text editors, spreadsheets, email clients, and web browsers.</a:t>
            </a:r>
          </a:p>
          <a:p>
            <a:endParaRPr lang="en-GB" altLang="en-US" dirty="0">
              <a:latin typeface="Times New Roman" panose="02020603050405020304" pitchFamily="18" charset="0"/>
            </a:endParaRPr>
          </a:p>
          <a:p>
            <a:r>
              <a:rPr lang="en-GB" altLang="en-US" dirty="0">
                <a:latin typeface="Times New Roman" panose="02020603050405020304" pitchFamily="18" charset="0"/>
              </a:rPr>
              <a:t> Kernel Mode</a:t>
            </a:r>
          </a:p>
          <a:p>
            <a:endParaRPr lang="en-GB" altLang="en-US" dirty="0">
              <a:latin typeface="Times New Roman" panose="02020603050405020304" pitchFamily="18" charset="0"/>
            </a:endParaRPr>
          </a:p>
          <a:p>
            <a:r>
              <a:rPr lang="en-GB" altLang="en-US" dirty="0">
                <a:latin typeface="Times New Roman" panose="02020603050405020304" pitchFamily="18" charset="0"/>
              </a:rPr>
              <a:t>1. Definition:</a:t>
            </a:r>
          </a:p>
          <a:p>
            <a:r>
              <a:rPr lang="en-GB" altLang="en-US" dirty="0">
                <a:latin typeface="Times New Roman" panose="02020603050405020304" pitchFamily="18" charset="0"/>
              </a:rPr>
              <a:t>   - Kernel mode is a privileged mode where the operating system's core components and drivers run with full access to system resources and hardware.</a:t>
            </a:r>
          </a:p>
          <a:p>
            <a:endParaRPr lang="en-GB" altLang="en-US" dirty="0">
              <a:latin typeface="Times New Roman" panose="02020603050405020304" pitchFamily="18" charset="0"/>
            </a:endParaRPr>
          </a:p>
          <a:p>
            <a:r>
              <a:rPr lang="en-GB" altLang="en-US" dirty="0">
                <a:latin typeface="Times New Roman" panose="02020603050405020304" pitchFamily="18" charset="0"/>
              </a:rPr>
              <a:t>2. Access Rights:</a:t>
            </a:r>
          </a:p>
          <a:p>
            <a:r>
              <a:rPr lang="en-GB" altLang="en-US" dirty="0">
                <a:latin typeface="Times New Roman" panose="02020603050405020304" pitchFamily="18" charset="0"/>
              </a:rPr>
              <a:t>   - Full access to all system resources, including hardware, memory, and CPU.</a:t>
            </a:r>
          </a:p>
          <a:p>
            <a:endParaRPr lang="en-GB" altLang="en-US" dirty="0">
              <a:latin typeface="Times New Roman" panose="02020603050405020304" pitchFamily="18" charset="0"/>
            </a:endParaRPr>
          </a:p>
          <a:p>
            <a:r>
              <a:rPr lang="en-GB" altLang="en-US" dirty="0">
                <a:latin typeface="Times New Roman" panose="02020603050405020304" pitchFamily="18" charset="0"/>
              </a:rPr>
              <a:t>3. Operations:</a:t>
            </a:r>
          </a:p>
          <a:p>
            <a:r>
              <a:rPr lang="en-GB" altLang="en-US" dirty="0">
                <a:latin typeface="Times New Roman" panose="02020603050405020304" pitchFamily="18" charset="0"/>
              </a:rPr>
              <a:t>   - Managing system resources (e.g., CPU scheduling, memory management).</a:t>
            </a:r>
          </a:p>
          <a:p>
            <a:r>
              <a:rPr lang="en-GB" altLang="en-US" dirty="0">
                <a:latin typeface="Times New Roman" panose="02020603050405020304" pitchFamily="18" charset="0"/>
              </a:rPr>
              <a:t>   - Handling hardware operations and device drivers.</a:t>
            </a:r>
          </a:p>
          <a:p>
            <a:r>
              <a:rPr lang="en-GB" altLang="en-US" dirty="0">
                <a:latin typeface="Times New Roman" panose="02020603050405020304" pitchFamily="18" charset="0"/>
              </a:rPr>
              <a:t>   - Executing core system tasks such as process management, file system operations, and security enforcement.</a:t>
            </a:r>
          </a:p>
          <a:p>
            <a:endParaRPr lang="en-GB" altLang="en-US" dirty="0">
              <a:latin typeface="Times New Roman" panose="02020603050405020304" pitchFamily="18" charset="0"/>
            </a:endParaRPr>
          </a:p>
          <a:p>
            <a:r>
              <a:rPr lang="en-GB" altLang="en-US" dirty="0">
                <a:latin typeface="Times New Roman" panose="02020603050405020304" pitchFamily="18" charset="0"/>
              </a:rPr>
              <a:t>4. System Calls:</a:t>
            </a:r>
          </a:p>
          <a:p>
            <a:r>
              <a:rPr lang="en-GB" altLang="en-US" dirty="0">
                <a:latin typeface="Times New Roman" panose="02020603050405020304" pitchFamily="18" charset="0"/>
              </a:rPr>
              <a:t>   - Kernel mode operations can directly interact with hardware and execute system calls without restrictions.</a:t>
            </a:r>
          </a:p>
          <a:p>
            <a:endParaRPr lang="en-GB" altLang="en-US" dirty="0">
              <a:latin typeface="Times New Roman" panose="02020603050405020304" pitchFamily="18" charset="0"/>
            </a:endParaRPr>
          </a:p>
          <a:p>
            <a:r>
              <a:rPr lang="en-GB" altLang="en-US" dirty="0">
                <a:latin typeface="Times New Roman" panose="02020603050405020304" pitchFamily="18" charset="0"/>
              </a:rPr>
              <a:t>5. Security:</a:t>
            </a:r>
          </a:p>
          <a:p>
            <a:r>
              <a:rPr lang="en-GB" altLang="en-US" dirty="0">
                <a:latin typeface="Times New Roman" panose="02020603050405020304" pitchFamily="18" charset="0"/>
              </a:rPr>
              <a:t>   - Lower security in case of errors or malicious code, as it can potentially crash the entire system or cause significant damage.</a:t>
            </a:r>
          </a:p>
          <a:p>
            <a:endParaRPr lang="en-GB" altLang="en-US" dirty="0">
              <a:latin typeface="Times New Roman" panose="02020603050405020304" pitchFamily="18" charset="0"/>
            </a:endParaRPr>
          </a:p>
          <a:p>
            <a:r>
              <a:rPr lang="en-GB" altLang="en-US" dirty="0">
                <a:latin typeface="Times New Roman" panose="02020603050405020304" pitchFamily="18" charset="0"/>
              </a:rPr>
              <a:t>6. Error Handling:</a:t>
            </a:r>
          </a:p>
          <a:p>
            <a:r>
              <a:rPr lang="en-GB" altLang="en-US" dirty="0">
                <a:latin typeface="Times New Roman" panose="02020603050405020304" pitchFamily="18" charset="0"/>
              </a:rPr>
              <a:t>   - Errors in kernel mode can lead to system crashes (e.g., blue screen of death in Windows).</a:t>
            </a:r>
          </a:p>
          <a:p>
            <a:endParaRPr lang="en-GB" altLang="en-US" dirty="0">
              <a:latin typeface="Times New Roman" panose="02020603050405020304" pitchFamily="18" charset="0"/>
            </a:endParaRPr>
          </a:p>
          <a:p>
            <a:r>
              <a:rPr lang="en-GB" altLang="en-US" dirty="0">
                <a:latin typeface="Times New Roman" panose="02020603050405020304" pitchFamily="18" charset="0"/>
              </a:rPr>
              <a:t>7. Examples:</a:t>
            </a:r>
          </a:p>
          <a:p>
            <a:r>
              <a:rPr lang="en-GB" altLang="en-US" dirty="0">
                <a:latin typeface="Times New Roman" panose="02020603050405020304" pitchFamily="18" charset="0"/>
              </a:rPr>
              <a:t>   - Running the operating system kernel, device drivers, and low-level system utilities.</a:t>
            </a:r>
          </a:p>
          <a:p>
            <a:endParaRPr lang="en-GB" altLang="en-US" dirty="0">
              <a:latin typeface="Times New Roman" panose="02020603050405020304" pitchFamily="18" charset="0"/>
            </a:endParaRPr>
          </a:p>
          <a:p>
            <a:r>
              <a:rPr lang="en-GB" altLang="en-US" dirty="0">
                <a:latin typeface="Times New Roman" panose="02020603050405020304" pitchFamily="18" charset="0"/>
              </a:rPr>
              <a:t> Comparison</a:t>
            </a:r>
          </a:p>
          <a:p>
            <a:endParaRPr lang="en-GB" altLang="en-US" dirty="0">
              <a:latin typeface="Times New Roman" panose="02020603050405020304" pitchFamily="18" charset="0"/>
            </a:endParaRPr>
          </a:p>
          <a:p>
            <a:r>
              <a:rPr lang="en-GB" altLang="en-US" dirty="0">
                <a:latin typeface="Times New Roman" panose="02020603050405020304" pitchFamily="18" charset="0"/>
              </a:rPr>
              <a:t>1. Access Level:</a:t>
            </a:r>
          </a:p>
          <a:p>
            <a:r>
              <a:rPr lang="en-GB" altLang="en-US" dirty="0">
                <a:latin typeface="Times New Roman" panose="02020603050405020304" pitchFamily="18" charset="0"/>
              </a:rPr>
              <a:t>   - User Mode: Limited access to resources, enhancing security and stability.</a:t>
            </a:r>
          </a:p>
          <a:p>
            <a:r>
              <a:rPr lang="en-GB" altLang="en-US" dirty="0">
                <a:latin typeface="Times New Roman" panose="02020603050405020304" pitchFamily="18" charset="0"/>
              </a:rPr>
              <a:t>   - Kernel Mode: Full access to all system resources, enabling direct hardware interaction.</a:t>
            </a:r>
          </a:p>
          <a:p>
            <a:endParaRPr lang="en-GB" altLang="en-US" dirty="0">
              <a:latin typeface="Times New Roman" panose="02020603050405020304" pitchFamily="18" charset="0"/>
            </a:endParaRPr>
          </a:p>
          <a:p>
            <a:r>
              <a:rPr lang="en-GB" altLang="en-US" dirty="0">
                <a:latin typeface="Times New Roman" panose="02020603050405020304" pitchFamily="18" charset="0"/>
              </a:rPr>
              <a:t>2. Security:</a:t>
            </a:r>
          </a:p>
          <a:p>
            <a:r>
              <a:rPr lang="en-GB" altLang="en-US" dirty="0">
                <a:latin typeface="Times New Roman" panose="02020603050405020304" pitchFamily="18" charset="0"/>
              </a:rPr>
              <a:t>   - User Mode: More secure for running applications due to restricted access.</a:t>
            </a:r>
          </a:p>
          <a:p>
            <a:r>
              <a:rPr lang="en-GB" altLang="en-US" dirty="0">
                <a:latin typeface="Times New Roman" panose="02020603050405020304" pitchFamily="18" charset="0"/>
              </a:rPr>
              <a:t>   - Kernel Mode: Less secure if errors or malicious code occur, affecting the entire system.</a:t>
            </a:r>
          </a:p>
          <a:p>
            <a:endParaRPr lang="en-GB" altLang="en-US" dirty="0">
              <a:latin typeface="Times New Roman" panose="02020603050405020304" pitchFamily="18" charset="0"/>
            </a:endParaRPr>
          </a:p>
          <a:p>
            <a:r>
              <a:rPr lang="en-GB" altLang="en-US" dirty="0">
                <a:latin typeface="Times New Roman" panose="02020603050405020304" pitchFamily="18" charset="0"/>
              </a:rPr>
              <a:t>3. Error Impact:</a:t>
            </a:r>
          </a:p>
          <a:p>
            <a:r>
              <a:rPr lang="en-GB" altLang="en-US" dirty="0">
                <a:latin typeface="Times New Roman" panose="02020603050405020304" pitchFamily="18" charset="0"/>
              </a:rPr>
              <a:t>   - User Mode: Errors typically affect only the running application.</a:t>
            </a:r>
          </a:p>
          <a:p>
            <a:r>
              <a:rPr lang="en-GB" altLang="en-US" dirty="0">
                <a:latin typeface="Times New Roman" panose="02020603050405020304" pitchFamily="18" charset="0"/>
              </a:rPr>
              <a:t>   - Kernel Mode: Errors can lead to system-wide crashes.</a:t>
            </a:r>
          </a:p>
          <a:p>
            <a:endParaRPr lang="en-GB" altLang="en-US" dirty="0">
              <a:latin typeface="Times New Roman" panose="02020603050405020304" pitchFamily="18" charset="0"/>
            </a:endParaRPr>
          </a:p>
          <a:p>
            <a:r>
              <a:rPr lang="en-GB" altLang="en-US" dirty="0">
                <a:latin typeface="Times New Roman" panose="02020603050405020304" pitchFamily="18" charset="0"/>
              </a:rPr>
              <a:t>4. Functionality:</a:t>
            </a:r>
          </a:p>
          <a:p>
            <a:r>
              <a:rPr lang="en-GB" altLang="en-US" dirty="0">
                <a:latin typeface="Times New Roman" panose="02020603050405020304" pitchFamily="18" charset="0"/>
              </a:rPr>
              <a:t>   - User Mode: Suitable for running general applications and user-level programs.</a:t>
            </a:r>
          </a:p>
          <a:p>
            <a:r>
              <a:rPr lang="en-GB" altLang="en-US" dirty="0">
                <a:latin typeface="Times New Roman" panose="02020603050405020304" pitchFamily="18" charset="0"/>
              </a:rPr>
              <a:t>   - Kernel Mode: Essential for running the operating system core, managing hardware, and performing low-level tasks.</a:t>
            </a:r>
          </a:p>
          <a:p>
            <a:endParaRPr lang="en-GB" altLang="en-US" dirty="0">
              <a:latin typeface="Times New Roman" panose="02020603050405020304" pitchFamily="18" charset="0"/>
            </a:endParaRPr>
          </a:p>
          <a:p>
            <a:r>
              <a:rPr lang="en-GB" altLang="en-US" dirty="0">
                <a:latin typeface="Times New Roman" panose="02020603050405020304" pitchFamily="18" charset="0"/>
              </a:rPr>
              <a:t> Summary</a:t>
            </a:r>
          </a:p>
          <a:p>
            <a:endParaRPr lang="en-GB" altLang="en-US" dirty="0">
              <a:latin typeface="Times New Roman" panose="02020603050405020304" pitchFamily="18" charset="0"/>
            </a:endParaRPr>
          </a:p>
          <a:p>
            <a:r>
              <a:rPr lang="en-GB" altLang="en-US" dirty="0">
                <a:latin typeface="Times New Roman" panose="02020603050405020304" pitchFamily="18" charset="0"/>
              </a:rPr>
              <a:t>- User Mode: Restricted, secure environment for running applications with limited access to system resources.</a:t>
            </a:r>
          </a:p>
          <a:p>
            <a:r>
              <a:rPr lang="en-GB" altLang="en-US" dirty="0">
                <a:latin typeface="Times New Roman" panose="02020603050405020304" pitchFamily="18" charset="0"/>
              </a:rPr>
              <a:t>- Kernel Mode: Privileged environment for the operating system's core functions, with full access to hardware and system resources.</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GB" altLang="en-US" dirty="0">
                <a:latin typeface="Times New Roman" panose="02020603050405020304" pitchFamily="18" charset="0"/>
              </a:rPr>
              <a:t> Mounting and Unmounting</a:t>
            </a:r>
          </a:p>
          <a:p>
            <a:endParaRPr lang="en-GB" altLang="en-US" dirty="0">
              <a:latin typeface="Times New Roman" panose="02020603050405020304" pitchFamily="18" charset="0"/>
            </a:endParaRPr>
          </a:p>
          <a:p>
            <a:r>
              <a:rPr lang="en-GB" altLang="en-US" dirty="0">
                <a:latin typeface="Times New Roman" panose="02020603050405020304" pitchFamily="18" charset="0"/>
              </a:rPr>
              <a:t>Mounting and unmounting are fundamental operations in file system management that allow an operating system to access and organize data on different storage devices.</a:t>
            </a:r>
          </a:p>
          <a:p>
            <a:endParaRPr lang="en-GB" altLang="en-US" dirty="0">
              <a:latin typeface="Times New Roman" panose="02020603050405020304" pitchFamily="18" charset="0"/>
            </a:endParaRPr>
          </a:p>
          <a:p>
            <a:r>
              <a:rPr lang="en-GB" altLang="en-US" dirty="0">
                <a:latin typeface="Times New Roman" panose="02020603050405020304" pitchFamily="18" charset="0"/>
              </a:rPr>
              <a:t> Mounting</a:t>
            </a:r>
          </a:p>
          <a:p>
            <a:endParaRPr lang="en-GB" altLang="en-US" dirty="0">
              <a:latin typeface="Times New Roman" panose="02020603050405020304" pitchFamily="18" charset="0"/>
            </a:endParaRPr>
          </a:p>
          <a:p>
            <a:r>
              <a:rPr lang="en-GB" altLang="en-US" dirty="0">
                <a:latin typeface="Times New Roman" panose="02020603050405020304" pitchFamily="18" charset="0"/>
              </a:rPr>
              <a:t>Mounting is the process of making a file system accessible to the operating system and the user. This involves integrating the file system from a storage device (like a hard drive, USB drive, or network storage) into the existing directory structure of the operating system.</a:t>
            </a:r>
          </a:p>
          <a:p>
            <a:endParaRPr lang="en-GB" altLang="en-US" dirty="0">
              <a:latin typeface="Times New Roman" panose="02020603050405020304" pitchFamily="18" charset="0"/>
            </a:endParaRPr>
          </a:p>
          <a:p>
            <a:r>
              <a:rPr lang="en-GB" altLang="en-US" dirty="0">
                <a:latin typeface="Times New Roman" panose="02020603050405020304" pitchFamily="18" charset="0"/>
              </a:rPr>
              <a:t># Steps in Mounting:</a:t>
            </a:r>
          </a:p>
          <a:p>
            <a:endParaRPr lang="en-GB" altLang="en-US" dirty="0">
              <a:latin typeface="Times New Roman" panose="02020603050405020304" pitchFamily="18" charset="0"/>
            </a:endParaRPr>
          </a:p>
          <a:p>
            <a:r>
              <a:rPr lang="en-GB" altLang="en-US" dirty="0">
                <a:latin typeface="Times New Roman" panose="02020603050405020304" pitchFamily="18" charset="0"/>
              </a:rPr>
              <a:t>1. Identify the Device: The operating system identifies the storage device to be mounted, often specified by a device file (e.g., `/dev/sda1` in Linux).</a:t>
            </a:r>
          </a:p>
          <a:p>
            <a:endParaRPr lang="en-GB" altLang="en-US" dirty="0">
              <a:latin typeface="Times New Roman" panose="02020603050405020304" pitchFamily="18" charset="0"/>
            </a:endParaRPr>
          </a:p>
          <a:p>
            <a:r>
              <a:rPr lang="en-GB" altLang="en-US" dirty="0">
                <a:latin typeface="Times New Roman" panose="02020603050405020304" pitchFamily="18" charset="0"/>
              </a:rPr>
              <a:t>2. Determine the Mount Point: The mount point is a directory in the existing file system where the new file system will be attached. This can be an empty directory like `/</a:t>
            </a:r>
            <a:r>
              <a:rPr lang="en-GB" altLang="en-US" dirty="0" err="1">
                <a:latin typeface="Times New Roman" panose="02020603050405020304" pitchFamily="18" charset="0"/>
              </a:rPr>
              <a:t>mnt</a:t>
            </a:r>
            <a:r>
              <a:rPr lang="en-GB" altLang="en-US" dirty="0">
                <a:latin typeface="Times New Roman" panose="02020603050405020304" pitchFamily="18" charset="0"/>
              </a:rPr>
              <a:t>`, `/media`, or any other designated location.</a:t>
            </a:r>
          </a:p>
          <a:p>
            <a:endParaRPr lang="en-GB" altLang="en-US" dirty="0">
              <a:latin typeface="Times New Roman" panose="02020603050405020304" pitchFamily="18" charset="0"/>
            </a:endParaRPr>
          </a:p>
          <a:p>
            <a:r>
              <a:rPr lang="en-GB" altLang="en-US" dirty="0">
                <a:latin typeface="Times New Roman" panose="02020603050405020304" pitchFamily="18" charset="0"/>
              </a:rPr>
              <a:t>3. Execute the Mount Command: The operating system executes a mount command to attach the file system. For example, in Linux, the command might be `mount /dev/sda1 /</a:t>
            </a:r>
            <a:r>
              <a:rPr lang="en-GB" altLang="en-US" dirty="0" err="1">
                <a:latin typeface="Times New Roman" panose="02020603050405020304" pitchFamily="18" charset="0"/>
              </a:rPr>
              <a:t>mnt</a:t>
            </a:r>
            <a:r>
              <a:rPr lang="en-GB" altLang="en-US" dirty="0">
                <a:latin typeface="Times New Roman" panose="02020603050405020304" pitchFamily="18" charset="0"/>
              </a:rPr>
              <a:t>`.</a:t>
            </a:r>
          </a:p>
          <a:p>
            <a:endParaRPr lang="en-GB" altLang="en-US" dirty="0">
              <a:latin typeface="Times New Roman" panose="02020603050405020304" pitchFamily="18" charset="0"/>
            </a:endParaRPr>
          </a:p>
          <a:p>
            <a:r>
              <a:rPr lang="en-GB" altLang="en-US" dirty="0">
                <a:latin typeface="Times New Roman" panose="02020603050405020304" pitchFamily="18" charset="0"/>
              </a:rPr>
              <a:t>4. Update the File System Tree: The operating system updates its directory tree to include the newly mounted file system, making its contents accessible through the mount point.</a:t>
            </a:r>
          </a:p>
          <a:p>
            <a:endParaRPr lang="en-GB" altLang="en-US" dirty="0">
              <a:latin typeface="Times New Roman" panose="02020603050405020304" pitchFamily="18" charset="0"/>
            </a:endParaRPr>
          </a:p>
          <a:p>
            <a:r>
              <a:rPr lang="en-GB" altLang="en-US" dirty="0">
                <a:latin typeface="Times New Roman" panose="02020603050405020304" pitchFamily="18" charset="0"/>
              </a:rPr>
              <a:t># Examples of Mounting:</a:t>
            </a:r>
          </a:p>
          <a:p>
            <a:r>
              <a:rPr lang="en-GB" altLang="en-US" dirty="0">
                <a:latin typeface="Times New Roman" panose="02020603050405020304" pitchFamily="18" charset="0"/>
              </a:rPr>
              <a:t>- Mounting a USB drive to `/media/</a:t>
            </a:r>
            <a:r>
              <a:rPr lang="en-GB" altLang="en-US" dirty="0" err="1">
                <a:latin typeface="Times New Roman" panose="02020603050405020304" pitchFamily="18" charset="0"/>
              </a:rPr>
              <a:t>usb</a:t>
            </a:r>
            <a:r>
              <a:rPr lang="en-GB" altLang="en-US" dirty="0">
                <a:latin typeface="Times New Roman" panose="02020603050405020304" pitchFamily="18" charset="0"/>
              </a:rPr>
              <a:t>`.</a:t>
            </a:r>
          </a:p>
          <a:p>
            <a:r>
              <a:rPr lang="en-GB" altLang="en-US" dirty="0">
                <a:latin typeface="Times New Roman" panose="02020603050405020304" pitchFamily="18" charset="0"/>
              </a:rPr>
              <a:t>- Mounting a network file system (NFS) to `/</a:t>
            </a:r>
            <a:r>
              <a:rPr lang="en-GB" altLang="en-US" dirty="0" err="1">
                <a:latin typeface="Times New Roman" panose="02020603050405020304" pitchFamily="18" charset="0"/>
              </a:rPr>
              <a:t>mnt</a:t>
            </a:r>
            <a:r>
              <a:rPr lang="en-GB" altLang="en-US" dirty="0">
                <a:latin typeface="Times New Roman" panose="02020603050405020304" pitchFamily="18" charset="0"/>
              </a:rPr>
              <a:t>/network`.</a:t>
            </a:r>
          </a:p>
          <a:p>
            <a:endParaRPr lang="en-GB" altLang="en-US" dirty="0">
              <a:latin typeface="Times New Roman" panose="02020603050405020304" pitchFamily="18" charset="0"/>
            </a:endParaRPr>
          </a:p>
          <a:p>
            <a:r>
              <a:rPr lang="en-GB" altLang="en-US" dirty="0">
                <a:latin typeface="Times New Roman" panose="02020603050405020304" pitchFamily="18" charset="0"/>
              </a:rPr>
              <a:t> Unmounting</a:t>
            </a:r>
          </a:p>
          <a:p>
            <a:endParaRPr lang="en-GB" altLang="en-US" dirty="0">
              <a:latin typeface="Times New Roman" panose="02020603050405020304" pitchFamily="18" charset="0"/>
            </a:endParaRPr>
          </a:p>
          <a:p>
            <a:r>
              <a:rPr lang="en-GB" altLang="en-US" dirty="0">
                <a:latin typeface="Times New Roman" panose="02020603050405020304" pitchFamily="18" charset="0"/>
              </a:rPr>
              <a:t>Unmounting is the process of detaching a file system from the operating system's directory tree. This operation ensures that all pending operations are completed and the file system is safely disconnected, preventing data corruption or loss.</a:t>
            </a:r>
          </a:p>
          <a:p>
            <a:endParaRPr lang="en-GB" altLang="en-US" dirty="0">
              <a:latin typeface="Times New Roman" panose="02020603050405020304" pitchFamily="18" charset="0"/>
            </a:endParaRPr>
          </a:p>
          <a:p>
            <a:r>
              <a:rPr lang="en-GB" altLang="en-US" dirty="0">
                <a:latin typeface="Times New Roman" panose="02020603050405020304" pitchFamily="18" charset="0"/>
              </a:rPr>
              <a:t># Steps in Unmounting:</a:t>
            </a:r>
          </a:p>
          <a:p>
            <a:endParaRPr lang="en-GB" altLang="en-US" dirty="0">
              <a:latin typeface="Times New Roman" panose="02020603050405020304" pitchFamily="18" charset="0"/>
            </a:endParaRPr>
          </a:p>
          <a:p>
            <a:r>
              <a:rPr lang="en-GB" altLang="en-US" dirty="0">
                <a:latin typeface="Times New Roman" panose="02020603050405020304" pitchFamily="18" charset="0"/>
              </a:rPr>
              <a:t>1. Ensure No Active Usage: Before unmounting, the operating system ensures that no processes are actively using the file system. This may involve closing open files and completing ongoing read/write operations.</a:t>
            </a:r>
          </a:p>
          <a:p>
            <a:endParaRPr lang="en-GB" altLang="en-US" dirty="0">
              <a:latin typeface="Times New Roman" panose="02020603050405020304" pitchFamily="18" charset="0"/>
            </a:endParaRPr>
          </a:p>
          <a:p>
            <a:r>
              <a:rPr lang="en-GB" altLang="en-US" dirty="0">
                <a:latin typeface="Times New Roman" panose="02020603050405020304" pitchFamily="18" charset="0"/>
              </a:rPr>
              <a:t>2. Execute the Unmount Command: The operating system executes an unmount command to detach the file system. In Linux, this is done using the `</a:t>
            </a:r>
            <a:r>
              <a:rPr lang="en-GB" altLang="en-US" dirty="0" err="1">
                <a:latin typeface="Times New Roman" panose="02020603050405020304" pitchFamily="18" charset="0"/>
              </a:rPr>
              <a:t>umount</a:t>
            </a:r>
            <a:r>
              <a:rPr lang="en-GB" altLang="en-US" dirty="0">
                <a:latin typeface="Times New Roman" panose="02020603050405020304" pitchFamily="18" charset="0"/>
              </a:rPr>
              <a:t>` command followed by the mount point or the device file (e.g., `</a:t>
            </a:r>
            <a:r>
              <a:rPr lang="en-GB" altLang="en-US" dirty="0" err="1">
                <a:latin typeface="Times New Roman" panose="02020603050405020304" pitchFamily="18" charset="0"/>
              </a:rPr>
              <a:t>umount</a:t>
            </a:r>
            <a:r>
              <a:rPr lang="en-GB" altLang="en-US" dirty="0">
                <a:latin typeface="Times New Roman" panose="02020603050405020304" pitchFamily="18" charset="0"/>
              </a:rPr>
              <a:t> /</a:t>
            </a:r>
            <a:r>
              <a:rPr lang="en-GB" altLang="en-US" dirty="0" err="1">
                <a:latin typeface="Times New Roman" panose="02020603050405020304" pitchFamily="18" charset="0"/>
              </a:rPr>
              <a:t>mnt</a:t>
            </a:r>
            <a:r>
              <a:rPr lang="en-GB" altLang="en-US" dirty="0">
                <a:latin typeface="Times New Roman" panose="02020603050405020304" pitchFamily="18" charset="0"/>
              </a:rPr>
              <a:t>` or `</a:t>
            </a:r>
            <a:r>
              <a:rPr lang="en-GB" altLang="en-US" dirty="0" err="1">
                <a:latin typeface="Times New Roman" panose="02020603050405020304" pitchFamily="18" charset="0"/>
              </a:rPr>
              <a:t>umount</a:t>
            </a:r>
            <a:r>
              <a:rPr lang="en-GB" altLang="en-US" dirty="0">
                <a:latin typeface="Times New Roman" panose="02020603050405020304" pitchFamily="18" charset="0"/>
              </a:rPr>
              <a:t> /dev/sda1`).</a:t>
            </a:r>
          </a:p>
          <a:p>
            <a:endParaRPr lang="en-GB" altLang="en-US" dirty="0">
              <a:latin typeface="Times New Roman" panose="02020603050405020304" pitchFamily="18" charset="0"/>
            </a:endParaRPr>
          </a:p>
          <a:p>
            <a:r>
              <a:rPr lang="en-GB" altLang="en-US" dirty="0">
                <a:latin typeface="Times New Roman" panose="02020603050405020304" pitchFamily="18" charset="0"/>
              </a:rPr>
              <a:t>3. Update the File System Tree: The operating system removes the file system from its directory tree, making it inaccessible from the mount point.</a:t>
            </a:r>
          </a:p>
          <a:p>
            <a:endParaRPr lang="en-GB" altLang="en-US" dirty="0">
              <a:latin typeface="Times New Roman" panose="02020603050405020304" pitchFamily="18" charset="0"/>
            </a:endParaRPr>
          </a:p>
          <a:p>
            <a:r>
              <a:rPr lang="en-GB" altLang="en-US" dirty="0">
                <a:latin typeface="Times New Roman" panose="02020603050405020304" pitchFamily="18" charset="0"/>
              </a:rPr>
              <a:t>4. Safe Removal: For removable devices, it is now safe to physically disconnect the device.</a:t>
            </a:r>
          </a:p>
          <a:p>
            <a:endParaRPr lang="en-GB" altLang="en-US" dirty="0">
              <a:latin typeface="Times New Roman" panose="02020603050405020304" pitchFamily="18" charset="0"/>
            </a:endParaRPr>
          </a:p>
          <a:p>
            <a:r>
              <a:rPr lang="en-GB" altLang="en-US" dirty="0">
                <a:latin typeface="Times New Roman" panose="02020603050405020304" pitchFamily="18" charset="0"/>
              </a:rPr>
              <a:t># Examples of Unmounting:</a:t>
            </a:r>
          </a:p>
          <a:p>
            <a:r>
              <a:rPr lang="en-GB" altLang="en-US" dirty="0">
                <a:latin typeface="Times New Roman" panose="02020603050405020304" pitchFamily="18" charset="0"/>
              </a:rPr>
              <a:t>- Unmounting a USB drive from `/media/</a:t>
            </a:r>
            <a:r>
              <a:rPr lang="en-GB" altLang="en-US" dirty="0" err="1">
                <a:latin typeface="Times New Roman" panose="02020603050405020304" pitchFamily="18" charset="0"/>
              </a:rPr>
              <a:t>usb</a:t>
            </a:r>
            <a:r>
              <a:rPr lang="en-GB" altLang="en-US" dirty="0">
                <a:latin typeface="Times New Roman" panose="02020603050405020304" pitchFamily="18" charset="0"/>
              </a:rPr>
              <a:t>` before removing it.</a:t>
            </a:r>
          </a:p>
          <a:p>
            <a:r>
              <a:rPr lang="en-GB" altLang="en-US" dirty="0">
                <a:latin typeface="Times New Roman" panose="02020603050405020304" pitchFamily="18" charset="0"/>
              </a:rPr>
              <a:t>- Unmounting a network file system from `/</a:t>
            </a:r>
            <a:r>
              <a:rPr lang="en-GB" altLang="en-US" dirty="0" err="1">
                <a:latin typeface="Times New Roman" panose="02020603050405020304" pitchFamily="18" charset="0"/>
              </a:rPr>
              <a:t>mnt</a:t>
            </a:r>
            <a:r>
              <a:rPr lang="en-GB" altLang="en-US" dirty="0">
                <a:latin typeface="Times New Roman" panose="02020603050405020304" pitchFamily="18" charset="0"/>
              </a:rPr>
              <a:t>/network` before shutting down the network connection.</a:t>
            </a:r>
          </a:p>
          <a:p>
            <a:endParaRPr lang="en-GB" altLang="en-US" dirty="0">
              <a:latin typeface="Times New Roman" panose="02020603050405020304" pitchFamily="18" charset="0"/>
            </a:endParaRPr>
          </a:p>
          <a:p>
            <a:r>
              <a:rPr lang="en-GB" altLang="en-US" dirty="0">
                <a:latin typeface="Times New Roman" panose="02020603050405020304" pitchFamily="18" charset="0"/>
              </a:rPr>
              <a:t> Importance of Mounting and Unmounting:</a:t>
            </a:r>
          </a:p>
          <a:p>
            <a:endParaRPr lang="en-GB" altLang="en-US" dirty="0">
              <a:latin typeface="Times New Roman" panose="02020603050405020304" pitchFamily="18" charset="0"/>
            </a:endParaRPr>
          </a:p>
          <a:p>
            <a:r>
              <a:rPr lang="en-GB" altLang="en-US" dirty="0">
                <a:latin typeface="Times New Roman" panose="02020603050405020304" pitchFamily="18" charset="0"/>
              </a:rPr>
              <a:t>- Data Accessibility: Mounting allows users and applications to access data on various storage devices as if they were part of the local file system.</a:t>
            </a:r>
          </a:p>
          <a:p>
            <a:r>
              <a:rPr lang="en-GB" altLang="en-US" dirty="0">
                <a:latin typeface="Times New Roman" panose="02020603050405020304" pitchFamily="18" charset="0"/>
              </a:rPr>
              <a:t>- Data Integrity: Proper unmounting ensures that all data operations are completed, reducing the risk of data corruption.</a:t>
            </a:r>
          </a:p>
          <a:p>
            <a:r>
              <a:rPr lang="en-GB" altLang="en-US" dirty="0">
                <a:latin typeface="Times New Roman" panose="02020603050405020304" pitchFamily="18" charset="0"/>
              </a:rPr>
              <a:t>- System Organization: Mounting different file systems at specific mount points helps in organizing data storage and retrieval.</a:t>
            </a:r>
          </a:p>
          <a:p>
            <a:endParaRPr lang="en-GB" altLang="en-US" dirty="0">
              <a:latin typeface="Times New Roman" panose="02020603050405020304" pitchFamily="18" charset="0"/>
            </a:endParaRPr>
          </a:p>
          <a:p>
            <a:r>
              <a:rPr lang="en-GB" altLang="en-US" dirty="0">
                <a:latin typeface="Times New Roman" panose="02020603050405020304" pitchFamily="18" charset="0"/>
              </a:rPr>
              <a:t> Commands:</a:t>
            </a:r>
          </a:p>
          <a:p>
            <a:endParaRPr lang="en-GB" altLang="en-US" dirty="0">
              <a:latin typeface="Times New Roman" panose="02020603050405020304" pitchFamily="18" charset="0"/>
            </a:endParaRPr>
          </a:p>
          <a:p>
            <a:r>
              <a:rPr lang="en-GB" altLang="en-US" dirty="0">
                <a:latin typeface="Times New Roman" panose="02020603050405020304" pitchFamily="18" charset="0"/>
              </a:rPr>
              <a:t>- Mounting (Linux):</a:t>
            </a:r>
          </a:p>
          <a:p>
            <a:r>
              <a:rPr lang="en-GB" altLang="en-US" dirty="0">
                <a:latin typeface="Times New Roman" panose="02020603050405020304" pitchFamily="18" charset="0"/>
              </a:rPr>
              <a:t>  ```bash</a:t>
            </a:r>
          </a:p>
          <a:p>
            <a:r>
              <a:rPr lang="en-GB" altLang="en-US" dirty="0">
                <a:latin typeface="Times New Roman" panose="02020603050405020304" pitchFamily="18" charset="0"/>
              </a:rPr>
              <a:t>  mount /dev/sda1 /</a:t>
            </a:r>
            <a:r>
              <a:rPr lang="en-GB" altLang="en-US" dirty="0" err="1">
                <a:latin typeface="Times New Roman" panose="02020603050405020304" pitchFamily="18" charset="0"/>
              </a:rPr>
              <a:t>mnt</a:t>
            </a:r>
            <a:endParaRPr lang="en-GB" altLang="en-US" dirty="0">
              <a:latin typeface="Times New Roman" panose="02020603050405020304" pitchFamily="18" charset="0"/>
            </a:endParaRPr>
          </a:p>
          <a:p>
            <a:r>
              <a:rPr lang="en-GB" altLang="en-US" dirty="0">
                <a:latin typeface="Times New Roman" panose="02020603050405020304" pitchFamily="18" charset="0"/>
              </a:rPr>
              <a:t>  ```</a:t>
            </a:r>
          </a:p>
          <a:p>
            <a:endParaRPr lang="en-GB" altLang="en-US" dirty="0">
              <a:latin typeface="Times New Roman" panose="02020603050405020304" pitchFamily="18" charset="0"/>
            </a:endParaRPr>
          </a:p>
          <a:p>
            <a:r>
              <a:rPr lang="en-GB" altLang="en-US" dirty="0">
                <a:latin typeface="Times New Roman" panose="02020603050405020304" pitchFamily="18" charset="0"/>
              </a:rPr>
              <a:t>- Unmounting (Linux):</a:t>
            </a:r>
          </a:p>
          <a:p>
            <a:r>
              <a:rPr lang="en-GB" altLang="en-US" dirty="0">
                <a:latin typeface="Times New Roman" panose="02020603050405020304" pitchFamily="18" charset="0"/>
              </a:rPr>
              <a:t>  ```bash</a:t>
            </a:r>
          </a:p>
          <a:p>
            <a:r>
              <a:rPr lang="en-GB" altLang="en-US" dirty="0">
                <a:latin typeface="Times New Roman" panose="02020603050405020304" pitchFamily="18" charset="0"/>
              </a:rPr>
              <a:t>  </a:t>
            </a:r>
            <a:r>
              <a:rPr lang="en-GB" altLang="en-US" dirty="0" err="1">
                <a:latin typeface="Times New Roman" panose="02020603050405020304" pitchFamily="18" charset="0"/>
              </a:rPr>
              <a:t>umount</a:t>
            </a:r>
            <a:r>
              <a:rPr lang="en-GB" altLang="en-US" dirty="0">
                <a:latin typeface="Times New Roman" panose="02020603050405020304" pitchFamily="18" charset="0"/>
              </a:rPr>
              <a:t> /</a:t>
            </a:r>
            <a:r>
              <a:rPr lang="en-GB" altLang="en-US" dirty="0" err="1">
                <a:latin typeface="Times New Roman" panose="02020603050405020304" pitchFamily="18" charset="0"/>
              </a:rPr>
              <a:t>mnt</a:t>
            </a:r>
            <a:endParaRPr lang="en-GB" altLang="en-US" dirty="0">
              <a:latin typeface="Times New Roman" panose="02020603050405020304" pitchFamily="18" charset="0"/>
            </a:endParaRPr>
          </a:p>
          <a:p>
            <a:r>
              <a:rPr lang="en-GB" altLang="en-US" dirty="0">
                <a:latin typeface="Times New Roman" panose="02020603050405020304" pitchFamily="18" charset="0"/>
              </a:rPr>
              <a:t>  ```</a:t>
            </a:r>
          </a:p>
          <a:p>
            <a:endParaRPr lang="en-GB" altLang="en-US" dirty="0">
              <a:latin typeface="Times New Roman" panose="02020603050405020304" pitchFamily="18" charset="0"/>
            </a:endParaRPr>
          </a:p>
          <a:p>
            <a:r>
              <a:rPr lang="en-GB" altLang="en-US" dirty="0">
                <a:latin typeface="Times New Roman" panose="02020603050405020304" pitchFamily="18" charset="0"/>
              </a:rPr>
              <a:t>- Mounting (Windows):</a:t>
            </a:r>
          </a:p>
          <a:p>
            <a:r>
              <a:rPr lang="en-GB" altLang="en-US" dirty="0">
                <a:latin typeface="Times New Roman" panose="02020603050405020304" pitchFamily="18" charset="0"/>
              </a:rPr>
              <a:t>  - Use the Disk Management tool to assign a drive letter or mount a drive as a folder.</a:t>
            </a:r>
          </a:p>
          <a:p>
            <a:r>
              <a:rPr lang="en-GB" altLang="en-US" dirty="0">
                <a:latin typeface="Times New Roman" panose="02020603050405020304" pitchFamily="18" charset="0"/>
              </a:rPr>
              <a:t>  - Command line example using `</a:t>
            </a:r>
            <a:r>
              <a:rPr lang="en-GB" altLang="en-US" dirty="0" err="1">
                <a:latin typeface="Times New Roman" panose="02020603050405020304" pitchFamily="18" charset="0"/>
              </a:rPr>
              <a:t>mountvol</a:t>
            </a:r>
            <a:r>
              <a:rPr lang="en-GB" altLang="en-US" dirty="0">
                <a:latin typeface="Times New Roman" panose="02020603050405020304" pitchFamily="18" charset="0"/>
              </a:rPr>
              <a:t>`:</a:t>
            </a:r>
          </a:p>
          <a:p>
            <a:r>
              <a:rPr lang="en-GB" altLang="en-US" dirty="0">
                <a:latin typeface="Times New Roman" panose="02020603050405020304" pitchFamily="18" charset="0"/>
              </a:rPr>
              <a:t>    ```</a:t>
            </a:r>
            <a:r>
              <a:rPr lang="en-GB" altLang="en-US" dirty="0" err="1">
                <a:latin typeface="Times New Roman" panose="02020603050405020304" pitchFamily="18" charset="0"/>
              </a:rPr>
              <a:t>cmd</a:t>
            </a:r>
            <a:endParaRPr lang="en-GB" altLang="en-US" dirty="0">
              <a:latin typeface="Times New Roman" panose="02020603050405020304" pitchFamily="18" charset="0"/>
            </a:endParaRPr>
          </a:p>
          <a:p>
            <a:r>
              <a:rPr lang="en-GB" altLang="en-US" dirty="0">
                <a:latin typeface="Times New Roman" panose="02020603050405020304" pitchFamily="18" charset="0"/>
              </a:rPr>
              <a:t>    </a:t>
            </a:r>
            <a:r>
              <a:rPr lang="en-GB" altLang="en-US" dirty="0" err="1">
                <a:latin typeface="Times New Roman" panose="02020603050405020304" pitchFamily="18" charset="0"/>
              </a:rPr>
              <a:t>mountvol</a:t>
            </a:r>
            <a:r>
              <a:rPr lang="en-GB" altLang="en-US" dirty="0">
                <a:latin typeface="Times New Roman" panose="02020603050405020304" pitchFamily="18" charset="0"/>
              </a:rPr>
              <a:t> X: /s</a:t>
            </a:r>
          </a:p>
          <a:p>
            <a:r>
              <a:rPr lang="en-GB" altLang="en-US" dirty="0">
                <a:latin typeface="Times New Roman" panose="02020603050405020304" pitchFamily="18" charset="0"/>
              </a:rPr>
              <a:t>    ```</a:t>
            </a:r>
          </a:p>
          <a:p>
            <a:endParaRPr lang="en-GB" altLang="en-US" dirty="0">
              <a:latin typeface="Times New Roman" panose="02020603050405020304" pitchFamily="18" charset="0"/>
            </a:endParaRPr>
          </a:p>
          <a:p>
            <a:r>
              <a:rPr lang="en-GB" altLang="en-US" dirty="0">
                <a:latin typeface="Times New Roman" panose="02020603050405020304" pitchFamily="18" charset="0"/>
              </a:rPr>
              <a:t>- Unmounting (Windows):</a:t>
            </a:r>
          </a:p>
          <a:p>
            <a:r>
              <a:rPr lang="en-GB" altLang="en-US" dirty="0">
                <a:latin typeface="Times New Roman" panose="02020603050405020304" pitchFamily="18" charset="0"/>
              </a:rPr>
              <a:t>  - Use the Disk Management tool to remove a drive letter or unmount a drive.</a:t>
            </a:r>
          </a:p>
          <a:p>
            <a:r>
              <a:rPr lang="en-GB" altLang="en-US" dirty="0">
                <a:latin typeface="Times New Roman" panose="02020603050405020304" pitchFamily="18" charset="0"/>
              </a:rPr>
              <a:t>  - Command line example using `</a:t>
            </a:r>
            <a:r>
              <a:rPr lang="en-GB" altLang="en-US" dirty="0" err="1">
                <a:latin typeface="Times New Roman" panose="02020603050405020304" pitchFamily="18" charset="0"/>
              </a:rPr>
              <a:t>mountvol</a:t>
            </a:r>
            <a:r>
              <a:rPr lang="en-GB" altLang="en-US" dirty="0">
                <a:latin typeface="Times New Roman" panose="02020603050405020304" pitchFamily="18" charset="0"/>
              </a:rPr>
              <a:t>`:</a:t>
            </a:r>
          </a:p>
          <a:p>
            <a:r>
              <a:rPr lang="en-GB" altLang="en-US" dirty="0">
                <a:latin typeface="Times New Roman" panose="02020603050405020304" pitchFamily="18" charset="0"/>
              </a:rPr>
              <a:t>    ```</a:t>
            </a:r>
            <a:r>
              <a:rPr lang="en-GB" altLang="en-US" dirty="0" err="1">
                <a:latin typeface="Times New Roman" panose="02020603050405020304" pitchFamily="18" charset="0"/>
              </a:rPr>
              <a:t>cmd</a:t>
            </a:r>
            <a:endParaRPr lang="en-GB" altLang="en-US" dirty="0">
              <a:latin typeface="Times New Roman" panose="02020603050405020304" pitchFamily="18" charset="0"/>
            </a:endParaRPr>
          </a:p>
          <a:p>
            <a:r>
              <a:rPr lang="en-GB" altLang="en-US" dirty="0">
                <a:latin typeface="Times New Roman" panose="02020603050405020304" pitchFamily="18" charset="0"/>
              </a:rPr>
              <a:t>    </a:t>
            </a:r>
            <a:r>
              <a:rPr lang="en-GB" altLang="en-US" dirty="0" err="1">
                <a:latin typeface="Times New Roman" panose="02020603050405020304" pitchFamily="18" charset="0"/>
              </a:rPr>
              <a:t>mountvol</a:t>
            </a:r>
            <a:r>
              <a:rPr lang="en-GB" altLang="en-US" dirty="0">
                <a:latin typeface="Times New Roman" panose="02020603050405020304" pitchFamily="18" charset="0"/>
              </a:rPr>
              <a:t> X: /d</a:t>
            </a:r>
          </a:p>
          <a:p>
            <a:r>
              <a:rPr lang="en-GB" altLang="en-US" dirty="0">
                <a:latin typeface="Times New Roman" panose="02020603050405020304" pitchFamily="18" charset="0"/>
              </a:rPr>
              <a:t>    ```</a:t>
            </a:r>
          </a:p>
          <a:p>
            <a:endParaRPr lang="en-GB" altLang="en-US" dirty="0">
              <a:latin typeface="Times New Roman" panose="02020603050405020304" pitchFamily="18" charset="0"/>
            </a:endParaRPr>
          </a:p>
          <a:p>
            <a:r>
              <a:rPr lang="en-GB" altLang="en-US" dirty="0">
                <a:latin typeface="Times New Roman" panose="02020603050405020304" pitchFamily="18" charset="0"/>
              </a:rPr>
              <a:t>In summary, mounting and unmounting are critical processes that enable the operating system to manage and access different file systems and storage devices efficiently and safely.</a:t>
            </a:r>
            <a:endParaRPr lang="en-US" altLang="en-US" dirty="0">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1117600" y="696913"/>
            <a:ext cx="46482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r>
              <a:rPr lang="en-US" b="1" dirty="0"/>
              <a:t>CMOS</a:t>
            </a:r>
            <a:r>
              <a:rPr lang="en-US" dirty="0"/>
              <a:t> → “Complementary Metal-Oxide-Semiconductor”: the dominant transistor technology for building integrated circuits, prized for low power consumption.</a:t>
            </a:r>
          </a:p>
          <a:p>
            <a:r>
              <a:rPr lang="en-US" b="1"/>
              <a:t>SRAM</a:t>
            </a:r>
            <a:r>
              <a:rPr lang="en-US"/>
              <a:t> → “Static Random Access Memory”: a type of volatile memory that keeps data as long as power is supplied, without needing refresh (unlike DRAM).</a:t>
            </a:r>
          </a:p>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1117600" y="696913"/>
            <a:ext cx="46482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154277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0CF294F-1963-42C7-A1B8-DE28A28FD0D5}"/>
              </a:ext>
            </a:extLst>
          </p:cNvPr>
          <p:cNvSpPr>
            <a:spLocks noGrp="1" noRot="1" noChangeAspect="1" noChangeArrowheads="1" noTextEdit="1"/>
          </p:cNvSpPr>
          <p:nvPr>
            <p:ph type="sldImg"/>
          </p:nvPr>
        </p:nvSpPr>
        <p:spPr>
          <a:xfrm>
            <a:off x="1117600" y="696913"/>
            <a:ext cx="4648200" cy="3486150"/>
          </a:xfrm>
          <a:ln/>
        </p:spPr>
      </p:sp>
      <p:sp>
        <p:nvSpPr>
          <p:cNvPr id="51203" name="Rectangle 3">
            <a:extLst>
              <a:ext uri="{FF2B5EF4-FFF2-40B4-BE49-F238E27FC236}">
                <a16:creationId xmlns:a16="http://schemas.microsoft.com/office/drawing/2014/main" id="{9B743749-804F-4046-95C8-7448913085B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456474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793471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17CA9BD9-E623-4E66-A683-125891C2F87F}"/>
              </a:ext>
            </a:extLst>
          </p:cNvPr>
          <p:cNvSpPr>
            <a:spLocks noGrp="1" noRot="1" noChangeAspect="1" noChangeArrowheads="1" noTextEdit="1"/>
          </p:cNvSpPr>
          <p:nvPr>
            <p:ph type="sldImg"/>
          </p:nvPr>
        </p:nvSpPr>
        <p:spPr>
          <a:xfrm>
            <a:off x="1117600" y="696913"/>
            <a:ext cx="4648200" cy="3486150"/>
          </a:xfrm>
          <a:ln/>
        </p:spPr>
      </p:sp>
      <p:sp>
        <p:nvSpPr>
          <p:cNvPr id="114691" name="Rectangle 3">
            <a:extLst>
              <a:ext uri="{FF2B5EF4-FFF2-40B4-BE49-F238E27FC236}">
                <a16:creationId xmlns:a16="http://schemas.microsoft.com/office/drawing/2014/main" id="{2849FF62-7A4B-455B-B716-C39D5DEA566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00">
              <a:defRPr sz="1600">
                <a:solidFill>
                  <a:schemeClr val="tx1"/>
                </a:solidFill>
                <a:latin typeface="Helvetica" panose="020B0604020202020204" pitchFamily="34" charset="0"/>
                <a:ea typeface="ＭＳ Ｐゴシック" panose="020B0600070205080204" pitchFamily="34" charset="-128"/>
              </a:defRPr>
            </a:lvl1pPr>
            <a:lvl2pPr marL="742950" indent="-285750" defTabSz="927100">
              <a:defRPr sz="1600">
                <a:solidFill>
                  <a:schemeClr val="tx1"/>
                </a:solidFill>
                <a:latin typeface="Helvetica" panose="020B0604020202020204" pitchFamily="34" charset="0"/>
                <a:ea typeface="ＭＳ Ｐゴシック" panose="020B0600070205080204" pitchFamily="34" charset="-128"/>
              </a:defRPr>
            </a:lvl2pPr>
            <a:lvl3pPr marL="1143000" indent="-228600" defTabSz="927100">
              <a:defRPr sz="1600">
                <a:solidFill>
                  <a:schemeClr val="tx1"/>
                </a:solidFill>
                <a:latin typeface="Helvetica" panose="020B0604020202020204" pitchFamily="34" charset="0"/>
                <a:ea typeface="ＭＳ Ｐゴシック" panose="020B0600070205080204" pitchFamily="34" charset="-128"/>
              </a:defRPr>
            </a:lvl3pPr>
            <a:lvl4pPr marL="1600200" indent="-228600" defTabSz="927100">
              <a:defRPr sz="1600">
                <a:solidFill>
                  <a:schemeClr val="tx1"/>
                </a:solidFill>
                <a:latin typeface="Helvetica" panose="020B0604020202020204" pitchFamily="34" charset="0"/>
                <a:ea typeface="ＭＳ Ｐゴシック" panose="020B0600070205080204" pitchFamily="34" charset="-128"/>
              </a:defRPr>
            </a:lvl4pPr>
            <a:lvl5pPr marL="2057400" indent="-228600" defTabSz="927100">
              <a:defRPr sz="1600">
                <a:solidFill>
                  <a:schemeClr val="tx1"/>
                </a:solidFill>
                <a:latin typeface="Helvetica" panose="020B0604020202020204" pitchFamily="34" charset="0"/>
                <a:ea typeface="ＭＳ Ｐゴシック" panose="020B0600070205080204" pitchFamily="34" charset="-128"/>
              </a:defRPr>
            </a:lvl5pPr>
            <a:lvl6pPr marL="25146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defTabSz="9271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fld id="{343EEFE5-6DA2-40BF-A0EC-25CFBBE7FBB4}" type="slidenum">
              <a:rPr lang="en-US" altLang="en-US" sz="1200"/>
              <a:pPr/>
              <a:t>70</a:t>
            </a:fld>
            <a:endParaRPr lang="en-US" altLang="en-US" sz="1200"/>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31414" y="4410392"/>
            <a:ext cx="5134874" cy="41757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130014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74</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191599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7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900238"/>
            <a:ext cx="8458200" cy="1143000"/>
          </a:xfrm>
          <a:noFill/>
        </p:spPr>
        <p:txBody>
          <a:bodyPr/>
          <a:lstStyle/>
          <a:p>
            <a:pPr eaLnBrk="1" hangingPunct="1"/>
            <a:r>
              <a:rPr lang="en-US" altLang="en-US"/>
              <a:t>Chapter 1: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457200" y="203200"/>
            <a:ext cx="8034338" cy="576263"/>
          </a:xfrm>
        </p:spPr>
        <p:txBody>
          <a:bodyPr/>
          <a:lstStyle/>
          <a:p>
            <a:pPr eaLnBrk="1" hangingPunct="1"/>
            <a:r>
              <a:rPr lang="en-US" altLang="en-US"/>
              <a:t>Chapter 1: 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p:txBody>
          <a:bodyPr/>
          <a:lstStyle/>
          <a:p>
            <a:r>
              <a:rPr lang="en-US" altLang="en-US" dirty="0"/>
              <a:t>What Operating Systems Do</a:t>
            </a:r>
          </a:p>
          <a:p>
            <a:r>
              <a:rPr lang="en-US" altLang="en-US" dirty="0"/>
              <a:t>Computer-System Organization</a:t>
            </a:r>
          </a:p>
          <a:p>
            <a:r>
              <a:rPr lang="en-US" altLang="en-US" dirty="0"/>
              <a:t>Computer-System Architecture</a:t>
            </a:r>
          </a:p>
          <a:p>
            <a:r>
              <a:rPr lang="en-US" altLang="en-US" dirty="0"/>
              <a:t>Operating-System Operations</a:t>
            </a:r>
          </a:p>
          <a:p>
            <a:r>
              <a:rPr lang="en-US" altLang="en-US" dirty="0"/>
              <a:t>Resource Management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457200" y="166688"/>
            <a:ext cx="8015288" cy="617537"/>
          </a:xfrm>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dirty="0"/>
              <a:t>Describe the general organization of a computer system and the role of interrupts</a:t>
            </a:r>
          </a:p>
          <a:p>
            <a:r>
              <a:rPr lang="en-US" altLang="en-US" dirty="0"/>
              <a:t>Describe the components in a modern, multiprocessor computer system</a:t>
            </a:r>
          </a:p>
          <a:p>
            <a:r>
              <a:rPr lang="en-US" altLang="en-US" dirty="0"/>
              <a:t>Illustrate the transition from user mode to </a:t>
            </a:r>
            <a:r>
              <a:rPr lang="en-US" altLang="en-US"/>
              <a:t>kernel mode</a:t>
            </a: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1251856" y="123144"/>
            <a:ext cx="8015288" cy="617537"/>
          </a:xfrm>
        </p:spPr>
        <p:txBody>
          <a:bodyPr/>
          <a:lstStyle/>
          <a:p>
            <a:pPr eaLnBrk="1" hangingPunct="1"/>
            <a:r>
              <a:rPr lang="en-US" altLang="en-US" sz="2600" dirty="0"/>
              <a:t>What Does the Term Operating System Mean?</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dirty="0"/>
              <a:t>An operating system is “fill in the blanks”</a:t>
            </a:r>
          </a:p>
          <a:p>
            <a:r>
              <a:rPr lang="en-US" altLang="en-US" dirty="0"/>
              <a:t>What about:</a:t>
            </a:r>
          </a:p>
          <a:p>
            <a:pPr lvl="1"/>
            <a:r>
              <a:rPr lang="en-US" altLang="en-US" dirty="0"/>
              <a:t>Car </a:t>
            </a:r>
          </a:p>
          <a:p>
            <a:pPr lvl="1"/>
            <a:r>
              <a:rPr lang="en-US" altLang="en-US" dirty="0"/>
              <a:t>Airplane</a:t>
            </a:r>
          </a:p>
          <a:p>
            <a:pPr lvl="1"/>
            <a:r>
              <a:rPr lang="en-US" altLang="en-US" dirty="0"/>
              <a:t>Printer</a:t>
            </a:r>
          </a:p>
          <a:p>
            <a:pPr lvl="1"/>
            <a:r>
              <a:rPr lang="en-US" altLang="en-US" dirty="0"/>
              <a:t>Washing Machine</a:t>
            </a:r>
          </a:p>
          <a:p>
            <a:pPr lvl="1"/>
            <a:r>
              <a:rPr lang="en-US" altLang="en-US" dirty="0"/>
              <a:t>Toaster</a:t>
            </a:r>
          </a:p>
          <a:p>
            <a:pPr lvl="1"/>
            <a:r>
              <a:rPr lang="en-US" altLang="en-US" dirty="0"/>
              <a:t>Compiler</a:t>
            </a:r>
          </a:p>
          <a:p>
            <a:pPr lvl="1"/>
            <a:r>
              <a:rPr lang="en-US" altLang="en-US" dirty="0"/>
              <a:t>Etc.</a:t>
            </a:r>
          </a:p>
        </p:txBody>
      </p:sp>
    </p:spTree>
    <p:extLst>
      <p:ext uri="{BB962C8B-B14F-4D97-AF65-F5344CB8AC3E}">
        <p14:creationId xmlns:p14="http://schemas.microsoft.com/office/powerpoint/2010/main" val="132303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963613" y="198438"/>
            <a:ext cx="7723187" cy="576262"/>
          </a:xfrm>
        </p:spPr>
        <p:txBody>
          <a:bodyPr/>
          <a:lstStyle/>
          <a:p>
            <a:pPr eaLnBrk="1" hangingPunct="1"/>
            <a:r>
              <a:rPr lang="en-US" altLang="en-US"/>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925513" y="1268413"/>
            <a:ext cx="7121525" cy="4159250"/>
          </a:xfrm>
        </p:spPr>
        <p:txBody>
          <a:bodyPr/>
          <a:lstStyle/>
          <a:p>
            <a:r>
              <a:rPr lang="en-US" altLang="en-US"/>
              <a:t>A program that acts as an intermediary between a user of a computer and the computer hardware</a:t>
            </a:r>
          </a:p>
          <a:p>
            <a:r>
              <a:rPr lang="en-US" altLang="en-US"/>
              <a:t>Operating system goals:</a:t>
            </a:r>
          </a:p>
          <a:p>
            <a:pPr lvl="1"/>
            <a:r>
              <a:rPr lang="en-US" altLang="en-US"/>
              <a:t>Execute user programs and make solving user problems easier</a:t>
            </a:r>
          </a:p>
          <a:p>
            <a:pPr lvl="1"/>
            <a:r>
              <a:rPr lang="en-US" altLang="en-US"/>
              <a:t>Make the computer system convenient to use</a:t>
            </a:r>
          </a:p>
          <a:p>
            <a:pPr lvl="1"/>
            <a:r>
              <a:rPr lang="en-US" altLang="en-US"/>
              <a:t>Use the computer hardware in an efficient manner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1041400" y="201613"/>
            <a:ext cx="7532688" cy="576262"/>
          </a:xfrm>
        </p:spPr>
        <p:txBody>
          <a:bodyPr/>
          <a:lstStyle/>
          <a:p>
            <a:pPr eaLnBrk="1" hangingPunct="1"/>
            <a:r>
              <a:rPr lang="en-US" altLang="en-US"/>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801688" y="1204913"/>
            <a:ext cx="7772400" cy="4483100"/>
          </a:xfrm>
        </p:spPr>
        <p:txBody>
          <a:bodyPr/>
          <a:lstStyle/>
          <a:p>
            <a:r>
              <a:rPr lang="en-US" altLang="en-US"/>
              <a:t>Computer system can be divided into four components:</a:t>
            </a:r>
          </a:p>
          <a:p>
            <a:pPr lvl="1"/>
            <a:r>
              <a:rPr lang="en-US" altLang="en-US"/>
              <a:t>Hardware – provides basic computing resources</a:t>
            </a:r>
          </a:p>
          <a:p>
            <a:pPr lvl="2"/>
            <a:r>
              <a:rPr lang="en-US" altLang="en-US"/>
              <a:t>CPU, memory, I/O devices</a:t>
            </a:r>
          </a:p>
          <a:p>
            <a:pPr lvl="1"/>
            <a:r>
              <a:rPr lang="en-US" altLang="en-US"/>
              <a:t>Operating system</a:t>
            </a:r>
          </a:p>
          <a:p>
            <a:pPr lvl="2"/>
            <a:r>
              <a:rPr lang="en-US" altLang="en-US"/>
              <a:t>Controls and coordinates use of hardware among various applications and users</a:t>
            </a:r>
          </a:p>
          <a:p>
            <a:pPr lvl="1"/>
            <a:r>
              <a:rPr lang="en-US" altLang="en-US"/>
              <a:t>Application programs – define the ways in which the system resources are used to solve the computing problems of the users</a:t>
            </a:r>
          </a:p>
          <a:p>
            <a:pPr lvl="2"/>
            <a:r>
              <a:rPr lang="en-US" altLang="en-US"/>
              <a:t>Word processors, compilers, web browsers, database systems, video games</a:t>
            </a:r>
          </a:p>
          <a:p>
            <a:pPr lvl="1"/>
            <a:r>
              <a:rPr lang="en-US" altLang="en-US"/>
              <a:t>Users</a:t>
            </a:r>
          </a:p>
          <a:p>
            <a:pPr lvl="2"/>
            <a:r>
              <a:rPr lang="en-US" altLang="en-US"/>
              <a:t>People, machines, other computers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1041400" y="182563"/>
            <a:ext cx="7645400" cy="576262"/>
          </a:xfrm>
        </p:spPr>
        <p:txBody>
          <a:bodyPr/>
          <a:lstStyle/>
          <a:p>
            <a:pPr eaLnBrk="1" hangingPunct="1"/>
            <a:r>
              <a:rPr lang="en-US" altLang="en-US" sz="2800"/>
              <a:t>Abstract View of Components of Computer</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457200"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746125" y="1120775"/>
            <a:ext cx="7940675" cy="4530725"/>
          </a:xfrm>
        </p:spPr>
        <p:txBody>
          <a:bodyPr/>
          <a:lstStyle/>
          <a:p>
            <a:r>
              <a:rPr lang="en-US" altLang="en-US" dirty="0"/>
              <a:t>Depends on the point of view</a:t>
            </a:r>
          </a:p>
          <a:p>
            <a:r>
              <a:rPr lang="en-US" altLang="en-US" dirty="0"/>
              <a:t>Users want convenience, </a:t>
            </a:r>
            <a:r>
              <a:rPr lang="en-US" altLang="en-US" b="1" dirty="0">
                <a:solidFill>
                  <a:srgbClr val="006699"/>
                </a:solidFill>
                <a:latin typeface="+mj-lt"/>
              </a:rPr>
              <a:t>ease of use </a:t>
            </a:r>
            <a:r>
              <a:rPr lang="en-US" altLang="en-US" dirty="0"/>
              <a:t>and</a:t>
            </a:r>
            <a:r>
              <a:rPr lang="en-US" altLang="en-US" b="1" dirty="0">
                <a:solidFill>
                  <a:srgbClr val="3366FF"/>
                </a:solidFill>
              </a:rPr>
              <a:t> </a:t>
            </a:r>
            <a:r>
              <a:rPr lang="en-US" altLang="en-US" b="1" dirty="0">
                <a:solidFill>
                  <a:srgbClr val="006699"/>
                </a:solidFill>
                <a:latin typeface="+mj-lt"/>
              </a:rPr>
              <a:t>good performance </a:t>
            </a:r>
          </a:p>
          <a:p>
            <a:pPr lvl="1"/>
            <a:r>
              <a:rPr lang="en-US" altLang="en-US" dirty="0"/>
              <a:t>Don</a:t>
            </a:r>
            <a:r>
              <a:rPr lang="ja-JP" altLang="en-US" dirty="0"/>
              <a:t>’</a:t>
            </a:r>
            <a:r>
              <a:rPr lang="en-US" altLang="ja-JP" dirty="0"/>
              <a:t>t care about </a:t>
            </a:r>
            <a:r>
              <a:rPr lang="en-US" altLang="ja-JP" b="1" dirty="0">
                <a:solidFill>
                  <a:srgbClr val="006699"/>
                </a:solidFill>
                <a:latin typeface="+mj-lt"/>
              </a:rPr>
              <a:t>resource utilization</a:t>
            </a:r>
          </a:p>
          <a:p>
            <a:r>
              <a:rPr lang="en-US" altLang="en-US" dirty="0"/>
              <a:t>But shared computer such as </a:t>
            </a:r>
            <a:r>
              <a:rPr lang="en-US" altLang="en-US" b="1" dirty="0">
                <a:solidFill>
                  <a:srgbClr val="006699"/>
                </a:solidFill>
                <a:latin typeface="+mj-lt"/>
              </a:rPr>
              <a:t>mainframe</a:t>
            </a:r>
            <a:r>
              <a:rPr lang="en-US" altLang="en-US" dirty="0"/>
              <a:t> or </a:t>
            </a:r>
            <a:r>
              <a:rPr lang="en-US" altLang="en-US" b="1" dirty="0">
                <a:solidFill>
                  <a:srgbClr val="006699"/>
                </a:solidFill>
                <a:latin typeface="+mj-lt"/>
              </a:rPr>
              <a:t>minicomputer</a:t>
            </a:r>
            <a:r>
              <a:rPr lang="en-US" altLang="en-US" dirty="0"/>
              <a:t> must keep all users happy</a:t>
            </a:r>
          </a:p>
          <a:p>
            <a:pPr lvl="1"/>
            <a:r>
              <a:rPr lang="en-US" altLang="en-US" dirty="0"/>
              <a:t>Operating system is a </a:t>
            </a:r>
            <a:r>
              <a:rPr lang="en-US" altLang="en-US" b="1" dirty="0">
                <a:solidFill>
                  <a:srgbClr val="006699"/>
                </a:solidFill>
                <a:latin typeface="+mj-lt"/>
              </a:rPr>
              <a:t>resource allocator </a:t>
            </a:r>
            <a:r>
              <a:rPr lang="en-US" altLang="en-US" dirty="0"/>
              <a:t>and </a:t>
            </a:r>
            <a:r>
              <a:rPr lang="en-US" altLang="en-US" b="1" dirty="0">
                <a:solidFill>
                  <a:srgbClr val="006699"/>
                </a:solidFill>
                <a:latin typeface="+mj-lt"/>
              </a:rPr>
              <a:t>control program </a:t>
            </a:r>
            <a:r>
              <a:rPr lang="en-US" altLang="en-US" dirty="0"/>
              <a:t>making efficient use of HW and managing execution of user programs</a:t>
            </a:r>
          </a:p>
          <a:p>
            <a:r>
              <a:rPr lang="en-US" altLang="en-US" dirty="0"/>
              <a:t>Users of dedicate systems such as </a:t>
            </a:r>
            <a:r>
              <a:rPr lang="en-US" altLang="en-US" b="1" dirty="0">
                <a:solidFill>
                  <a:srgbClr val="006699"/>
                </a:solidFill>
                <a:latin typeface="+mj-lt"/>
              </a:rPr>
              <a:t>workstations</a:t>
            </a:r>
            <a:r>
              <a:rPr lang="en-US" altLang="en-US" dirty="0"/>
              <a:t> have dedicated resources but frequently use shared resources from </a:t>
            </a:r>
            <a:r>
              <a:rPr lang="en-US" altLang="en-US" b="1" dirty="0">
                <a:solidFill>
                  <a:srgbClr val="006699"/>
                </a:solidFill>
                <a:latin typeface="+mj-lt"/>
              </a:rPr>
              <a:t>servers</a:t>
            </a:r>
          </a:p>
          <a:p>
            <a:r>
              <a:rPr lang="en-US" altLang="en-US" dirty="0">
                <a:solidFill>
                  <a:srgbClr val="000000"/>
                </a:solidFill>
              </a:rPr>
              <a:t>Mobile devices like smartphones and tablets are resource poor,  optimized for usability and battery life</a:t>
            </a:r>
          </a:p>
          <a:p>
            <a:pPr lvl="1"/>
            <a:r>
              <a:rPr lang="en-US" altLang="en-US" dirty="0">
                <a:solidFill>
                  <a:srgbClr val="000000"/>
                </a:solidFill>
              </a:rPr>
              <a:t>Mobile user interfaces such as touch screens, voice recognition</a:t>
            </a:r>
          </a:p>
          <a:p>
            <a:r>
              <a:rPr lang="en-US" altLang="en-US" dirty="0">
                <a:solidFill>
                  <a:srgbClr val="000000"/>
                </a:solidFill>
              </a:rPr>
              <a:t>Some computers have little or no user interface, such as embedded computers in devices and automobiles</a:t>
            </a:r>
          </a:p>
          <a:p>
            <a:pPr lvl="1"/>
            <a:r>
              <a:rPr lang="en-US" altLang="en-US" dirty="0">
                <a:solidFill>
                  <a:srgbClr val="000000"/>
                </a:solidFill>
              </a:rPr>
              <a:t>Run primarily without user intervention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1176338" y="195263"/>
            <a:ext cx="7342187" cy="576262"/>
          </a:xfrm>
        </p:spPr>
        <p:txBody>
          <a:bodyPr/>
          <a:lstStyle/>
          <a:p>
            <a:pPr eaLnBrk="1" hangingPunct="1"/>
            <a:r>
              <a:rPr lang="en-US" altLang="en-US"/>
              <a:t>Defining Operating Systems</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755650" y="1028700"/>
            <a:ext cx="7441293" cy="4196443"/>
          </a:xfrm>
        </p:spPr>
        <p:txBody>
          <a:bodyPr/>
          <a:lstStyle/>
          <a:p>
            <a:pPr>
              <a:buFont typeface="Monotype Sorts" pitchFamily="-84" charset="2"/>
              <a:buNone/>
            </a:pPr>
            <a:endParaRPr lang="en-US" altLang="en-US" dirty="0"/>
          </a:p>
          <a:p>
            <a:r>
              <a:rPr lang="en-US" altLang="en-US" dirty="0"/>
              <a:t>Term OS covers many roles</a:t>
            </a:r>
          </a:p>
          <a:p>
            <a:pPr lvl="1"/>
            <a:r>
              <a:rPr lang="en-US" altLang="en-US" dirty="0"/>
              <a:t>Because of myriad designs and uses of OSes</a:t>
            </a:r>
          </a:p>
          <a:p>
            <a:pPr lvl="1"/>
            <a:r>
              <a:rPr lang="en-US" altLang="en-US" dirty="0"/>
              <a:t>Present in toasters, ships, spacecraft, game machines, TVs and industrial control systems</a:t>
            </a:r>
          </a:p>
          <a:p>
            <a:pPr lvl="1"/>
            <a:r>
              <a:rPr lang="en-US" altLang="en-US" dirty="0"/>
              <a:t>Born when fixed use computers for military became more general purpose and needed resource management and program control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784225" y="1247775"/>
            <a:ext cx="7989661" cy="4728482"/>
          </a:xfrm>
        </p:spPr>
        <p:txBody>
          <a:bodyPr/>
          <a:lstStyle/>
          <a:p>
            <a:r>
              <a:rPr lang="en-US" altLang="en-US" dirty="0"/>
              <a:t>No universally accepted definition</a:t>
            </a:r>
          </a:p>
          <a:p>
            <a:r>
              <a:rPr lang="ja-JP" altLang="en-US" dirty="0"/>
              <a:t>“</a:t>
            </a:r>
            <a:r>
              <a:rPr lang="en-US" altLang="ja-JP" dirty="0"/>
              <a:t>Everything a vendor ships when you order an operating system</a:t>
            </a:r>
            <a:r>
              <a:rPr lang="ja-JP" altLang="en-US" dirty="0"/>
              <a:t>”</a:t>
            </a:r>
            <a:r>
              <a:rPr lang="en-US" altLang="ja-JP" dirty="0"/>
              <a:t> is a good approximation</a:t>
            </a:r>
          </a:p>
          <a:p>
            <a:pPr lvl="1"/>
            <a:r>
              <a:rPr lang="en-US" altLang="en-US" dirty="0"/>
              <a:t>But varies wildly</a:t>
            </a:r>
          </a:p>
          <a:p>
            <a:r>
              <a:rPr lang="ja-JP" altLang="en-US" dirty="0"/>
              <a:t>“</a:t>
            </a:r>
            <a:r>
              <a:rPr lang="en-US" altLang="ja-JP" dirty="0"/>
              <a:t>The one program running at all times on the computer</a:t>
            </a:r>
            <a:r>
              <a:rPr lang="ja-JP" altLang="en-US" dirty="0"/>
              <a:t>”</a:t>
            </a:r>
            <a:r>
              <a:rPr lang="en-US" altLang="ja-JP" dirty="0"/>
              <a:t> is the </a:t>
            </a:r>
            <a:r>
              <a:rPr lang="en-US" altLang="ja-JP" b="1" dirty="0">
                <a:solidFill>
                  <a:srgbClr val="006699"/>
                </a:solidFill>
                <a:latin typeface="+mj-lt"/>
              </a:rPr>
              <a:t>kernel, </a:t>
            </a:r>
            <a:r>
              <a:rPr lang="en-US" altLang="ja-JP" dirty="0"/>
              <a:t>part of the operating system</a:t>
            </a:r>
          </a:p>
          <a:p>
            <a:r>
              <a:rPr lang="en-US" altLang="ja-JP" dirty="0"/>
              <a:t>Everything else is either</a:t>
            </a:r>
          </a:p>
          <a:p>
            <a:pPr lvl="1"/>
            <a:r>
              <a:rPr lang="en-US" altLang="ja-JP" dirty="0"/>
              <a:t>A </a:t>
            </a:r>
            <a:r>
              <a:rPr lang="en-US" altLang="ja-JP" b="1" i="1" dirty="0">
                <a:solidFill>
                  <a:srgbClr val="006699"/>
                </a:solidFill>
                <a:latin typeface="+mj-lt"/>
              </a:rPr>
              <a:t>system program</a:t>
            </a:r>
            <a:r>
              <a:rPr lang="en-US" altLang="ja-JP" b="1" dirty="0">
                <a:solidFill>
                  <a:srgbClr val="3366FF"/>
                </a:solidFill>
              </a:rPr>
              <a:t> </a:t>
            </a:r>
            <a:r>
              <a:rPr lang="en-US" altLang="ja-JP" dirty="0"/>
              <a:t>(ships with the operating system, but not part of the kernel) , or</a:t>
            </a:r>
          </a:p>
          <a:p>
            <a:pPr lvl="1"/>
            <a:r>
              <a:rPr lang="en-US" altLang="ja-JP" dirty="0"/>
              <a:t>An </a:t>
            </a:r>
            <a:r>
              <a:rPr lang="en-US" altLang="ja-JP" b="1" i="1" dirty="0">
                <a:solidFill>
                  <a:srgbClr val="006699"/>
                </a:solidFill>
                <a:latin typeface="+mj-lt"/>
              </a:rPr>
              <a:t>application program</a:t>
            </a:r>
            <a:r>
              <a:rPr lang="en-US" altLang="ja-JP" dirty="0"/>
              <a:t>, all programs not associated with the operating system</a:t>
            </a:r>
          </a:p>
          <a:p>
            <a:r>
              <a:rPr lang="en-US" altLang="en-US" dirty="0"/>
              <a:t>Today’s OSes for general purpose and mobile computing also include </a:t>
            </a:r>
            <a:r>
              <a:rPr lang="en-US" altLang="en-US" b="1" i="1" dirty="0">
                <a:solidFill>
                  <a:srgbClr val="006699"/>
                </a:solidFill>
                <a:latin typeface="+mj-lt"/>
              </a:rPr>
              <a:t>middleware</a:t>
            </a:r>
            <a:r>
              <a:rPr lang="en-US" altLang="en-US" dirty="0"/>
              <a:t> – a set of software frameworks that provide additional services to application developers such as databases, multimedia, graphics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92100" y="2897302"/>
            <a:ext cx="8813800" cy="1063396"/>
          </a:xfrm>
        </p:spPr>
        <p:txBody>
          <a:bodyPr/>
          <a:lstStyle/>
          <a:p>
            <a:pPr marL="457200" lvl="1" indent="0">
              <a:buNone/>
            </a:pPr>
            <a:r>
              <a:rPr lang="en-US" altLang="en-US" sz="3200" b="1" dirty="0">
                <a:solidFill>
                  <a:srgbClr val="006699"/>
                </a:solidFill>
                <a:latin typeface="+mj-lt"/>
              </a:rPr>
              <a:t>Overview of Computer System Structure </a:t>
            </a:r>
          </a:p>
        </p:txBody>
      </p:sp>
    </p:spTree>
    <p:extLst>
      <p:ext uri="{BB962C8B-B14F-4D97-AF65-F5344CB8AC3E}">
        <p14:creationId xmlns:p14="http://schemas.microsoft.com/office/powerpoint/2010/main" val="818157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868363" y="214313"/>
            <a:ext cx="7639050" cy="576262"/>
          </a:xfrm>
        </p:spPr>
        <p:txBody>
          <a:bodyPr/>
          <a:lstStyle/>
          <a:p>
            <a:pPr eaLnBrk="1" hangingPunct="1"/>
            <a:r>
              <a:rPr lang="en-US" altLang="en-US"/>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74700" y="1233488"/>
            <a:ext cx="7639050" cy="4530725"/>
          </a:xfrm>
        </p:spPr>
        <p:txBody>
          <a:bodyPr/>
          <a:lstStyle/>
          <a:p>
            <a:r>
              <a:rPr lang="en-US" altLang="en-US" dirty="0"/>
              <a:t>Computer-system operation</a:t>
            </a:r>
          </a:p>
          <a:p>
            <a:pPr lvl="1"/>
            <a:r>
              <a:rPr lang="en-US" altLang="en-US" dirty="0"/>
              <a:t>One or more CPUs, device controllers connect through common </a:t>
            </a:r>
            <a:r>
              <a:rPr lang="en-US" altLang="en-US" b="1" dirty="0">
                <a:solidFill>
                  <a:srgbClr val="006699"/>
                </a:solidFill>
                <a:latin typeface="+mj-lt"/>
              </a:rPr>
              <a:t>bus</a:t>
            </a:r>
            <a:r>
              <a:rPr lang="en-US" altLang="en-US" dirty="0"/>
              <a:t> providing access to shared memory</a:t>
            </a:r>
          </a:p>
          <a:p>
            <a:pPr lvl="1"/>
            <a:r>
              <a:rPr lang="en-US" altLang="en-US" dirty="0"/>
              <a:t>Concurrent execution of CPUs and devices competing for memory cycles</a:t>
            </a:r>
          </a:p>
          <a:p>
            <a:pPr lvl="1"/>
            <a:endParaRPr lang="en-US" altLang="en-US" dirty="0"/>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088" y="3098800"/>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885825" y="220663"/>
            <a:ext cx="7605713" cy="576262"/>
          </a:xfrm>
        </p:spPr>
        <p:txBody>
          <a:bodyPr/>
          <a:lstStyle/>
          <a:p>
            <a:pPr eaLnBrk="1" hangingPunct="1"/>
            <a:r>
              <a:rPr lang="en-US" altLang="en-US"/>
              <a:t>Computer-System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806450" y="1233489"/>
            <a:ext cx="7390099" cy="4528334"/>
          </a:xfrm>
        </p:spPr>
        <p:txBody>
          <a:bodyPr/>
          <a:lstStyle/>
          <a:p>
            <a:r>
              <a:rPr lang="en-US" altLang="en-US" dirty="0"/>
              <a:t>I/O devices and the CPU can execute concurrently</a:t>
            </a:r>
            <a:endParaRPr lang="en-US" altLang="en-US" sz="800" dirty="0"/>
          </a:p>
          <a:p>
            <a:r>
              <a:rPr lang="en-US" altLang="en-US" dirty="0"/>
              <a:t>Each device controller is in charge of a particular device type</a:t>
            </a:r>
            <a:endParaRPr lang="en-US" altLang="en-US" sz="800" dirty="0"/>
          </a:p>
          <a:p>
            <a:r>
              <a:rPr lang="en-US" altLang="en-US" dirty="0"/>
              <a:t>Each device controller has a local buffer</a:t>
            </a:r>
          </a:p>
          <a:p>
            <a:r>
              <a:rPr lang="en-US" altLang="en-US" dirty="0"/>
              <a:t>Each device controller type has an operating system </a:t>
            </a:r>
            <a:r>
              <a:rPr lang="en-US" altLang="en-US" b="1" dirty="0">
                <a:solidFill>
                  <a:srgbClr val="006699"/>
                </a:solidFill>
                <a:latin typeface="+mj-lt"/>
              </a:rPr>
              <a:t>device driver</a:t>
            </a:r>
            <a:r>
              <a:rPr lang="en-US" altLang="en-US" dirty="0"/>
              <a:t> to manage it</a:t>
            </a:r>
            <a:endParaRPr lang="en-US" altLang="en-US" sz="800" dirty="0"/>
          </a:p>
          <a:p>
            <a:r>
              <a:rPr lang="en-US" altLang="en-US" dirty="0"/>
              <a:t>CPU moves data from/to main memory to/from local buffers</a:t>
            </a:r>
            <a:endParaRPr lang="en-US" altLang="en-US" sz="800" dirty="0"/>
          </a:p>
          <a:p>
            <a:r>
              <a:rPr lang="en-US" altLang="en-US" dirty="0"/>
              <a:t>I/O is from the device to local buffer of controller</a:t>
            </a:r>
            <a:endParaRPr lang="en-US" altLang="en-US" sz="800" dirty="0"/>
          </a:p>
          <a:p>
            <a:r>
              <a:rPr lang="en-US" altLang="en-US" dirty="0"/>
              <a:t>Device controller informs CPU that it has finished its operation by causing an </a:t>
            </a:r>
            <a:r>
              <a:rPr lang="en-US" altLang="en-US" b="1" dirty="0">
                <a:solidFill>
                  <a:srgbClr val="006699"/>
                </a:solidFill>
                <a:latin typeface="+mj-lt"/>
              </a:rPr>
              <a:t>interrupt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1A5330-A3BD-455B-BFA0-989239098C16}"/>
              </a:ext>
            </a:extLst>
          </p:cNvPr>
          <p:cNvSpPr>
            <a:spLocks noGrp="1" noChangeArrowheads="1"/>
          </p:cNvSpPr>
          <p:nvPr>
            <p:ph type="title" idx="4294967295"/>
          </p:nvPr>
        </p:nvSpPr>
        <p:spPr>
          <a:xfrm>
            <a:off x="946150" y="195263"/>
            <a:ext cx="7591425" cy="576262"/>
          </a:xfrm>
        </p:spPr>
        <p:txBody>
          <a:bodyPr/>
          <a:lstStyle/>
          <a:p>
            <a:pPr eaLnBrk="1" hangingPunct="1"/>
            <a:r>
              <a:rPr lang="en-US" altLang="en-US"/>
              <a:t>Common Functions of Interrupts</a:t>
            </a:r>
          </a:p>
        </p:txBody>
      </p:sp>
      <p:sp>
        <p:nvSpPr>
          <p:cNvPr id="24579" name="Rectangle 3">
            <a:extLst>
              <a:ext uri="{FF2B5EF4-FFF2-40B4-BE49-F238E27FC236}">
                <a16:creationId xmlns:a16="http://schemas.microsoft.com/office/drawing/2014/main" id="{0A1B0CF6-F08B-4A61-B0A6-715F5ED6B8EC}"/>
              </a:ext>
            </a:extLst>
          </p:cNvPr>
          <p:cNvSpPr>
            <a:spLocks noGrp="1" noChangeArrowheads="1"/>
          </p:cNvSpPr>
          <p:nvPr>
            <p:ph type="body" idx="4294967295"/>
          </p:nvPr>
        </p:nvSpPr>
        <p:spPr>
          <a:xfrm>
            <a:off x="806451" y="1233489"/>
            <a:ext cx="6993492" cy="4385114"/>
          </a:xfrm>
        </p:spPr>
        <p:txBody>
          <a:bodyPr/>
          <a:lstStyle/>
          <a:p>
            <a:r>
              <a:rPr lang="en-US" altLang="en-US" dirty="0"/>
              <a:t>Interrupt transfers control to the interrupt service routine generally, through the </a:t>
            </a:r>
            <a:r>
              <a:rPr lang="en-US" altLang="en-US" b="1" dirty="0">
                <a:solidFill>
                  <a:srgbClr val="006699"/>
                </a:solidFill>
                <a:latin typeface="+mj-lt"/>
              </a:rPr>
              <a:t>interrupt vector</a:t>
            </a:r>
            <a:r>
              <a:rPr lang="en-US" altLang="en-US" dirty="0"/>
              <a:t>, which contains the addresses of all the service routines</a:t>
            </a:r>
            <a:endParaRPr lang="en-US" altLang="en-US" sz="800" dirty="0"/>
          </a:p>
          <a:p>
            <a:r>
              <a:rPr lang="en-US" altLang="en-US" dirty="0"/>
              <a:t>Interrupt architecture must save the address of the interrupted instruction</a:t>
            </a:r>
            <a:endParaRPr lang="en-US" altLang="en-US" sz="800" i="1" dirty="0"/>
          </a:p>
          <a:p>
            <a:r>
              <a:rPr lang="en-US" altLang="en-US" dirty="0"/>
              <a:t>A </a:t>
            </a:r>
            <a:r>
              <a:rPr lang="en-US" altLang="en-US" b="1" dirty="0">
                <a:solidFill>
                  <a:srgbClr val="006699"/>
                </a:solidFill>
                <a:latin typeface="+mj-lt"/>
              </a:rPr>
              <a:t>trap</a:t>
            </a:r>
            <a:r>
              <a:rPr lang="en-US" altLang="en-US" dirty="0"/>
              <a:t> or </a:t>
            </a:r>
            <a:r>
              <a:rPr lang="en-US" altLang="en-US" b="1" dirty="0">
                <a:solidFill>
                  <a:srgbClr val="006699"/>
                </a:solidFill>
                <a:latin typeface="+mj-lt"/>
              </a:rPr>
              <a:t>exception </a:t>
            </a:r>
            <a:r>
              <a:rPr lang="en-US" altLang="en-US" dirty="0"/>
              <a:t>is a software-generated interrupt caused either by an error or a user request</a:t>
            </a:r>
            <a:endParaRPr lang="en-US" altLang="en-US" sz="800" dirty="0"/>
          </a:p>
          <a:p>
            <a:r>
              <a:rPr lang="en-US" altLang="en-US" dirty="0"/>
              <a:t>An operating system is </a:t>
            </a:r>
            <a:r>
              <a:rPr lang="en-US" altLang="en-US" b="1" dirty="0">
                <a:solidFill>
                  <a:srgbClr val="006699"/>
                </a:solidFill>
                <a:latin typeface="+mj-lt"/>
              </a:rPr>
              <a:t>interrupt driven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A8E0AFA-01CE-41D2-B83F-9F7243CE8C2D}"/>
              </a:ext>
            </a:extLst>
          </p:cNvPr>
          <p:cNvSpPr>
            <a:spLocks noGrp="1" noChangeArrowheads="1"/>
          </p:cNvSpPr>
          <p:nvPr>
            <p:ph type="title" idx="4294967295"/>
          </p:nvPr>
        </p:nvSpPr>
        <p:spPr>
          <a:xfrm>
            <a:off x="457200" y="195263"/>
            <a:ext cx="8051800" cy="576262"/>
          </a:xfrm>
        </p:spPr>
        <p:txBody>
          <a:bodyPr/>
          <a:lstStyle/>
          <a:p>
            <a:pPr eaLnBrk="1" hangingPunct="1"/>
            <a:r>
              <a:rPr lang="en-US" altLang="en-US"/>
              <a:t>Interrupt Timeline</a:t>
            </a:r>
          </a:p>
        </p:txBody>
      </p:sp>
      <p:pic>
        <p:nvPicPr>
          <p:cNvPr id="26627" name="Picture 2">
            <a:extLst>
              <a:ext uri="{FF2B5EF4-FFF2-40B4-BE49-F238E27FC236}">
                <a16:creationId xmlns:a16="http://schemas.microsoft.com/office/drawing/2014/main" id="{41B33145-E046-43DB-9C9B-4E671F3D1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908175"/>
            <a:ext cx="8355012"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1063625" y="-57150"/>
            <a:ext cx="7515225" cy="844550"/>
          </a:xfrm>
        </p:spPr>
        <p:txBody>
          <a:bodyPr/>
          <a:lstStyle/>
          <a:p>
            <a:pPr eaLnBrk="1" hangingPunct="1"/>
            <a:r>
              <a:rPr lang="en-US" altLang="en-US"/>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806450" y="1233489"/>
            <a:ext cx="6609234" cy="4192621"/>
          </a:xfrm>
        </p:spPr>
        <p:txBody>
          <a:bodyPr/>
          <a:lstStyle/>
          <a:p>
            <a:r>
              <a:rPr lang="en-US" altLang="en-US" dirty="0"/>
              <a:t>The operating system preserves the state of the CPU by storing the registers and the program counter</a:t>
            </a:r>
          </a:p>
          <a:p>
            <a:r>
              <a:rPr lang="en-US" altLang="en-US" dirty="0"/>
              <a:t>Determines which type of interrupt has occurred</a:t>
            </a:r>
          </a:p>
          <a:p>
            <a:r>
              <a:rPr lang="en-US" altLang="en-US" dirty="0"/>
              <a:t>Separate segments of code determine what action should be taken for each type of interrupt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378DBB6-3E76-4D5D-BCF4-7322E5DC03BF}"/>
              </a:ext>
            </a:extLst>
          </p:cNvPr>
          <p:cNvSpPr>
            <a:spLocks noGrp="1" noChangeArrowheads="1"/>
          </p:cNvSpPr>
          <p:nvPr>
            <p:ph type="title" idx="4294967295"/>
          </p:nvPr>
        </p:nvSpPr>
        <p:spPr>
          <a:xfrm>
            <a:off x="457200" y="214313"/>
            <a:ext cx="8116888" cy="576262"/>
          </a:xfrm>
        </p:spPr>
        <p:txBody>
          <a:bodyPr/>
          <a:lstStyle/>
          <a:p>
            <a:pPr eaLnBrk="1" hangingPunct="1"/>
            <a:r>
              <a:rPr lang="en-US" altLang="en-US"/>
              <a:t>Interrupt-drive I/O Cycle</a:t>
            </a: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738" y="1179513"/>
            <a:ext cx="5084762" cy="501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6618153" cy="4351969"/>
          </a:xfrm>
        </p:spPr>
        <p:txBody>
          <a:bodyPr/>
          <a:lstStyle/>
          <a:p>
            <a:pPr>
              <a:lnSpc>
                <a:spcPct val="90000"/>
              </a:lnSpc>
            </a:pPr>
            <a:r>
              <a:rPr lang="en-US" altLang="en-US" dirty="0"/>
              <a:t>Two methods for handling I/O</a:t>
            </a:r>
          </a:p>
          <a:p>
            <a:pPr lvl="1">
              <a:lnSpc>
                <a:spcPct val="90000"/>
              </a:lnSpc>
            </a:pPr>
            <a:r>
              <a:rPr lang="en-US" altLang="en-US" dirty="0"/>
              <a:t>After I/O starts, control returns to user program only upon I/O completion</a:t>
            </a:r>
          </a:p>
          <a:p>
            <a:pPr lvl="1">
              <a:lnSpc>
                <a:spcPct val="90000"/>
              </a:lnSpc>
            </a:pPr>
            <a:r>
              <a:rPr lang="en-US" altLang="en-US" dirty="0"/>
              <a:t>After I/O starts, control returns to user program without waiting for I/O completion</a:t>
            </a:r>
          </a:p>
        </p:txBody>
      </p:sp>
    </p:spTree>
    <p:extLst>
      <p:ext uri="{BB962C8B-B14F-4D97-AF65-F5344CB8AC3E}">
        <p14:creationId xmlns:p14="http://schemas.microsoft.com/office/powerpoint/2010/main" val="1570063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dirty="0"/>
              <a:t>I/O Structure </a:t>
            </a:r>
            <a:r>
              <a:rPr lang="en-US" altLang="en-US"/>
              <a:t>(Cont.)</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7202048" cy="4528239"/>
          </a:xfrm>
        </p:spPr>
        <p:txBody>
          <a:bodyPr/>
          <a:lstStyle/>
          <a:p>
            <a:pPr>
              <a:lnSpc>
                <a:spcPct val="90000"/>
              </a:lnSpc>
            </a:pPr>
            <a:r>
              <a:rPr lang="en-US" altLang="en-US" dirty="0"/>
              <a:t>After I/O starts, control returns to user program only upon I/O completion</a:t>
            </a:r>
          </a:p>
          <a:p>
            <a:pPr lvl="1">
              <a:lnSpc>
                <a:spcPct val="90000"/>
              </a:lnSpc>
            </a:pPr>
            <a:r>
              <a:rPr lang="en-US" altLang="en-US" dirty="0"/>
              <a:t>Wait instruction idles the CPU until the next interrupt</a:t>
            </a:r>
          </a:p>
          <a:p>
            <a:pPr lvl="1">
              <a:lnSpc>
                <a:spcPct val="90000"/>
              </a:lnSpc>
            </a:pPr>
            <a:r>
              <a:rPr lang="en-US" altLang="en-US" dirty="0"/>
              <a:t>Wait loop (contention for memory access)</a:t>
            </a:r>
          </a:p>
          <a:p>
            <a:pPr lvl="1">
              <a:lnSpc>
                <a:spcPct val="90000"/>
              </a:lnSpc>
            </a:pPr>
            <a:r>
              <a:rPr lang="en-US" altLang="en-US" dirty="0"/>
              <a:t>At most one I/O request is outstanding at a time, no simultaneous I/O processing</a:t>
            </a:r>
          </a:p>
          <a:p>
            <a:pPr>
              <a:lnSpc>
                <a:spcPct val="90000"/>
              </a:lnSpc>
            </a:pPr>
            <a:r>
              <a:rPr lang="en-US" altLang="en-US" dirty="0"/>
              <a:t>After I/O starts, control returns to user program without waiting for I/O completion</a:t>
            </a:r>
          </a:p>
          <a:p>
            <a:pPr lvl="1">
              <a:lnSpc>
                <a:spcPct val="90000"/>
              </a:lnSpc>
            </a:pPr>
            <a:r>
              <a:rPr lang="en-US" altLang="en-US" b="1" dirty="0">
                <a:solidFill>
                  <a:srgbClr val="006699"/>
                </a:solidFill>
                <a:latin typeface="+mj-lt"/>
              </a:rPr>
              <a:t>System call </a:t>
            </a:r>
            <a:r>
              <a:rPr lang="en-US" altLang="en-US" dirty="0"/>
              <a:t>– request to the OS to allow user to wait for I/O completion</a:t>
            </a:r>
          </a:p>
          <a:p>
            <a:pPr lvl="1">
              <a:lnSpc>
                <a:spcPct val="90000"/>
              </a:lnSpc>
            </a:pPr>
            <a:r>
              <a:rPr lang="en-US" altLang="en-US" b="1" dirty="0">
                <a:solidFill>
                  <a:srgbClr val="006699"/>
                </a:solidFill>
                <a:latin typeface="+mj-lt"/>
              </a:rPr>
              <a:t>Device-status table </a:t>
            </a:r>
            <a:r>
              <a:rPr lang="en-US" altLang="en-US" dirty="0"/>
              <a:t>contains entry for each I/O device indicating its type, address, and state</a:t>
            </a:r>
          </a:p>
          <a:p>
            <a:pPr lvl="1">
              <a:lnSpc>
                <a:spcPct val="90000"/>
              </a:lnSpc>
            </a:pPr>
            <a:r>
              <a:rPr lang="en-US" altLang="en-US" dirty="0"/>
              <a:t>OS indexes into I/O device table to determine device status and to modify table entry to include interrupt</a:t>
            </a:r>
          </a:p>
          <a:p>
            <a:pPr lvl="1">
              <a:lnSpc>
                <a:spcPct val="90000"/>
              </a:lnSpc>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457200" y="201613"/>
            <a:ext cx="8061325" cy="576262"/>
          </a:xfrm>
        </p:spPr>
        <p:txBody>
          <a:bodyPr/>
          <a:lstStyle/>
          <a:p>
            <a:pPr eaLnBrk="1" hangingPunct="1"/>
            <a:r>
              <a:rPr lang="en-US" altLang="en-US"/>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806451" y="1233489"/>
            <a:ext cx="6432550" cy="4416198"/>
          </a:xfrm>
        </p:spPr>
        <p:txBody>
          <a:bodyPr/>
          <a:lstStyle/>
          <a:p>
            <a:r>
              <a:rPr lang="en-US" altLang="en-US" b="1" dirty="0">
                <a:solidFill>
                  <a:srgbClr val="006699"/>
                </a:solidFill>
                <a:latin typeface="+mj-lt"/>
              </a:rPr>
              <a:t>Bootstrap program </a:t>
            </a:r>
            <a:r>
              <a:rPr lang="en-US" altLang="en-US" dirty="0"/>
              <a:t>is loaded at power-up or reboot</a:t>
            </a:r>
          </a:p>
          <a:p>
            <a:pPr lvl="1"/>
            <a:r>
              <a:rPr lang="en-US" altLang="en-US" dirty="0"/>
              <a:t>Typically stored in ROM or EPROM, generally known as </a:t>
            </a:r>
            <a:r>
              <a:rPr lang="en-US" altLang="en-US" b="1" dirty="0">
                <a:solidFill>
                  <a:srgbClr val="006699"/>
                </a:solidFill>
                <a:latin typeface="+mj-lt"/>
              </a:rPr>
              <a:t>firmware</a:t>
            </a:r>
          </a:p>
          <a:p>
            <a:pPr lvl="1"/>
            <a:r>
              <a:rPr lang="en-US" altLang="en-US" dirty="0"/>
              <a:t>Initializes all aspects of system</a:t>
            </a:r>
          </a:p>
          <a:p>
            <a:pPr lvl="1"/>
            <a:r>
              <a:rPr lang="en-US" altLang="en-US" dirty="0"/>
              <a:t>Loads operating system kernel and starts execution</a:t>
            </a:r>
          </a:p>
        </p:txBody>
      </p:sp>
    </p:spTree>
    <p:extLst>
      <p:ext uri="{BB962C8B-B14F-4D97-AF65-F5344CB8AC3E}">
        <p14:creationId xmlns:p14="http://schemas.microsoft.com/office/powerpoint/2010/main" val="289056828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144488" y="2888119"/>
            <a:ext cx="5116286" cy="1030738"/>
          </a:xfrm>
        </p:spPr>
        <p:txBody>
          <a:bodyPr/>
          <a:lstStyle/>
          <a:p>
            <a:pPr marL="457200" lvl="1" indent="0">
              <a:buNone/>
            </a:pPr>
            <a:r>
              <a:rPr lang="en-US" altLang="en-US" sz="3200" b="1" dirty="0">
                <a:solidFill>
                  <a:srgbClr val="006699"/>
                </a:solidFill>
                <a:latin typeface="+mj-lt"/>
              </a:rPr>
              <a:t>Storage Structure</a:t>
            </a:r>
          </a:p>
        </p:txBody>
      </p:sp>
    </p:spTree>
    <p:extLst>
      <p:ext uri="{BB962C8B-B14F-4D97-AF65-F5344CB8AC3E}">
        <p14:creationId xmlns:p14="http://schemas.microsoft.com/office/powerpoint/2010/main" val="26530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a:t>Storage Structure</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143002"/>
            <a:ext cx="6744624" cy="4393640"/>
          </a:xfrm>
        </p:spPr>
        <p:txBody>
          <a:bodyPr/>
          <a:lstStyle/>
          <a:p>
            <a:r>
              <a:rPr lang="en-US" altLang="en-US" sz="1700" dirty="0"/>
              <a:t>Main memory – only large storage media that the CPU can access directly</a:t>
            </a:r>
          </a:p>
          <a:p>
            <a:pPr lvl="1"/>
            <a:r>
              <a:rPr lang="en-US" altLang="en-US" b="1" dirty="0">
                <a:solidFill>
                  <a:srgbClr val="006699"/>
                </a:solidFill>
                <a:latin typeface="+mj-lt"/>
              </a:rPr>
              <a:t>Random access</a:t>
            </a:r>
          </a:p>
          <a:p>
            <a:pPr lvl="1"/>
            <a:r>
              <a:rPr lang="en-US" altLang="en-US" sz="1600" dirty="0"/>
              <a:t>Typically </a:t>
            </a:r>
            <a:r>
              <a:rPr lang="en-US" altLang="en-US" b="1" dirty="0">
                <a:solidFill>
                  <a:srgbClr val="006699"/>
                </a:solidFill>
                <a:latin typeface="+mj-lt"/>
              </a:rPr>
              <a:t>volatile</a:t>
            </a:r>
          </a:p>
          <a:p>
            <a:pPr lvl="1"/>
            <a:r>
              <a:rPr lang="en-US" altLang="en-US" dirty="0"/>
              <a:t>Typically</a:t>
            </a:r>
            <a:r>
              <a:rPr lang="en-US" altLang="en-US" sz="1600" b="1" dirty="0">
                <a:solidFill>
                  <a:srgbClr val="3366FF"/>
                </a:solidFill>
              </a:rPr>
              <a:t> </a:t>
            </a:r>
            <a:r>
              <a:rPr lang="en-US" altLang="en-US" b="1" dirty="0">
                <a:solidFill>
                  <a:srgbClr val="006699"/>
                </a:solidFill>
                <a:latin typeface="+mj-lt"/>
              </a:rPr>
              <a:t>random-access</a:t>
            </a:r>
            <a:r>
              <a:rPr lang="en-US" altLang="en-US" sz="1600" b="1" dirty="0">
                <a:solidFill>
                  <a:srgbClr val="3366FF"/>
                </a:solidFill>
              </a:rPr>
              <a:t> </a:t>
            </a:r>
            <a:r>
              <a:rPr lang="en-US" altLang="en-US" b="1" dirty="0">
                <a:solidFill>
                  <a:srgbClr val="006699"/>
                </a:solidFill>
                <a:latin typeface="+mj-lt"/>
              </a:rPr>
              <a:t>memory</a:t>
            </a:r>
            <a:r>
              <a:rPr lang="en-US" altLang="en-US" sz="1600" b="1" dirty="0">
                <a:solidFill>
                  <a:srgbClr val="3366FF"/>
                </a:solidFill>
              </a:rPr>
              <a:t> </a:t>
            </a:r>
            <a:r>
              <a:rPr lang="en-US" altLang="en-US" dirty="0"/>
              <a:t>in the form of </a:t>
            </a:r>
            <a:r>
              <a:rPr lang="en-US" altLang="en-US" b="1" dirty="0">
                <a:solidFill>
                  <a:srgbClr val="006699"/>
                </a:solidFill>
                <a:latin typeface="+mj-lt"/>
              </a:rPr>
              <a:t>Dynamic Random-access Memory (DRAM)</a:t>
            </a:r>
          </a:p>
          <a:p>
            <a:r>
              <a:rPr lang="en-US" altLang="en-US" sz="1700" dirty="0"/>
              <a:t>Secondary storage – extension of main memory that provides large </a:t>
            </a:r>
            <a:r>
              <a:rPr lang="en-US" altLang="en-US" b="1" dirty="0">
                <a:solidFill>
                  <a:srgbClr val="006699"/>
                </a:solidFill>
                <a:latin typeface="+mj-lt"/>
              </a:rPr>
              <a:t>nonvolatile </a:t>
            </a:r>
            <a:r>
              <a:rPr lang="en-US" altLang="en-US" sz="1700" dirty="0"/>
              <a:t>storage capacity</a:t>
            </a:r>
          </a:p>
        </p:txBody>
      </p:sp>
    </p:spTree>
    <p:extLst>
      <p:ext uri="{BB962C8B-B14F-4D97-AF65-F5344CB8AC3E}">
        <p14:creationId xmlns:p14="http://schemas.microsoft.com/office/powerpoint/2010/main" val="1975106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(Cont.)</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099455"/>
            <a:ext cx="6905398" cy="4441370"/>
          </a:xfrm>
        </p:spPr>
        <p:txBody>
          <a:bodyPr/>
          <a:lstStyle/>
          <a:p>
            <a:r>
              <a:rPr lang="en-US" altLang="en-US" b="1" dirty="0">
                <a:solidFill>
                  <a:srgbClr val="006699"/>
                </a:solidFill>
                <a:latin typeface="+mj-lt"/>
              </a:rPr>
              <a:t>Hard Disk Drives </a:t>
            </a:r>
            <a:r>
              <a:rPr lang="en-US" altLang="en-US" sz="1700" dirty="0"/>
              <a:t>(</a:t>
            </a:r>
            <a:r>
              <a:rPr lang="en-US" altLang="en-US" b="1" dirty="0">
                <a:solidFill>
                  <a:srgbClr val="006699"/>
                </a:solidFill>
                <a:latin typeface="+mj-lt"/>
              </a:rPr>
              <a:t>HDD</a:t>
            </a:r>
            <a:r>
              <a:rPr lang="en-US" altLang="en-US" sz="1700" dirty="0"/>
              <a:t>) – rigid metal or glass platters covered with magnetic recording material </a:t>
            </a:r>
          </a:p>
          <a:p>
            <a:pPr lvl="1"/>
            <a:r>
              <a:rPr lang="en-US" altLang="en-US" sz="1600" dirty="0"/>
              <a:t>Disk surface is logically divided into</a:t>
            </a:r>
            <a:r>
              <a:rPr lang="en-US" altLang="en-US" b="1" dirty="0">
                <a:solidFill>
                  <a:srgbClr val="006699"/>
                </a:solidFill>
                <a:latin typeface="+mj-lt"/>
              </a:rPr>
              <a:t> tracks</a:t>
            </a:r>
            <a:r>
              <a:rPr lang="en-US" altLang="en-US" sz="1600" dirty="0"/>
              <a:t>, which are subdivided into </a:t>
            </a:r>
            <a:r>
              <a:rPr lang="en-US" altLang="en-US" b="1" dirty="0">
                <a:solidFill>
                  <a:srgbClr val="006699"/>
                </a:solidFill>
                <a:latin typeface="+mj-lt"/>
              </a:rPr>
              <a:t>sectors</a:t>
            </a:r>
          </a:p>
          <a:p>
            <a:pPr lvl="1"/>
            <a:r>
              <a:rPr lang="en-US" altLang="en-US" sz="1600" dirty="0"/>
              <a:t>The </a:t>
            </a:r>
            <a:r>
              <a:rPr lang="en-US" altLang="en-US" b="1" dirty="0">
                <a:solidFill>
                  <a:srgbClr val="006699"/>
                </a:solidFill>
                <a:latin typeface="+mj-lt"/>
              </a:rPr>
              <a:t>disk controller </a:t>
            </a:r>
            <a:r>
              <a:rPr lang="en-US" altLang="en-US" sz="1600" dirty="0"/>
              <a:t>determines the logical interaction between the device and the computer </a:t>
            </a:r>
          </a:p>
          <a:p>
            <a:r>
              <a:rPr lang="en-US" altLang="en-US" b="1" dirty="0">
                <a:solidFill>
                  <a:srgbClr val="006699"/>
                </a:solidFill>
                <a:latin typeface="+mj-lt"/>
              </a:rPr>
              <a:t>Non-volatile memory</a:t>
            </a:r>
            <a:r>
              <a:rPr lang="en-US" altLang="en-US" sz="1700" dirty="0"/>
              <a:t> (</a:t>
            </a:r>
            <a:r>
              <a:rPr lang="en-US" altLang="en-US" b="1" dirty="0">
                <a:solidFill>
                  <a:srgbClr val="006699"/>
                </a:solidFill>
                <a:latin typeface="+mj-lt"/>
              </a:rPr>
              <a:t>NVM</a:t>
            </a:r>
            <a:r>
              <a:rPr lang="en-US" altLang="en-US" sz="1700" dirty="0"/>
              <a:t>)</a:t>
            </a:r>
            <a:r>
              <a:rPr lang="en-US" altLang="en-US" b="1" dirty="0">
                <a:solidFill>
                  <a:srgbClr val="006699"/>
                </a:solidFill>
                <a:latin typeface="+mj-lt"/>
              </a:rPr>
              <a:t> </a:t>
            </a:r>
            <a:r>
              <a:rPr lang="en-US" altLang="en-US" sz="1700" dirty="0"/>
              <a:t>devices– faster than hard disks, nonvolatile</a:t>
            </a:r>
          </a:p>
          <a:p>
            <a:pPr lvl="1"/>
            <a:r>
              <a:rPr lang="en-US" altLang="en-US" sz="1600" dirty="0"/>
              <a:t>Various technologies</a:t>
            </a:r>
          </a:p>
          <a:p>
            <a:pPr lvl="1"/>
            <a:r>
              <a:rPr lang="en-US" altLang="en-US" sz="1600" dirty="0"/>
              <a:t>Becoming more popular as capacity and performance increases, price drops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a:extLst>
              <a:ext uri="{FF2B5EF4-FFF2-40B4-BE49-F238E27FC236}">
                <a16:creationId xmlns:a16="http://schemas.microsoft.com/office/drawing/2014/main" id="{9399C31D-3B45-4819-86D3-3562EEC74425}"/>
              </a:ext>
            </a:extLst>
          </p:cNvPr>
          <p:cNvSpPr>
            <a:spLocks noGrp="1" noChangeArrowheads="1"/>
          </p:cNvSpPr>
          <p:nvPr>
            <p:ph type="title"/>
          </p:nvPr>
        </p:nvSpPr>
        <p:spPr>
          <a:xfrm>
            <a:off x="947738" y="203200"/>
            <a:ext cx="7851775" cy="576263"/>
          </a:xfrm>
        </p:spPr>
        <p:txBody>
          <a:bodyPr/>
          <a:lstStyle/>
          <a:p>
            <a:r>
              <a:rPr lang="en-US" altLang="en-US" sz="3000"/>
              <a:t>Storage Definitions and Notation Review</a:t>
            </a:r>
          </a:p>
        </p:txBody>
      </p:sp>
      <p:pic>
        <p:nvPicPr>
          <p:cNvPr id="38915" name="Picture 3">
            <a:extLst>
              <a:ext uri="{FF2B5EF4-FFF2-40B4-BE49-F238E27FC236}">
                <a16:creationId xmlns:a16="http://schemas.microsoft.com/office/drawing/2014/main" id="{7CEF2D5C-E937-4516-898C-4034833D2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8" y="1079500"/>
            <a:ext cx="73533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0AC8D8D-292B-2943-B449-B924F9BB88F3}"/>
              </a:ext>
            </a:extLst>
          </p:cNvPr>
          <p:cNvSpPr/>
          <p:nvPr/>
        </p:nvSpPr>
        <p:spPr bwMode="auto">
          <a:xfrm>
            <a:off x="842962" y="1079500"/>
            <a:ext cx="8039100" cy="495300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defRPr/>
            </a:pPr>
            <a:r>
              <a:rPr lang="en-US" sz="1400" dirty="0"/>
              <a:t> The basic unit of computer storage is the </a:t>
            </a:r>
            <a:r>
              <a:rPr kumimoji="1" lang="en-US" sz="1500" b="1" dirty="0">
                <a:solidFill>
                  <a:srgbClr val="006699"/>
                </a:solidFill>
                <a:latin typeface="+mj-lt"/>
              </a:rPr>
              <a:t>bit</a:t>
            </a:r>
            <a:r>
              <a:rPr lang="en-US" sz="1400" dirty="0"/>
              <a:t>. A bit can contain one of two</a:t>
            </a:r>
          </a:p>
          <a:p>
            <a:pPr>
              <a:defRPr/>
            </a:pPr>
            <a:r>
              <a:rPr lang="en-US" sz="1400" dirty="0"/>
              <a:t>values, 0 and 1. All other storage in a computer is based on collections of bits.</a:t>
            </a:r>
          </a:p>
          <a:p>
            <a:pPr>
              <a:defRPr/>
            </a:pPr>
            <a:r>
              <a:rPr lang="en-US" sz="1400" dirty="0"/>
              <a:t>Given enough bits, it is amazing how many things a computer can represent:</a:t>
            </a:r>
          </a:p>
          <a:p>
            <a:pPr>
              <a:defRPr/>
            </a:pPr>
            <a:r>
              <a:rPr lang="en-US" sz="1400" dirty="0"/>
              <a:t>numbers, letters, images, movies, sounds, documents, and programs, to name</a:t>
            </a:r>
          </a:p>
          <a:p>
            <a:pPr>
              <a:defRPr/>
            </a:pPr>
            <a:r>
              <a:rPr lang="en-US" sz="1400" dirty="0"/>
              <a:t>a few. A </a:t>
            </a:r>
            <a:r>
              <a:rPr kumimoji="1" lang="en-US" sz="1500" b="1" dirty="0">
                <a:solidFill>
                  <a:srgbClr val="006699"/>
                </a:solidFill>
                <a:latin typeface="+mj-lt"/>
              </a:rPr>
              <a:t>byte</a:t>
            </a:r>
            <a:r>
              <a:rPr lang="en-US" sz="1400" dirty="0"/>
              <a:t> is 8 bits, and on most computers it is the smallest convenient</a:t>
            </a:r>
          </a:p>
          <a:p>
            <a:pPr>
              <a:defRPr/>
            </a:pPr>
            <a:r>
              <a:rPr lang="en-US" sz="1400" dirty="0"/>
              <a:t>chunk of storage. For example, most computers don’t have an instruction to</a:t>
            </a:r>
          </a:p>
          <a:p>
            <a:pPr>
              <a:defRPr/>
            </a:pPr>
            <a:r>
              <a:rPr lang="en-US" sz="1400" dirty="0"/>
              <a:t>move a bit but do have one to move a byte. A less common term is </a:t>
            </a:r>
            <a:r>
              <a:rPr kumimoji="1" lang="en-US" sz="1500" b="1" dirty="0">
                <a:solidFill>
                  <a:srgbClr val="006699"/>
                </a:solidFill>
                <a:latin typeface="+mj-lt"/>
              </a:rPr>
              <a:t>word</a:t>
            </a:r>
            <a:r>
              <a:rPr lang="en-US" sz="1400" dirty="0"/>
              <a:t>,</a:t>
            </a:r>
          </a:p>
          <a:p>
            <a:pPr>
              <a:defRPr/>
            </a:pPr>
            <a:r>
              <a:rPr lang="en-US" sz="1400" dirty="0"/>
              <a:t>which is a given computer architecture’s native unit of data. A word is made</a:t>
            </a:r>
          </a:p>
          <a:p>
            <a:pPr>
              <a:defRPr/>
            </a:pPr>
            <a:r>
              <a:rPr lang="en-US" sz="1400" dirty="0"/>
              <a:t>up of one or more bytes. For example, a computer that has 64-bit registers and</a:t>
            </a:r>
          </a:p>
          <a:p>
            <a:pPr>
              <a:defRPr/>
            </a:pPr>
            <a:r>
              <a:rPr lang="en-US" sz="1400" dirty="0"/>
              <a:t>64-bit memory addressing typically has 64-bit (8-byte) words. A computer</a:t>
            </a:r>
          </a:p>
          <a:p>
            <a:pPr>
              <a:defRPr/>
            </a:pPr>
            <a:r>
              <a:rPr lang="en-US" sz="1400" dirty="0"/>
              <a:t>executes many operations in its native word size rather than a byte at a time.</a:t>
            </a:r>
          </a:p>
          <a:p>
            <a:pPr>
              <a:defRPr/>
            </a:pPr>
            <a:endParaRPr lang="en-US" sz="1400" dirty="0"/>
          </a:p>
          <a:p>
            <a:pPr>
              <a:defRPr/>
            </a:pPr>
            <a:r>
              <a:rPr lang="en-US" sz="1400" dirty="0"/>
              <a:t>Computer storage, along with most computer throughput, is generally</a:t>
            </a:r>
          </a:p>
          <a:p>
            <a:pPr>
              <a:defRPr/>
            </a:pPr>
            <a:r>
              <a:rPr lang="en-US" sz="1400" dirty="0"/>
              <a:t>measured and manipulated in bytes and collections of bytes. A </a:t>
            </a:r>
            <a:r>
              <a:rPr kumimoji="1" lang="en-US" sz="1500" b="1" dirty="0">
                <a:solidFill>
                  <a:srgbClr val="006699"/>
                </a:solidFill>
                <a:latin typeface="+mj-lt"/>
              </a:rPr>
              <a:t>kilobyte</a:t>
            </a:r>
            <a:r>
              <a:rPr lang="en-US" sz="1400" dirty="0"/>
              <a:t>, or</a:t>
            </a:r>
          </a:p>
          <a:p>
            <a:pPr>
              <a:defRPr/>
            </a:pPr>
            <a:r>
              <a:rPr lang="en-US" sz="1400" dirty="0"/>
              <a:t>KB , is 1,024 bytes; a </a:t>
            </a:r>
            <a:r>
              <a:rPr kumimoji="1" lang="en-US" sz="1500" b="1" dirty="0">
                <a:solidFill>
                  <a:srgbClr val="006699"/>
                </a:solidFill>
                <a:latin typeface="+mj-lt"/>
              </a:rPr>
              <a:t>megabyte</a:t>
            </a:r>
            <a:r>
              <a:rPr lang="en-US" sz="1400" dirty="0"/>
              <a:t>, or </a:t>
            </a:r>
            <a:r>
              <a:rPr kumimoji="1" lang="en-US" sz="1500" b="1" dirty="0">
                <a:solidFill>
                  <a:srgbClr val="006699"/>
                </a:solidFill>
                <a:latin typeface="+mj-lt"/>
              </a:rPr>
              <a:t>MB</a:t>
            </a:r>
            <a:r>
              <a:rPr lang="en-US" sz="1400" dirty="0"/>
              <a:t>, is 1,024</a:t>
            </a:r>
            <a:r>
              <a:rPr lang="en-US" sz="1400" baseline="30000" dirty="0"/>
              <a:t>2</a:t>
            </a:r>
            <a:r>
              <a:rPr lang="en-US" sz="1400" dirty="0"/>
              <a:t>  bytes; a </a:t>
            </a:r>
            <a:r>
              <a:rPr kumimoji="1" lang="en-US" sz="1500" b="1" dirty="0">
                <a:solidFill>
                  <a:srgbClr val="006699"/>
                </a:solidFill>
                <a:latin typeface="+mj-lt"/>
              </a:rPr>
              <a:t>gigabyte</a:t>
            </a:r>
            <a:r>
              <a:rPr lang="en-US" sz="1400" dirty="0"/>
              <a:t>, or </a:t>
            </a:r>
            <a:r>
              <a:rPr kumimoji="1" lang="en-US" sz="1500" b="1" dirty="0">
                <a:solidFill>
                  <a:srgbClr val="006699"/>
                </a:solidFill>
                <a:latin typeface="+mj-lt"/>
              </a:rPr>
              <a:t>GB</a:t>
            </a:r>
            <a:r>
              <a:rPr lang="en-US" sz="1400" dirty="0"/>
              <a:t>, is</a:t>
            </a:r>
          </a:p>
          <a:p>
            <a:pPr>
              <a:defRPr/>
            </a:pPr>
            <a:r>
              <a:rPr lang="en-US" sz="1400" dirty="0"/>
              <a:t>1,024</a:t>
            </a:r>
            <a:r>
              <a:rPr lang="en-US" sz="1400" baseline="30000" dirty="0"/>
              <a:t>3</a:t>
            </a:r>
            <a:r>
              <a:rPr lang="en-US" sz="1400" dirty="0"/>
              <a:t>  bytes; a </a:t>
            </a:r>
            <a:r>
              <a:rPr kumimoji="1" lang="en-US" sz="1500" b="1" dirty="0">
                <a:solidFill>
                  <a:srgbClr val="006699"/>
                </a:solidFill>
                <a:latin typeface="+mj-lt"/>
              </a:rPr>
              <a:t>terabyte</a:t>
            </a:r>
            <a:r>
              <a:rPr lang="en-US" sz="1400" dirty="0"/>
              <a:t>, or </a:t>
            </a:r>
            <a:r>
              <a:rPr kumimoji="1" lang="en-US" sz="1500" b="1" dirty="0">
                <a:solidFill>
                  <a:srgbClr val="006699"/>
                </a:solidFill>
                <a:latin typeface="+mj-lt"/>
              </a:rPr>
              <a:t>TB</a:t>
            </a:r>
            <a:r>
              <a:rPr lang="en-US" sz="1400" dirty="0"/>
              <a:t>, is 1,024</a:t>
            </a:r>
            <a:r>
              <a:rPr lang="en-US" sz="1400" baseline="30000" dirty="0"/>
              <a:t>4</a:t>
            </a:r>
            <a:r>
              <a:rPr lang="en-US" sz="1400" dirty="0"/>
              <a:t>  bytes; and a </a:t>
            </a:r>
            <a:r>
              <a:rPr kumimoji="1" lang="en-US" sz="1500" b="1" dirty="0">
                <a:solidFill>
                  <a:srgbClr val="006699"/>
                </a:solidFill>
                <a:latin typeface="+mj-lt"/>
              </a:rPr>
              <a:t>petabyte</a:t>
            </a:r>
            <a:r>
              <a:rPr lang="en-US" sz="1400" dirty="0"/>
              <a:t>, or </a:t>
            </a:r>
            <a:r>
              <a:rPr kumimoji="1" lang="en-US" sz="1500" b="1" dirty="0">
                <a:solidFill>
                  <a:srgbClr val="006699"/>
                </a:solidFill>
                <a:latin typeface="+mj-lt"/>
              </a:rPr>
              <a:t>PB</a:t>
            </a:r>
            <a:r>
              <a:rPr lang="en-US" sz="1400" dirty="0"/>
              <a:t>, is 1,024</a:t>
            </a:r>
            <a:r>
              <a:rPr lang="en-US" sz="1400" baseline="30000" dirty="0"/>
              <a:t>5</a:t>
            </a:r>
          </a:p>
          <a:p>
            <a:pPr>
              <a:defRPr/>
            </a:pPr>
            <a:r>
              <a:rPr lang="en-US" sz="1400" dirty="0"/>
              <a:t>bytes. Computer manufacturers often round off these numbers and say that</a:t>
            </a:r>
          </a:p>
          <a:p>
            <a:pPr>
              <a:defRPr/>
            </a:pPr>
            <a:r>
              <a:rPr lang="en-US" sz="1400" dirty="0"/>
              <a:t>a megabyte is 1 million bytes and a gigabyte is 1 billion bytes. Networking</a:t>
            </a:r>
          </a:p>
          <a:p>
            <a:pPr>
              <a:defRPr/>
            </a:pPr>
            <a:r>
              <a:rPr lang="en-US" sz="1400" dirty="0"/>
              <a:t>measurements are an exception to this general rule; they are given in bits</a:t>
            </a:r>
          </a:p>
          <a:p>
            <a:pPr>
              <a:defRPr/>
            </a:pPr>
            <a:r>
              <a:rPr lang="en-US" sz="1400" dirty="0"/>
              <a:t>(because networks move data a bit at a time).</a:t>
            </a:r>
          </a:p>
          <a:p>
            <a:pPr>
              <a:defRPr/>
            </a:pPr>
            <a:endParaRPr lang="en-US" sz="1400" dirty="0">
              <a:latin typeface="Verdana"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806450" y="1124628"/>
            <a:ext cx="7810500" cy="4530725"/>
          </a:xfrm>
        </p:spPr>
        <p:txBody>
          <a:bodyPr/>
          <a:lstStyle/>
          <a:p>
            <a:r>
              <a:rPr lang="en-US" altLang="en-US" dirty="0"/>
              <a:t>Storage systems organized in hierarchy</a:t>
            </a:r>
          </a:p>
          <a:p>
            <a:pPr lvl="1"/>
            <a:r>
              <a:rPr lang="en-US" altLang="en-US" dirty="0"/>
              <a:t>Speed</a:t>
            </a:r>
          </a:p>
          <a:p>
            <a:pPr lvl="1"/>
            <a:r>
              <a:rPr lang="en-US" altLang="en-US" dirty="0"/>
              <a:t>Cost</a:t>
            </a:r>
          </a:p>
          <a:p>
            <a:pPr lvl="1"/>
            <a:r>
              <a:rPr lang="en-US" altLang="en-US" dirty="0"/>
              <a:t>Volatility</a:t>
            </a:r>
          </a:p>
          <a:p>
            <a:r>
              <a:rPr lang="en-US" altLang="en-US" b="1" dirty="0">
                <a:solidFill>
                  <a:srgbClr val="006699"/>
                </a:solidFill>
                <a:latin typeface="+mj-lt"/>
              </a:rPr>
              <a:t>Caching</a:t>
            </a:r>
            <a:r>
              <a:rPr lang="en-US" altLang="en-US" dirty="0"/>
              <a:t> – copying information into faster storage system; main memory can be viewed as a cache for secondary storage</a:t>
            </a:r>
          </a:p>
          <a:p>
            <a:r>
              <a:rPr lang="en-US" altLang="en-US" b="1" dirty="0">
                <a:solidFill>
                  <a:srgbClr val="006699"/>
                </a:solidFill>
                <a:latin typeface="+mj-lt"/>
              </a:rPr>
              <a:t>Device Driver </a:t>
            </a:r>
            <a:r>
              <a:rPr lang="en-US" altLang="en-US" dirty="0"/>
              <a:t>for each device controller to manage I/O</a:t>
            </a:r>
          </a:p>
          <a:p>
            <a:pPr lvl="1"/>
            <a:r>
              <a:rPr lang="en-US" altLang="en-US" dirty="0"/>
              <a:t>Provides uniform interface between controller and kernel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835025" y="212725"/>
            <a:ext cx="7702550" cy="576263"/>
          </a:xfrm>
        </p:spPr>
        <p:txBody>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806450" y="1233488"/>
            <a:ext cx="6813550" cy="4056969"/>
          </a:xfrm>
        </p:spPr>
        <p:txBody>
          <a:bodyPr/>
          <a:lstStyle/>
          <a:p>
            <a:r>
              <a:rPr lang="en-US" altLang="en-US" dirty="0"/>
              <a:t>Used for high-speed I/O devices able to transmit information at close to memory speeds</a:t>
            </a:r>
          </a:p>
          <a:p>
            <a:r>
              <a:rPr lang="en-US" altLang="en-US" dirty="0"/>
              <a:t>Device controller transfers blocks of data from buffer storage directly to main memory without CPU intervention</a:t>
            </a:r>
          </a:p>
          <a:p>
            <a:r>
              <a:rPr lang="en-US" altLang="en-US" dirty="0"/>
              <a:t>Only one interrupt is generated per block, rather than the one interrupt per byte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95350" y="195263"/>
            <a:ext cx="7670800" cy="576262"/>
          </a:xfrm>
        </p:spPr>
        <p:txBody>
          <a:bodyPr/>
          <a:lstStyle/>
          <a:p>
            <a:pPr eaLnBrk="1" hangingPunct="1"/>
            <a:r>
              <a:rPr lang="en-US" altLang="en-US"/>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838200" y="1154113"/>
            <a:ext cx="7670800" cy="4938712"/>
          </a:xfrm>
        </p:spPr>
        <p:txBody>
          <a:bodyPr/>
          <a:lstStyle/>
          <a:p>
            <a:pPr>
              <a:lnSpc>
                <a:spcPct val="90000"/>
              </a:lnSpc>
            </a:pPr>
            <a:r>
              <a:rPr lang="en-US" altLang="en-US" dirty="0"/>
              <a:t>Bootstrap program – simple code to initialize the system, load the kernel</a:t>
            </a:r>
          </a:p>
          <a:p>
            <a:pPr>
              <a:lnSpc>
                <a:spcPct val="90000"/>
              </a:lnSpc>
            </a:pPr>
            <a:r>
              <a:rPr lang="en-US" altLang="en-US" dirty="0"/>
              <a:t>Kernel loads</a:t>
            </a:r>
          </a:p>
          <a:p>
            <a:pPr>
              <a:lnSpc>
                <a:spcPct val="90000"/>
              </a:lnSpc>
            </a:pPr>
            <a:r>
              <a:rPr lang="en-US" altLang="en-US" dirty="0"/>
              <a:t>Starts </a:t>
            </a:r>
            <a:r>
              <a:rPr lang="en-US" altLang="en-US" b="1" dirty="0">
                <a:solidFill>
                  <a:srgbClr val="006699"/>
                </a:solidFill>
                <a:latin typeface="+mj-lt"/>
              </a:rPr>
              <a:t>system daemons </a:t>
            </a:r>
            <a:r>
              <a:rPr lang="en-US" altLang="en-US" dirty="0"/>
              <a:t>(services provided outside of the kernel)</a:t>
            </a:r>
          </a:p>
          <a:p>
            <a:pPr>
              <a:lnSpc>
                <a:spcPct val="90000"/>
              </a:lnSpc>
            </a:pPr>
            <a:r>
              <a:rPr lang="en-US" altLang="en-US" dirty="0"/>
              <a:t>Kernel</a:t>
            </a:r>
            <a:r>
              <a:rPr lang="en-US" altLang="en-US" b="1" dirty="0">
                <a:solidFill>
                  <a:srgbClr val="3366FF"/>
                </a:solidFill>
              </a:rPr>
              <a:t> </a:t>
            </a:r>
            <a:r>
              <a:rPr lang="en-US" altLang="en-US" b="1" dirty="0">
                <a:solidFill>
                  <a:srgbClr val="006699"/>
                </a:solidFill>
                <a:latin typeface="+mj-lt"/>
              </a:rPr>
              <a:t>interrupt driven </a:t>
            </a:r>
            <a:r>
              <a:rPr lang="en-US" altLang="en-US" dirty="0"/>
              <a:t>(hardware and software)</a:t>
            </a:r>
          </a:p>
          <a:p>
            <a:pPr lvl="1">
              <a:lnSpc>
                <a:spcPct val="90000"/>
              </a:lnSpc>
            </a:pPr>
            <a:r>
              <a:rPr lang="en-US" altLang="en-US" dirty="0"/>
              <a:t>Hardware interrupt by one of the devices </a:t>
            </a:r>
          </a:p>
          <a:p>
            <a:pPr lvl="1">
              <a:lnSpc>
                <a:spcPct val="90000"/>
              </a:lnSpc>
            </a:pPr>
            <a:r>
              <a:rPr lang="en-US" altLang="en-US" dirty="0"/>
              <a:t>Software interrupt (</a:t>
            </a:r>
            <a:r>
              <a:rPr lang="en-US" altLang="en-US" b="1" dirty="0">
                <a:solidFill>
                  <a:srgbClr val="006699"/>
                </a:solidFill>
                <a:latin typeface="+mj-lt"/>
              </a:rPr>
              <a:t>exception</a:t>
            </a:r>
            <a:r>
              <a:rPr lang="en-US" altLang="en-US" b="1" dirty="0">
                <a:solidFill>
                  <a:srgbClr val="3366FF"/>
                </a:solidFill>
              </a:rPr>
              <a:t> </a:t>
            </a:r>
            <a:r>
              <a:rPr lang="en-US" altLang="en-US" dirty="0"/>
              <a:t>or </a:t>
            </a:r>
            <a:r>
              <a:rPr lang="en-US" altLang="en-US" b="1" dirty="0">
                <a:solidFill>
                  <a:srgbClr val="006699"/>
                </a:solidFill>
                <a:latin typeface="+mj-lt"/>
              </a:rPr>
              <a:t>trap</a:t>
            </a:r>
            <a:r>
              <a:rPr lang="en-US" altLang="en-US" dirty="0"/>
              <a:t>):</a:t>
            </a:r>
          </a:p>
          <a:p>
            <a:pPr lvl="2">
              <a:lnSpc>
                <a:spcPct val="90000"/>
              </a:lnSpc>
            </a:pPr>
            <a:r>
              <a:rPr lang="en-US" altLang="en-US" dirty="0"/>
              <a:t>Software error (e.g., division by zero)</a:t>
            </a:r>
            <a:endParaRPr lang="en-US" altLang="en-US" b="1" dirty="0">
              <a:solidFill>
                <a:srgbClr val="3366FF"/>
              </a:solidFill>
            </a:endParaRPr>
          </a:p>
          <a:p>
            <a:pPr lvl="2">
              <a:lnSpc>
                <a:spcPct val="90000"/>
              </a:lnSpc>
            </a:pPr>
            <a:r>
              <a:rPr lang="en-US" altLang="en-US" dirty="0"/>
              <a:t>Request for operating system service – </a:t>
            </a:r>
            <a:r>
              <a:rPr lang="en-US" altLang="en-US" b="1" dirty="0">
                <a:solidFill>
                  <a:srgbClr val="006699"/>
                </a:solidFill>
                <a:latin typeface="+mj-lt"/>
              </a:rPr>
              <a:t>system call</a:t>
            </a:r>
          </a:p>
          <a:p>
            <a:pPr lvl="2">
              <a:lnSpc>
                <a:spcPct val="90000"/>
              </a:lnSpc>
            </a:pPr>
            <a:r>
              <a:rPr lang="en-US" altLang="en-US" dirty="0"/>
              <a:t>Other process problems include infinite loop, processes modifying each other or the operating system</a:t>
            </a:r>
          </a:p>
          <a:p>
            <a:pPr lvl="1">
              <a:lnSpc>
                <a:spcPct val="90000"/>
              </a:lnSpc>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5"/>
            <a:ext cx="6337387" cy="5193986"/>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p>
          <a:p>
            <a:pPr>
              <a:lnSpc>
                <a:spcPct val="90000"/>
              </a:lnSpc>
            </a:pPr>
            <a:r>
              <a:rPr lang="en-US" altLang="en-US" sz="1600" dirty="0"/>
              <a:t>Multiprogramming organizes jobs (code and data) so CPU always has one to execute</a:t>
            </a:r>
          </a:p>
          <a:p>
            <a:pPr>
              <a:lnSpc>
                <a:spcPct val="90000"/>
              </a:lnSpc>
            </a:pPr>
            <a:r>
              <a:rPr lang="en-US" altLang="en-US" sz="1600" dirty="0"/>
              <a:t>A subset of total jobs in system is kept in memory</a:t>
            </a:r>
          </a:p>
          <a:p>
            <a:pPr>
              <a:lnSpc>
                <a:spcPct val="90000"/>
              </a:lnSpc>
            </a:pPr>
            <a:r>
              <a:rPr lang="en-US" altLang="en-US" sz="1600" dirty="0"/>
              <a:t>One job selected and run via </a:t>
            </a:r>
            <a:r>
              <a:rPr lang="en-US" altLang="en-US" b="1" dirty="0">
                <a:solidFill>
                  <a:srgbClr val="006699"/>
                </a:solidFill>
                <a:latin typeface="+mj-lt"/>
              </a:rPr>
              <a:t>job scheduling</a:t>
            </a:r>
          </a:p>
          <a:p>
            <a:pPr>
              <a:lnSpc>
                <a:spcPct val="90000"/>
              </a:lnSpc>
            </a:pPr>
            <a:r>
              <a:rPr lang="en-US" altLang="en-US" sz="1600" dirty="0"/>
              <a:t>When job has to wait (for I/O for example), OS switches to another job</a:t>
            </a:r>
          </a:p>
          <a:p>
            <a:pPr lvl="1">
              <a:lnSpc>
                <a:spcPct val="90000"/>
              </a:lnSpc>
            </a:pPr>
            <a:endParaRPr lang="en-US" altLang="en-US" sz="800" dirty="0"/>
          </a:p>
        </p:txBody>
      </p:sp>
    </p:spTree>
    <p:extLst>
      <p:ext uri="{BB962C8B-B14F-4D97-AF65-F5344CB8AC3E}">
        <p14:creationId xmlns:p14="http://schemas.microsoft.com/office/powerpoint/2010/main" val="38776578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6"/>
            <a:ext cx="6207218" cy="4872503"/>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pPr>
              <a:lnSpc>
                <a:spcPct val="90000"/>
              </a:lnSpc>
            </a:pPr>
            <a:r>
              <a:rPr lang="en-US" altLang="en-US" sz="1600" dirty="0"/>
              <a:t>A logical extension of Batch systems– the CPU switches jobs so frequently that users can interact with each job while it is running, creating </a:t>
            </a:r>
            <a:r>
              <a:rPr lang="en-US" altLang="en-US" b="1" dirty="0">
                <a:solidFill>
                  <a:srgbClr val="006699"/>
                </a:solidFill>
                <a:latin typeface="+mj-lt"/>
              </a:rPr>
              <a:t>interactive</a:t>
            </a:r>
            <a:r>
              <a:rPr lang="en-US" altLang="en-US" sz="1600" dirty="0"/>
              <a:t> computing</a:t>
            </a:r>
          </a:p>
          <a:p>
            <a:pPr lvl="1">
              <a:lnSpc>
                <a:spcPct val="90000"/>
              </a:lnSpc>
            </a:pPr>
            <a:r>
              <a:rPr lang="en-US" altLang="en-US" b="1" dirty="0">
                <a:solidFill>
                  <a:srgbClr val="006699"/>
                </a:solidFill>
                <a:latin typeface="+mj-lt"/>
              </a:rPr>
              <a:t>Response time </a:t>
            </a:r>
            <a:r>
              <a:rPr lang="en-US" altLang="en-US" sz="1600" dirty="0"/>
              <a:t>should be &lt; 1 second</a:t>
            </a:r>
          </a:p>
          <a:p>
            <a:pPr lvl="1">
              <a:lnSpc>
                <a:spcPct val="90000"/>
              </a:lnSpc>
            </a:pPr>
            <a:r>
              <a:rPr lang="en-US" altLang="en-US" sz="1600" dirty="0"/>
              <a:t>Each user has at least one program executing in memory </a:t>
            </a:r>
            <a:r>
              <a:rPr lang="en-US" altLang="en-US" sz="1600" dirty="0">
                <a:sym typeface="Wingdings 3" panose="05040102010807070707" pitchFamily="18" charset="2"/>
              </a:rPr>
              <a:t> </a:t>
            </a:r>
            <a:r>
              <a:rPr lang="en-US" altLang="en-US" b="1" dirty="0">
                <a:solidFill>
                  <a:srgbClr val="006699"/>
                </a:solidFill>
                <a:latin typeface="+mj-lt"/>
                <a:sym typeface="Wingdings 3" panose="05040102010807070707" pitchFamily="18" charset="2"/>
              </a:rPr>
              <a:t>process</a:t>
            </a:r>
          </a:p>
          <a:p>
            <a:pPr lvl="1">
              <a:lnSpc>
                <a:spcPct val="90000"/>
              </a:lnSpc>
            </a:pPr>
            <a:r>
              <a:rPr lang="en-US" altLang="en-US" sz="1600" dirty="0">
                <a:sym typeface="Wingdings 3" panose="05040102010807070707" pitchFamily="18" charset="2"/>
              </a:rPr>
              <a:t>If several jobs ready to run at the same time  </a:t>
            </a:r>
            <a:r>
              <a:rPr lang="en-US" altLang="en-US" b="1" dirty="0">
                <a:solidFill>
                  <a:srgbClr val="006699"/>
                </a:solidFill>
                <a:latin typeface="+mj-lt"/>
                <a:sym typeface="Wingdings 3" panose="05040102010807070707" pitchFamily="18" charset="2"/>
              </a:rPr>
              <a:t>CPU scheduling</a:t>
            </a:r>
          </a:p>
        </p:txBody>
      </p:sp>
    </p:spTree>
    <p:extLst>
      <p:ext uri="{BB962C8B-B14F-4D97-AF65-F5344CB8AC3E}">
        <p14:creationId xmlns:p14="http://schemas.microsoft.com/office/powerpoint/2010/main" val="1990771269"/>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1033463" y="198438"/>
            <a:ext cx="8229600" cy="576262"/>
          </a:xfrm>
        </p:spPr>
        <p:txBody>
          <a:bodyPr/>
          <a:lstStyle/>
          <a:p>
            <a:pPr eaLnBrk="1" hangingPunct="1"/>
            <a:r>
              <a:rPr lang="en-US" altLang="en-US" sz="2800"/>
              <a:t>Memory Layout for Multiprogrammed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5488" y="1327603"/>
            <a:ext cx="2270125"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806451" y="1233488"/>
            <a:ext cx="7011168" cy="4624701"/>
          </a:xfrm>
        </p:spPr>
        <p:txBody>
          <a:bodyPr/>
          <a:lstStyle/>
          <a:p>
            <a:pPr>
              <a:lnSpc>
                <a:spcPct val="90000"/>
              </a:lnSpc>
            </a:pPr>
            <a:r>
              <a:rPr lang="en-US" altLang="en-US" b="1" dirty="0">
                <a:solidFill>
                  <a:srgbClr val="006699"/>
                </a:solidFill>
                <a:latin typeface="+mj-lt"/>
              </a:rPr>
              <a:t>Dual-mode</a:t>
            </a:r>
            <a:r>
              <a:rPr lang="en-US" altLang="en-US" b="1" dirty="0">
                <a:solidFill>
                  <a:srgbClr val="3366FF"/>
                </a:solidFill>
              </a:rPr>
              <a:t> </a:t>
            </a:r>
            <a:r>
              <a:rPr lang="en-US" altLang="en-US" dirty="0"/>
              <a:t>operation allows OS to protect itself and other system components</a:t>
            </a:r>
          </a:p>
          <a:p>
            <a:pPr lvl="1">
              <a:lnSpc>
                <a:spcPct val="90000"/>
              </a:lnSpc>
            </a:pPr>
            <a:r>
              <a:rPr lang="en-US" altLang="en-US" b="1" dirty="0">
                <a:solidFill>
                  <a:srgbClr val="006699"/>
                </a:solidFill>
                <a:latin typeface="+mj-lt"/>
              </a:rPr>
              <a:t>User mode </a:t>
            </a:r>
            <a:r>
              <a:rPr lang="en-US" altLang="en-US" dirty="0"/>
              <a:t>and </a:t>
            </a:r>
            <a:r>
              <a:rPr lang="en-US" altLang="en-US" b="1" dirty="0">
                <a:solidFill>
                  <a:srgbClr val="006699"/>
                </a:solidFill>
                <a:latin typeface="+mj-lt"/>
              </a:rPr>
              <a:t>kernel mode </a:t>
            </a:r>
          </a:p>
          <a:p>
            <a:pPr>
              <a:lnSpc>
                <a:spcPct val="90000"/>
              </a:lnSpc>
            </a:pPr>
            <a:r>
              <a:rPr lang="en-US" altLang="en-US" b="1" dirty="0">
                <a:solidFill>
                  <a:srgbClr val="006699"/>
                </a:solidFill>
                <a:latin typeface="+mj-lt"/>
              </a:rPr>
              <a:t>Mode bit </a:t>
            </a:r>
            <a:r>
              <a:rPr lang="en-US" altLang="en-US"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a:p>
            <a:pPr>
              <a:lnSpc>
                <a:spcPct val="90000"/>
              </a:lnSpc>
            </a:pPr>
            <a:r>
              <a:rPr lang="en-US" altLang="en-US"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dirty="0"/>
              <a:t>Some instructions designated as </a:t>
            </a:r>
            <a:r>
              <a:rPr lang="en-US" altLang="en-US" b="1" dirty="0">
                <a:solidFill>
                  <a:srgbClr val="006699"/>
                </a:solidFill>
                <a:latin typeface="+mj-lt"/>
              </a:rPr>
              <a:t>privileged</a:t>
            </a:r>
            <a:r>
              <a:rPr lang="en-US" altLang="en-US" dirty="0"/>
              <a:t>, only executable in kernel mode</a:t>
            </a:r>
          </a:p>
        </p:txBody>
      </p:sp>
    </p:spTree>
    <p:extLst>
      <p:ext uri="{BB962C8B-B14F-4D97-AF65-F5344CB8AC3E}">
        <p14:creationId xmlns:p14="http://schemas.microsoft.com/office/powerpoint/2010/main" val="3654188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a:t>Transition from User to Kernel Mode</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8512" y="1305890"/>
            <a:ext cx="705326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87843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793750" y="1060450"/>
            <a:ext cx="7781925" cy="2817813"/>
          </a:xfrm>
        </p:spPr>
        <p:txBody>
          <a:bodyPr/>
          <a:lstStyle/>
          <a:p>
            <a:r>
              <a:rPr lang="en-US" altLang="en-US"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774700" y="809625"/>
            <a:ext cx="7753350" cy="5105400"/>
          </a:xfrm>
        </p:spPr>
        <p:txBody>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a:t>
            </a:r>
            <a:r>
              <a:rPr lang="en-US" altLang="en-US" dirty="0"/>
              <a:t> process is </a:t>
            </a:r>
            <a:r>
              <a:rPr lang="en-US" altLang="en-US" dirty="0">
                <a:solidFill>
                  <a:srgbClr val="000000"/>
                </a:solidFill>
              </a:rPr>
              <a:t>an </a:t>
            </a:r>
            <a:r>
              <a:rPr lang="en-US" altLang="en-US" b="1" i="1" dirty="0">
                <a:solidFill>
                  <a:srgbClr val="000000"/>
                </a:solidFill>
              </a:rPr>
              <a:t>active entity</a:t>
            </a:r>
            <a:r>
              <a:rPr lang="en-US" altLang="en-US" dirty="0"/>
              <a:t>.</a:t>
            </a:r>
          </a:p>
          <a:p>
            <a:pPr>
              <a:lnSpc>
                <a:spcPct val="90000"/>
              </a:lnSpc>
            </a:pPr>
            <a:r>
              <a:rPr lang="en-US" altLang="en-US" dirty="0"/>
              <a:t>Process needs resources to accomplish its task</a:t>
            </a:r>
          </a:p>
          <a:p>
            <a:pPr lvl="1">
              <a:lnSpc>
                <a:spcPct val="90000"/>
              </a:lnSpc>
            </a:pPr>
            <a:r>
              <a:rPr lang="en-US" altLang="en-US" dirty="0"/>
              <a:t>CPU, memory, I/O, files</a:t>
            </a:r>
          </a:p>
          <a:p>
            <a:pPr lvl="1">
              <a:lnSpc>
                <a:spcPct val="90000"/>
              </a:lnSpc>
            </a:pPr>
            <a:r>
              <a:rPr lang="en-US" altLang="en-US" dirty="0"/>
              <a:t>Initialization data</a:t>
            </a:r>
          </a:p>
          <a:p>
            <a:pPr>
              <a:lnSpc>
                <a:spcPct val="90000"/>
              </a:lnSpc>
            </a:pPr>
            <a:r>
              <a:rPr lang="en-US" altLang="en-US" dirty="0"/>
              <a:t>Process termination requires reclaim of any reusable resources</a:t>
            </a:r>
          </a:p>
          <a:p>
            <a:pPr>
              <a:lnSpc>
                <a:spcPct val="90000"/>
              </a:lnSpc>
            </a:pPr>
            <a:r>
              <a:rPr lang="en-US" altLang="en-US" dirty="0"/>
              <a:t>Single-threaded process has one </a:t>
            </a:r>
            <a:r>
              <a:rPr lang="en-US" altLang="en-US" b="1" dirty="0">
                <a:solidFill>
                  <a:srgbClr val="006699"/>
                </a:solidFill>
                <a:latin typeface="+mj-lt"/>
              </a:rPr>
              <a:t>program counter </a:t>
            </a:r>
            <a:r>
              <a:rPr lang="en-US" altLang="en-US" dirty="0"/>
              <a:t>specifying location of next instruction to execute</a:t>
            </a:r>
          </a:p>
          <a:p>
            <a:pPr lvl="1">
              <a:lnSpc>
                <a:spcPct val="90000"/>
              </a:lnSpc>
            </a:pPr>
            <a:r>
              <a:rPr lang="en-US" altLang="en-US" dirty="0"/>
              <a:t>Process executes instructions sequentially, one at a time, until completion</a:t>
            </a:r>
          </a:p>
          <a:p>
            <a:pPr>
              <a:lnSpc>
                <a:spcPct val="90000"/>
              </a:lnSpc>
            </a:pPr>
            <a:r>
              <a:rPr lang="en-US" altLang="en-US" dirty="0"/>
              <a:t>Multi-threaded process has one program counter per thread</a:t>
            </a:r>
          </a:p>
          <a:p>
            <a:pPr>
              <a:lnSpc>
                <a:spcPct val="90000"/>
              </a:lnSpc>
            </a:pPr>
            <a:r>
              <a:rPr lang="en-US" altLang="en-US" dirty="0"/>
              <a:t>Typically system has many processes, some user, some operating system running concurrently on one or more CPUs</a:t>
            </a:r>
          </a:p>
          <a:p>
            <a:pPr lvl="1">
              <a:lnSpc>
                <a:spcPct val="90000"/>
              </a:lnSpc>
            </a:pPr>
            <a:r>
              <a:rPr lang="en-US" altLang="en-US" dirty="0"/>
              <a:t>Concurrency by multiplexing the CPUs among the processes / threads</a:t>
            </a:r>
          </a:p>
          <a:p>
            <a:pPr>
              <a:lnSpc>
                <a:spcPct val="90000"/>
              </a:lnSpc>
              <a:buFont typeface="Monotype Sorts" pitchFamily="-84" charset="2"/>
              <a:buNone/>
            </a:pPr>
            <a:endParaRPr lang="en-US"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587500"/>
            <a:ext cx="7670800" cy="4035425"/>
          </a:xfrm>
        </p:spPr>
        <p:txBody>
          <a:bodyPr/>
          <a:lstStyle/>
          <a:p>
            <a:pPr>
              <a:buFont typeface="Monotype Sorts" pitchFamily="-84" charset="2"/>
              <a:buNone/>
            </a:pPr>
            <a:r>
              <a:rPr lang="en-US" altLang="en-US"/>
              <a:t>     </a:t>
            </a:r>
          </a:p>
          <a:p>
            <a:r>
              <a:rPr lang="en-US" altLang="en-US"/>
              <a:t>Creating and deleting both user and system processes</a:t>
            </a:r>
          </a:p>
          <a:p>
            <a:r>
              <a:rPr lang="en-US" altLang="en-US"/>
              <a:t>Suspending and resuming processes</a:t>
            </a:r>
          </a:p>
          <a:p>
            <a:r>
              <a:rPr lang="en-US" altLang="en-US"/>
              <a:t>Providing mechanisms for process synchronization</a:t>
            </a:r>
          </a:p>
          <a:p>
            <a:r>
              <a:rPr lang="en-US" altLang="en-US"/>
              <a:t>Providing mechanisms for process communication</a:t>
            </a:r>
          </a:p>
          <a:p>
            <a:r>
              <a:rPr lang="en-US" altLang="en-US"/>
              <a:t>Providing mechanisms for deadlock handling</a:t>
            </a:r>
          </a:p>
        </p:txBody>
      </p:sp>
      <p:sp>
        <p:nvSpPr>
          <p:cNvPr id="71684" name="Text Box 4">
            <a:extLst>
              <a:ext uri="{FF2B5EF4-FFF2-40B4-BE49-F238E27FC236}">
                <a16:creationId xmlns:a16="http://schemas.microsoft.com/office/drawing/2014/main" id="{0F4920AE-C24F-4920-A30F-9A6939866779}"/>
              </a:ext>
            </a:extLst>
          </p:cNvPr>
          <p:cNvSpPr txBox="1">
            <a:spLocks noChangeArrowheads="1"/>
          </p:cNvSpPr>
          <p:nvPr/>
        </p:nvSpPr>
        <p:spPr bwMode="auto">
          <a:xfrm>
            <a:off x="801688"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806450" y="1233488"/>
            <a:ext cx="7740650" cy="4530725"/>
          </a:xfrm>
        </p:spPr>
        <p:txBody>
          <a:bodyPr/>
          <a:lstStyle/>
          <a:p>
            <a:r>
              <a:rPr lang="en-US" altLang="en-US"/>
              <a:t>To execute a program all (or part) of the instructions must be in memory</a:t>
            </a:r>
          </a:p>
          <a:p>
            <a:r>
              <a:rPr lang="en-US" altLang="en-US"/>
              <a:t>All  (or part) of the data that is needed by the program must be in memory</a:t>
            </a:r>
            <a:endParaRPr lang="en-US" altLang="en-US" sz="800"/>
          </a:p>
          <a:p>
            <a:r>
              <a:rPr lang="en-US" altLang="en-US"/>
              <a:t>Memory management determines what is in memory and when</a:t>
            </a:r>
          </a:p>
          <a:p>
            <a:pPr lvl="1"/>
            <a:r>
              <a:rPr lang="en-US" altLang="en-US"/>
              <a:t>Optimizing CPU utilization and computer response to users</a:t>
            </a:r>
            <a:endParaRPr lang="en-US" altLang="en-US" sz="800"/>
          </a:p>
          <a:p>
            <a:r>
              <a:rPr lang="en-US" altLang="en-US"/>
              <a:t>Memory management activities</a:t>
            </a:r>
          </a:p>
          <a:p>
            <a:pPr lvl="1"/>
            <a:r>
              <a:rPr lang="en-US" altLang="en-US"/>
              <a:t>Keeping track of which parts of memory are currently being used and by whom</a:t>
            </a:r>
          </a:p>
          <a:p>
            <a:pPr lvl="1"/>
            <a:r>
              <a:rPr lang="en-US" altLang="en-US"/>
              <a:t>Deciding which processes (or parts thereof) and data to move into and out of memory</a:t>
            </a:r>
          </a:p>
          <a:p>
            <a:pPr lvl="1"/>
            <a:r>
              <a:rPr lang="en-US" altLang="en-US"/>
              <a:t>Allocating and deallocating memory space as needed</a:t>
            </a:r>
          </a:p>
          <a:p>
            <a:pPr lvl="1">
              <a:buFont typeface="Monotype Sorts" pitchFamily="-84" charset="2"/>
              <a:buNone/>
            </a:pPr>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dirty="0"/>
              <a:t>OS provides uniform, logical view of information storage</a:t>
            </a:r>
          </a:p>
          <a:p>
            <a:pPr lvl="1">
              <a:lnSpc>
                <a:spcPct val="90000"/>
              </a:lnSpc>
            </a:pPr>
            <a:r>
              <a:rPr lang="en-US" altLang="en-US" dirty="0"/>
              <a:t>Abstracts physical properties to logical storage unit  - </a:t>
            </a:r>
            <a:r>
              <a:rPr lang="en-US" altLang="en-US" b="1" dirty="0">
                <a:solidFill>
                  <a:srgbClr val="006699"/>
                </a:solidFill>
                <a:latin typeface="+mj-lt"/>
              </a:rPr>
              <a:t>file</a:t>
            </a:r>
          </a:p>
          <a:p>
            <a:pPr lvl="1">
              <a:lnSpc>
                <a:spcPct val="90000"/>
              </a:lnSpc>
            </a:pPr>
            <a:r>
              <a:rPr lang="en-US" altLang="en-US" dirty="0"/>
              <a:t>Each medium is controlled by device (i.e., disk drive, tape drive)</a:t>
            </a:r>
          </a:p>
          <a:p>
            <a:pPr lvl="2">
              <a:lnSpc>
                <a:spcPct val="90000"/>
              </a:lnSpc>
            </a:pPr>
            <a:r>
              <a:rPr lang="en-US" altLang="en-US" dirty="0"/>
              <a:t>Varying properties include access speed, capacity, data-transfer rate, access method (sequential or random)</a:t>
            </a:r>
          </a:p>
          <a:p>
            <a:pPr lvl="2">
              <a:lnSpc>
                <a:spcPct val="90000"/>
              </a:lnSpc>
            </a:pPr>
            <a:endParaRPr lang="en-US" altLang="en-US" sz="800" dirty="0"/>
          </a:p>
          <a:p>
            <a:pPr>
              <a:lnSpc>
                <a:spcPct val="90000"/>
              </a:lnSpc>
            </a:pPr>
            <a:r>
              <a:rPr lang="en-US" altLang="en-US" dirty="0"/>
              <a:t>File-System management</a:t>
            </a:r>
          </a:p>
          <a:p>
            <a:pPr lvl="1">
              <a:lnSpc>
                <a:spcPct val="90000"/>
              </a:lnSpc>
            </a:pPr>
            <a:r>
              <a:rPr lang="en-US" altLang="en-US" dirty="0"/>
              <a:t>Files usually organized into directories</a:t>
            </a:r>
          </a:p>
          <a:p>
            <a:pPr lvl="1">
              <a:lnSpc>
                <a:spcPct val="90000"/>
              </a:lnSpc>
            </a:pPr>
            <a:r>
              <a:rPr lang="en-US" altLang="en-US" dirty="0"/>
              <a:t>Access control on most systems to determine who can access what</a:t>
            </a:r>
          </a:p>
          <a:p>
            <a:pPr lvl="1">
              <a:lnSpc>
                <a:spcPct val="90000"/>
              </a:lnSpc>
            </a:pPr>
            <a:r>
              <a:rPr lang="en-US" altLang="en-US" dirty="0"/>
              <a:t>OS activities include</a:t>
            </a:r>
          </a:p>
          <a:p>
            <a:pPr lvl="2">
              <a:lnSpc>
                <a:spcPct val="90000"/>
              </a:lnSpc>
            </a:pPr>
            <a:r>
              <a:rPr lang="en-US" altLang="en-US" dirty="0"/>
              <a:t>Creating and deleting files and directories</a:t>
            </a:r>
          </a:p>
          <a:p>
            <a:pPr lvl="2">
              <a:lnSpc>
                <a:spcPct val="90000"/>
              </a:lnSpc>
            </a:pPr>
            <a:r>
              <a:rPr lang="en-US" altLang="en-US" dirty="0"/>
              <a:t>Primitives to manipulate files and directories</a:t>
            </a:r>
          </a:p>
          <a:p>
            <a:pPr lvl="2">
              <a:lnSpc>
                <a:spcPct val="90000"/>
              </a:lnSpc>
            </a:pPr>
            <a:r>
              <a:rPr lang="en-US" altLang="en-US" dirty="0"/>
              <a:t>Mapping files onto secondary storage</a:t>
            </a:r>
          </a:p>
          <a:p>
            <a:pPr lvl="2">
              <a:lnSpc>
                <a:spcPct val="90000"/>
              </a:lnSpc>
            </a:pPr>
            <a:r>
              <a:rPr lang="en-US" altLang="en-US" dirty="0"/>
              <a:t>Backup files onto stable (non-volatile) storage media</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005881" cy="4658091"/>
          </a:xfrm>
        </p:spPr>
        <p:txBody>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p>
          <a:p>
            <a:r>
              <a:rPr lang="en-US" altLang="en-US" dirty="0"/>
              <a:t>Proper management is of central importance</a:t>
            </a:r>
          </a:p>
          <a:p>
            <a:r>
              <a:rPr lang="en-US" altLang="en-US" dirty="0"/>
              <a:t>Entire speed of computer operation hinges on disk subsystem and its algorithms</a:t>
            </a:r>
          </a:p>
          <a:p>
            <a:r>
              <a:rPr lang="en-US" altLang="en-US" dirty="0"/>
              <a:t>OS activities</a:t>
            </a:r>
          </a:p>
          <a:p>
            <a:pPr lvl="1"/>
            <a:r>
              <a:rPr lang="en-US" altLang="en-US" dirty="0"/>
              <a:t>Mounting and unmounting</a:t>
            </a:r>
          </a:p>
          <a:p>
            <a:pPr lvl="1"/>
            <a:r>
              <a:rPr lang="en-US" altLang="en-US" dirty="0"/>
              <a:t>Free-space management</a:t>
            </a:r>
          </a:p>
          <a:p>
            <a:pPr lvl="1"/>
            <a:r>
              <a:rPr lang="en-US" altLang="en-US" dirty="0"/>
              <a:t>Storage allocation</a:t>
            </a:r>
          </a:p>
          <a:p>
            <a:pPr lvl="1"/>
            <a:r>
              <a:rPr lang="en-US" altLang="en-US" dirty="0"/>
              <a:t>Disk scheduling</a:t>
            </a:r>
          </a:p>
          <a:p>
            <a:pPr lvl="1"/>
            <a:r>
              <a:rPr lang="en-US" altLang="en-US" dirty="0"/>
              <a:t>Partitioning</a:t>
            </a:r>
          </a:p>
          <a:p>
            <a:pPr lvl="1"/>
            <a:r>
              <a:rPr lang="en-US" altLang="en-US" dirty="0"/>
              <a:t>Protection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9" y="1233488"/>
            <a:ext cx="6826058" cy="4725185"/>
          </a:xfrm>
        </p:spPr>
        <p:txBody>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endParaRPr lang="en-US" altLang="en-US" sz="800" dirty="0"/>
          </a:p>
          <a:p>
            <a:r>
              <a:rPr lang="en-US" altLang="en-US" dirty="0"/>
              <a:t>Cache smaller than storage being cached</a:t>
            </a:r>
          </a:p>
          <a:p>
            <a:pPr lvl="1"/>
            <a:r>
              <a:rPr lang="en-US" altLang="en-US" dirty="0"/>
              <a:t>Cache management important design problem</a:t>
            </a:r>
          </a:p>
          <a:p>
            <a:pPr lvl="1"/>
            <a:r>
              <a:rPr lang="en-US" altLang="en-US" dirty="0"/>
              <a:t>Cache size and replacement policy</a:t>
            </a:r>
          </a:p>
          <a:p>
            <a:pPr>
              <a:buFont typeface="Monotype Sorts" pitchFamily="-84" charset="2"/>
              <a:buNone/>
            </a:pPr>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833438" y="145822"/>
            <a:ext cx="8531225" cy="576262"/>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806450" y="1233488"/>
            <a:ext cx="7707313" cy="4521200"/>
          </a:xfrm>
        </p:spPr>
        <p:txBody>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Font typeface="Monotype Sorts" charse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463" y="1139825"/>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806450" y="1233488"/>
            <a:ext cx="7597321" cy="4503283"/>
          </a:xfrm>
        </p:spPr>
        <p:txBody>
          <a:bodyPr/>
          <a:lstStyle/>
          <a:p>
            <a:r>
              <a:rPr lang="en-US" altLang="en-US" dirty="0"/>
              <a:t>Multitasking environments must be careful to use most recent value, no matter where it is stored in the storage hierarchy</a:t>
            </a:r>
            <a:br>
              <a:rPr lang="en-US" altLang="en-US" dirty="0"/>
            </a:br>
            <a:br>
              <a:rPr lang="en-US" altLang="en-US" dirty="0"/>
            </a:br>
            <a:br>
              <a:rPr lang="en-US" altLang="en-US" dirty="0"/>
            </a:br>
            <a:br>
              <a:rPr lang="en-US" altLang="en-US" dirty="0"/>
            </a:br>
            <a:endParaRPr lang="en-US" altLang="en-US" dirty="0"/>
          </a:p>
          <a:p>
            <a:r>
              <a:rPr lang="en-US" altLang="en-US" dirty="0"/>
              <a:t>Multiprocessor environment must provide </a:t>
            </a:r>
            <a:r>
              <a:rPr lang="en-US" altLang="en-US" b="1" dirty="0">
                <a:solidFill>
                  <a:srgbClr val="006699"/>
                </a:solidFill>
                <a:latin typeface="+mj-lt"/>
              </a:rPr>
              <a:t>cache coherency </a:t>
            </a:r>
            <a:r>
              <a:rPr lang="en-US" altLang="en-US" dirty="0"/>
              <a:t>in hardware such that all CPUs have the most recent value in their cache</a:t>
            </a:r>
            <a:endParaRPr lang="en-US" altLang="en-US" sz="800" dirty="0"/>
          </a:p>
          <a:p>
            <a:r>
              <a:rPr lang="en-US" altLang="en-US" dirty="0"/>
              <a:t>Distributed environment situation even more complex</a:t>
            </a:r>
          </a:p>
          <a:p>
            <a:pPr lvl="1"/>
            <a:r>
              <a:rPr lang="en-US" altLang="en-US" dirty="0"/>
              <a:t>Several copies of a datum </a:t>
            </a:r>
            <a:r>
              <a:rPr lang="en-US" altLang="en-US"/>
              <a:t>can exist</a:t>
            </a:r>
            <a:endParaRPr lang="en-US" altLang="en-US" dirty="0"/>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7686675" cy="4530725"/>
          </a:xfrm>
        </p:spPr>
        <p:txBody>
          <a:bodyPr/>
          <a:lstStyle/>
          <a:p>
            <a:r>
              <a:rPr lang="en-US" altLang="en-US"/>
              <a:t>One purpose of OS is to hide peculiarities of hardware devices from the user</a:t>
            </a:r>
          </a:p>
          <a:p>
            <a:r>
              <a:rPr lang="en-US" altLang="en-US"/>
              <a:t>I/O subsystem responsible for</a:t>
            </a:r>
          </a:p>
          <a:p>
            <a:pPr lvl="1"/>
            <a:r>
              <a:rPr lang="en-US" altLang="en-US"/>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a:t>General device-driver interface</a:t>
            </a:r>
          </a:p>
          <a:p>
            <a:pPr lvl="1"/>
            <a:r>
              <a:rPr lang="en-US" altLang="en-US"/>
              <a:t>Drivers for specific hardware devices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806450" y="1233488"/>
            <a:ext cx="7648575" cy="5183187"/>
          </a:xfrm>
        </p:spPr>
        <p:txBody>
          <a:bodyPr/>
          <a:lstStyle/>
          <a:p>
            <a:pPr>
              <a:lnSpc>
                <a:spcPct val="90000"/>
              </a:lnSpc>
            </a:pPr>
            <a:r>
              <a:rPr lang="en-US" altLang="en-US" b="1" dirty="0">
                <a:solidFill>
                  <a:srgbClr val="006699"/>
                </a:solidFill>
                <a:latin typeface="+mj-lt"/>
              </a:rPr>
              <a:t>Protection</a:t>
            </a:r>
            <a:r>
              <a:rPr lang="en-US" altLang="en-US" b="1" dirty="0">
                <a:solidFill>
                  <a:srgbClr val="3366FF"/>
                </a:solidFill>
              </a:rPr>
              <a:t> </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006699"/>
                </a:solidFill>
                <a:latin typeface="+mj-lt"/>
              </a:rPr>
              <a:t>Security</a:t>
            </a:r>
            <a:r>
              <a:rPr lang="en-US" altLang="en-US" b="1" dirty="0">
                <a:solidFill>
                  <a:srgbClr val="3366FF"/>
                </a:solidFill>
              </a:rPr>
              <a:t> </a:t>
            </a:r>
            <a:r>
              <a:rPr lang="en-US" altLang="en-US"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a:t>Virtualization</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233488"/>
            <a:ext cx="7740650" cy="4530725"/>
          </a:xfrm>
        </p:spPr>
        <p:txBody>
          <a:bodyPr/>
          <a:lstStyle/>
          <a:p>
            <a:r>
              <a:rPr lang="en-US" altLang="en-US" dirty="0"/>
              <a:t>Allows operating systems to run applications within other OSes</a:t>
            </a:r>
          </a:p>
          <a:p>
            <a:pPr lvl="1"/>
            <a:r>
              <a:rPr lang="en-US" altLang="en-US" dirty="0"/>
              <a:t>Vast and growing industry</a:t>
            </a:r>
            <a:endParaRPr lang="en-US" altLang="en-US" sz="800" dirty="0"/>
          </a:p>
          <a:p>
            <a:r>
              <a:rPr lang="en-US" altLang="en-US" b="1" dirty="0">
                <a:solidFill>
                  <a:srgbClr val="006699"/>
                </a:solidFill>
                <a:latin typeface="+mj-lt"/>
              </a:rPr>
              <a:t>Emulation</a:t>
            </a:r>
            <a:r>
              <a:rPr lang="en-US" altLang="en-US" dirty="0"/>
              <a:t> used when source CPU type different from target type (i.e. PowerPC to Intel x86)</a:t>
            </a:r>
          </a:p>
          <a:p>
            <a:pPr lvl="1"/>
            <a:r>
              <a:rPr lang="en-US" altLang="en-US" dirty="0"/>
              <a:t>Generally slowest method</a:t>
            </a:r>
          </a:p>
          <a:p>
            <a:pPr lvl="1"/>
            <a:r>
              <a:rPr lang="en-US" altLang="en-US" dirty="0"/>
              <a:t>When computer language not compiled to native code – </a:t>
            </a:r>
            <a:r>
              <a:rPr lang="en-US" altLang="en-US" b="1" dirty="0">
                <a:solidFill>
                  <a:srgbClr val="006699"/>
                </a:solidFill>
                <a:latin typeface="+mj-lt"/>
              </a:rPr>
              <a:t>Interpretation</a:t>
            </a:r>
          </a:p>
          <a:p>
            <a:r>
              <a:rPr lang="en-US" altLang="en-US" b="1" dirty="0">
                <a:solidFill>
                  <a:srgbClr val="006699"/>
                </a:solidFill>
                <a:latin typeface="+mj-lt"/>
              </a:rPr>
              <a:t>Virtualization</a:t>
            </a:r>
            <a:r>
              <a:rPr lang="en-US" altLang="en-US" dirty="0"/>
              <a:t> – OS natively compiled for CPU, running </a:t>
            </a:r>
            <a:r>
              <a:rPr lang="en-US" altLang="en-US" b="1" dirty="0">
                <a:solidFill>
                  <a:srgbClr val="006699"/>
                </a:solidFill>
                <a:latin typeface="+mj-lt"/>
              </a:rPr>
              <a:t>guest</a:t>
            </a:r>
            <a:r>
              <a:rPr lang="en-US" altLang="en-US" dirty="0"/>
              <a:t> OSes  also natively compiled </a:t>
            </a:r>
          </a:p>
          <a:p>
            <a:pPr lvl="1"/>
            <a:r>
              <a:rPr lang="en-US" altLang="en-US" dirty="0"/>
              <a:t>Consider VMware running WinXP guests, each running applications, all on native WinXP </a:t>
            </a:r>
            <a:r>
              <a:rPr lang="en-US" altLang="en-US" b="1" dirty="0">
                <a:solidFill>
                  <a:srgbClr val="006699"/>
                </a:solidFill>
                <a:latin typeface="+mj-lt"/>
              </a:rPr>
              <a:t>host </a:t>
            </a:r>
            <a:r>
              <a:rPr lang="en-US" altLang="en-US" dirty="0"/>
              <a:t>OS</a:t>
            </a:r>
          </a:p>
          <a:p>
            <a:pPr lvl="1"/>
            <a:r>
              <a:rPr lang="en-US" altLang="en-US" b="1" dirty="0">
                <a:solidFill>
                  <a:srgbClr val="006699"/>
                </a:solidFill>
                <a:latin typeface="+mj-lt"/>
              </a:rPr>
              <a:t>VMM</a:t>
            </a:r>
            <a:r>
              <a:rPr lang="en-US" altLang="en-US" dirty="0"/>
              <a:t> (virtual machine Manager) provides virtualization services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a:t>Virtualization (cont.)</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806450" y="1233488"/>
            <a:ext cx="7712075" cy="4530725"/>
          </a:xfrm>
        </p:spPr>
        <p:txBody>
          <a:bodyPr/>
          <a:lstStyle/>
          <a:p>
            <a:r>
              <a:rPr lang="en-US" altLang="en-US"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a:p>
            <a:pPr lvl="2"/>
            <a:endParaRPr lang="en-US"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1120775"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8113" y="1554163"/>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653338" cy="4530725"/>
          </a:xfrm>
        </p:spPr>
        <p:txBody>
          <a:bodyPr/>
          <a:lstStyle/>
          <a:p>
            <a:r>
              <a:rPr lang="en-US" altLang="en-US" dirty="0"/>
              <a:t>Collection of separate, possibly heterogeneous, systems networked together</a:t>
            </a:r>
          </a:p>
          <a:p>
            <a:pPr lvl="1"/>
            <a:r>
              <a:rPr lang="en-US" altLang="en-US" b="1" dirty="0">
                <a:solidFill>
                  <a:srgbClr val="006699"/>
                </a:solidFill>
                <a:latin typeface="+mj-lt"/>
              </a:rPr>
              <a:t>Network</a:t>
            </a:r>
            <a:r>
              <a:rPr lang="en-US" altLang="en-US" dirty="0"/>
              <a:t> is a communications path, </a:t>
            </a:r>
            <a:r>
              <a:rPr lang="en-US" altLang="en-US" b="1" dirty="0">
                <a:solidFill>
                  <a:srgbClr val="006699"/>
                </a:solidFill>
                <a:latin typeface="+mj-lt"/>
              </a:rPr>
              <a:t>TCP/IP </a:t>
            </a:r>
            <a:r>
              <a:rPr lang="en-US" altLang="en-US" dirty="0"/>
              <a:t>most common</a:t>
            </a:r>
          </a:p>
          <a:p>
            <a:pPr lvl="2"/>
            <a:r>
              <a:rPr lang="en-US" altLang="en-US" b="1" dirty="0">
                <a:solidFill>
                  <a:srgbClr val="006699"/>
                </a:solidFill>
                <a:latin typeface="+mj-lt"/>
              </a:rPr>
              <a:t>Local Area Network </a:t>
            </a:r>
            <a:r>
              <a:rPr lang="en-US" altLang="en-US" dirty="0"/>
              <a:t>(</a:t>
            </a:r>
            <a:r>
              <a:rPr lang="en-US" altLang="en-US" b="1" dirty="0">
                <a:solidFill>
                  <a:srgbClr val="006699"/>
                </a:solidFill>
                <a:latin typeface="+mj-lt"/>
              </a:rPr>
              <a:t>LAN</a:t>
            </a:r>
            <a:r>
              <a:rPr lang="en-US" altLang="en-US" dirty="0"/>
              <a:t>)</a:t>
            </a:r>
          </a:p>
          <a:p>
            <a:pPr lvl="2"/>
            <a:r>
              <a:rPr lang="en-US" altLang="en-US" b="1" dirty="0">
                <a:solidFill>
                  <a:srgbClr val="006699"/>
                </a:solidFill>
                <a:latin typeface="+mj-lt"/>
              </a:rPr>
              <a:t>Wide Area Network </a:t>
            </a:r>
            <a:r>
              <a:rPr lang="en-US" altLang="en-US" dirty="0"/>
              <a:t>(</a:t>
            </a:r>
            <a:r>
              <a:rPr lang="en-US" altLang="en-US" b="1" dirty="0">
                <a:solidFill>
                  <a:srgbClr val="006699"/>
                </a:solidFill>
                <a:latin typeface="+mj-lt"/>
              </a:rPr>
              <a:t>WAN</a:t>
            </a:r>
            <a:r>
              <a:rPr lang="en-US" altLang="en-US" dirty="0"/>
              <a:t>)</a:t>
            </a:r>
          </a:p>
          <a:p>
            <a:pPr lvl="2"/>
            <a:r>
              <a:rPr lang="en-US" altLang="en-US" b="1" dirty="0">
                <a:solidFill>
                  <a:srgbClr val="006699"/>
                </a:solidFill>
                <a:latin typeface="+mj-lt"/>
              </a:rPr>
              <a:t>Metropolitan Area Network </a:t>
            </a:r>
            <a:r>
              <a:rPr lang="en-US" altLang="en-US" dirty="0"/>
              <a:t>(</a:t>
            </a:r>
            <a:r>
              <a:rPr lang="en-US" altLang="en-US" b="1" dirty="0">
                <a:solidFill>
                  <a:srgbClr val="006699"/>
                </a:solidFill>
                <a:latin typeface="+mj-lt"/>
              </a:rPr>
              <a:t>MAN</a:t>
            </a:r>
            <a:r>
              <a:rPr lang="en-US" altLang="en-US" dirty="0"/>
              <a:t>)</a:t>
            </a:r>
          </a:p>
          <a:p>
            <a:pPr lvl="2"/>
            <a:r>
              <a:rPr lang="en-US" altLang="en-US" b="1" dirty="0">
                <a:solidFill>
                  <a:srgbClr val="006699"/>
                </a:solidFill>
                <a:latin typeface="+mj-lt"/>
              </a:rPr>
              <a:t>Personal Area Network </a:t>
            </a:r>
            <a:r>
              <a:rPr lang="en-US" altLang="en-US" dirty="0"/>
              <a:t>(</a:t>
            </a:r>
            <a:r>
              <a:rPr lang="en-US" altLang="en-US" b="1" dirty="0">
                <a:solidFill>
                  <a:srgbClr val="006699"/>
                </a:solidFill>
                <a:latin typeface="+mj-lt"/>
              </a:rPr>
              <a:t>PAN</a:t>
            </a:r>
            <a:r>
              <a:rPr lang="en-US" altLang="en-US" dirty="0"/>
              <a:t>)</a:t>
            </a:r>
          </a:p>
          <a:p>
            <a:r>
              <a:rPr lang="en-US" altLang="en-US" b="1" dirty="0">
                <a:solidFill>
                  <a:srgbClr val="006699"/>
                </a:solidFill>
                <a:latin typeface="+mj-lt"/>
              </a:rPr>
              <a:t>Network Operating System </a:t>
            </a:r>
            <a:r>
              <a:rPr lang="en-US" altLang="en-US" dirty="0"/>
              <a:t>provides features between systems across network</a:t>
            </a:r>
          </a:p>
          <a:p>
            <a:pPr lvl="1"/>
            <a:r>
              <a:rPr lang="en-US" altLang="en-US" dirty="0"/>
              <a:t>Communication scheme allows systems to exchange messages</a:t>
            </a:r>
          </a:p>
          <a:p>
            <a:pPr lvl="1"/>
            <a:r>
              <a:rPr lang="en-US" altLang="en-US" dirty="0"/>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676400" y="2888119"/>
            <a:ext cx="6660776" cy="1030738"/>
          </a:xfrm>
        </p:spPr>
        <p:txBody>
          <a:bodyPr/>
          <a:lstStyle/>
          <a:p>
            <a:pPr marL="457200" lvl="1" indent="0">
              <a:buNone/>
            </a:pPr>
            <a:r>
              <a:rPr lang="en-US" altLang="en-US" sz="3200" b="1" dirty="0">
                <a:solidFill>
                  <a:srgbClr val="006699"/>
                </a:solidFill>
                <a:latin typeface="+mj-lt"/>
              </a:rPr>
              <a:t>Computer System Architecture</a:t>
            </a:r>
          </a:p>
        </p:txBody>
      </p:sp>
    </p:spTree>
    <p:extLst>
      <p:ext uri="{BB962C8B-B14F-4D97-AF65-F5344CB8AC3E}">
        <p14:creationId xmlns:p14="http://schemas.microsoft.com/office/powerpoint/2010/main" val="6304112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233488"/>
            <a:ext cx="7693025" cy="4867275"/>
          </a:xfrm>
        </p:spPr>
        <p:txBody>
          <a:bodyPr/>
          <a:lstStyle/>
          <a:p>
            <a:r>
              <a:rPr lang="en-US" altLang="en-US" dirty="0"/>
              <a:t>Most systems use a single general-purpose processor</a:t>
            </a:r>
          </a:p>
          <a:p>
            <a:pPr lvl="1"/>
            <a:r>
              <a:rPr lang="en-US" altLang="en-US" dirty="0"/>
              <a:t>Most systems have special-purpose processors as well</a:t>
            </a:r>
            <a:endParaRPr lang="en-US" altLang="en-US" sz="800" dirty="0"/>
          </a:p>
          <a:p>
            <a:r>
              <a:rPr lang="en-US" altLang="en-US" b="1" dirty="0">
                <a:solidFill>
                  <a:srgbClr val="006699"/>
                </a:solidFill>
                <a:latin typeface="+mj-lt"/>
              </a:rPr>
              <a:t>Multiprocessors</a:t>
            </a:r>
            <a:r>
              <a:rPr lang="en-US" altLang="en-US" dirty="0">
                <a:solidFill>
                  <a:srgbClr val="3366FF"/>
                </a:solidFill>
              </a:rPr>
              <a:t> </a:t>
            </a:r>
            <a:r>
              <a:rPr lang="en-US" altLang="en-US" dirty="0"/>
              <a:t>systems growing in use and importance</a:t>
            </a:r>
          </a:p>
          <a:p>
            <a:pPr lvl="1"/>
            <a:r>
              <a:rPr lang="en-US" altLang="en-US" dirty="0"/>
              <a:t>Also known as </a:t>
            </a:r>
            <a:r>
              <a:rPr lang="en-US" altLang="en-US" b="1" dirty="0">
                <a:solidFill>
                  <a:srgbClr val="006699"/>
                </a:solidFill>
                <a:latin typeface="+mj-lt"/>
              </a:rPr>
              <a:t>parallel systems</a:t>
            </a:r>
            <a:r>
              <a:rPr lang="en-US" altLang="en-US" dirty="0"/>
              <a:t>, </a:t>
            </a:r>
            <a:r>
              <a:rPr lang="en-US" altLang="en-US" b="1" dirty="0">
                <a:solidFill>
                  <a:srgbClr val="006699"/>
                </a:solidFill>
                <a:latin typeface="+mj-lt"/>
              </a:rPr>
              <a:t>tightly-coupled systems</a:t>
            </a:r>
          </a:p>
          <a:p>
            <a:pPr lvl="1"/>
            <a:r>
              <a:rPr lang="en-US" altLang="en-US" dirty="0"/>
              <a:t>Advantages include:</a:t>
            </a:r>
          </a:p>
          <a:p>
            <a:pPr marL="1200150" lvl="2" indent="-342900">
              <a:buFont typeface="Arial" panose="020B0604020202020204" pitchFamily="34" charset="0"/>
              <a:buAutoNum type="arabicPeriod"/>
            </a:pPr>
            <a:r>
              <a:rPr lang="en-US" altLang="en-US" b="1" dirty="0">
                <a:solidFill>
                  <a:srgbClr val="006699"/>
                </a:solidFill>
                <a:latin typeface="+mj-lt"/>
              </a:rPr>
              <a:t>Increased throughput</a:t>
            </a:r>
          </a:p>
          <a:p>
            <a:pPr marL="1200150" lvl="2" indent="-342900">
              <a:buFont typeface="Arial" panose="020B0604020202020204" pitchFamily="34" charset="0"/>
              <a:buAutoNum type="arabicPeriod"/>
            </a:pPr>
            <a:r>
              <a:rPr lang="en-US" altLang="en-US" b="1" dirty="0">
                <a:solidFill>
                  <a:srgbClr val="006699"/>
                </a:solidFill>
                <a:latin typeface="+mj-lt"/>
              </a:rPr>
              <a:t>Economy of scale</a:t>
            </a:r>
          </a:p>
          <a:p>
            <a:pPr marL="1200150" lvl="2" indent="-342900">
              <a:buFont typeface="Arial" panose="020B0604020202020204" pitchFamily="34" charset="0"/>
              <a:buAutoNum type="arabicPeriod"/>
            </a:pPr>
            <a:r>
              <a:rPr lang="en-US" altLang="en-US" b="1" dirty="0">
                <a:solidFill>
                  <a:srgbClr val="006699"/>
                </a:solidFill>
                <a:latin typeface="+mj-lt"/>
              </a:rPr>
              <a:t>Increased reliability </a:t>
            </a:r>
            <a:r>
              <a:rPr lang="en-US" altLang="en-US" dirty="0"/>
              <a:t>– graceful degradation or fault tolerance</a:t>
            </a:r>
          </a:p>
          <a:p>
            <a:pPr lvl="1"/>
            <a:r>
              <a:rPr lang="en-US" altLang="en-US" dirty="0"/>
              <a:t>Two types:</a:t>
            </a:r>
          </a:p>
          <a:p>
            <a:pPr marL="1200150" lvl="2" indent="-342900">
              <a:buFont typeface="Arial" panose="020B0604020202020204" pitchFamily="34" charset="0"/>
              <a:buAutoNum type="arabicPeriod"/>
            </a:pPr>
            <a:r>
              <a:rPr lang="en-US" altLang="en-US" b="1" dirty="0">
                <a:solidFill>
                  <a:srgbClr val="006699"/>
                </a:solidFill>
                <a:latin typeface="+mj-lt"/>
              </a:rPr>
              <a:t>Asymmetric Multiprocessing</a:t>
            </a:r>
            <a:r>
              <a:rPr lang="en-US" altLang="en-US" b="1" dirty="0">
                <a:solidFill>
                  <a:srgbClr val="3366FF"/>
                </a:solidFill>
              </a:rPr>
              <a:t> </a:t>
            </a:r>
            <a:r>
              <a:rPr lang="en-US" altLang="en-US" dirty="0"/>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j-lt"/>
              </a:rPr>
              <a:t>Symmetric Multiprocessing </a:t>
            </a:r>
            <a:r>
              <a:rPr lang="en-US" altLang="en-US" dirty="0"/>
              <a:t>– each processor performs all tasks</a:t>
            </a:r>
          </a:p>
          <a:p>
            <a:pPr marL="1200150" lvl="2" indent="-342900">
              <a:buFont typeface="Webdings" panose="05030102010509060703" pitchFamily="18" charset="2"/>
              <a:buNone/>
            </a:pPr>
            <a:endParaRPr lang="en-US" altLang="en-US" dirty="0">
              <a:solidFill>
                <a:srgbClr val="3366FF"/>
              </a:solidFill>
            </a:endParaRPr>
          </a:p>
        </p:txBody>
      </p:sp>
    </p:spTree>
    <p:extLst>
      <p:ext uri="{BB962C8B-B14F-4D97-AF65-F5344CB8AC3E}">
        <p14:creationId xmlns:p14="http://schemas.microsoft.com/office/powerpoint/2010/main" val="42345177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C1410AFB-466A-4B08-A8E9-FA44DF2206BF}"/>
              </a:ext>
            </a:extLst>
          </p:cNvPr>
          <p:cNvSpPr>
            <a:spLocks noGrp="1" noChangeArrowheads="1"/>
          </p:cNvSpPr>
          <p:nvPr>
            <p:ph type="title" idx="4294967295"/>
          </p:nvPr>
        </p:nvSpPr>
        <p:spPr>
          <a:xfrm>
            <a:off x="939800" y="133350"/>
            <a:ext cx="8229600" cy="641350"/>
          </a:xfrm>
        </p:spPr>
        <p:txBody>
          <a:bodyPr/>
          <a:lstStyle/>
          <a:p>
            <a:r>
              <a:rPr lang="en-US" altLang="en-US" sz="3000"/>
              <a:t>Symmetric Multiprocessing Architecture</a:t>
            </a:r>
          </a:p>
        </p:txBody>
      </p:sp>
      <p:pic>
        <p:nvPicPr>
          <p:cNvPr id="50179" name="Picture 2">
            <a:extLst>
              <a:ext uri="{FF2B5EF4-FFF2-40B4-BE49-F238E27FC236}">
                <a16:creationId xmlns:a16="http://schemas.microsoft.com/office/drawing/2014/main" id="{61A30DEF-BA94-447F-8812-ADBD513F7D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6938" y="1822450"/>
            <a:ext cx="5051425" cy="382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4806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54075" y="1108076"/>
            <a:ext cx="6921313" cy="1216772"/>
          </a:xfrm>
        </p:spPr>
        <p:txBody>
          <a:bodyPr/>
          <a:lstStyle/>
          <a:p>
            <a:r>
              <a:rPr lang="en-US" altLang="en-US" sz="1800" dirty="0"/>
              <a:t>Multi-chip and </a:t>
            </a:r>
            <a:r>
              <a:rPr lang="en-US" altLang="en-US" sz="1800" b="1" dirty="0">
                <a:solidFill>
                  <a:srgbClr val="006699"/>
                </a:solidFill>
                <a:latin typeface="+mj-lt"/>
              </a:rPr>
              <a:t>multicore</a:t>
            </a: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p>
          <a:p>
            <a:pPr lvl="1"/>
            <a:endParaRPr lang="en-US" altLang="en-US" dirty="0"/>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9"/>
            <a:ext cx="4039281" cy="360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82AFAD1E-E934-45C6-9563-2F384ACE5648}"/>
              </a:ext>
            </a:extLst>
          </p:cNvPr>
          <p:cNvSpPr>
            <a:spLocks noGrp="1" noChangeArrowheads="1"/>
          </p:cNvSpPr>
          <p:nvPr>
            <p:ph type="title"/>
          </p:nvPr>
        </p:nvSpPr>
        <p:spPr>
          <a:xfrm>
            <a:off x="923925" y="84138"/>
            <a:ext cx="8035925" cy="709612"/>
          </a:xfrm>
        </p:spPr>
        <p:txBody>
          <a:bodyPr/>
          <a:lstStyle/>
          <a:p>
            <a:r>
              <a:rPr lang="en-US" altLang="en-US"/>
              <a:t>Non-Uniform Memory Access System</a:t>
            </a:r>
          </a:p>
        </p:txBody>
      </p:sp>
      <p:pic>
        <p:nvPicPr>
          <p:cNvPr id="54275" name="Picture 2">
            <a:extLst>
              <a:ext uri="{FF2B5EF4-FFF2-40B4-BE49-F238E27FC236}">
                <a16:creationId xmlns:a16="http://schemas.microsoft.com/office/drawing/2014/main" id="{95963655-0AB0-4CCC-A2C8-392BB4B36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0" y="1482725"/>
            <a:ext cx="4440238" cy="420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1811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p:txBody>
          <a:bodyPr/>
          <a:lstStyle/>
          <a:p>
            <a:r>
              <a:rPr lang="en-US" altLang="en-US" dirty="0"/>
              <a:t>Like multiprocessor systems, but multiple systems working together</a:t>
            </a:r>
          </a:p>
          <a:p>
            <a:pPr lvl="1"/>
            <a:r>
              <a:rPr lang="en-US" altLang="en-US" dirty="0"/>
              <a:t>Usually sharing storage via a </a:t>
            </a:r>
            <a:r>
              <a:rPr lang="en-US" altLang="en-US" b="1" dirty="0">
                <a:solidFill>
                  <a:srgbClr val="006699"/>
                </a:solidFill>
                <a:latin typeface="+mj-lt"/>
              </a:rPr>
              <a:t>storage-area network </a:t>
            </a:r>
            <a:r>
              <a:rPr lang="en-US" altLang="en-US" dirty="0"/>
              <a:t>(</a:t>
            </a:r>
            <a:r>
              <a:rPr lang="en-US" altLang="en-US" b="1" dirty="0">
                <a:solidFill>
                  <a:srgbClr val="006699"/>
                </a:solidFill>
                <a:latin typeface="+mj-lt"/>
              </a:rPr>
              <a:t>SAN</a:t>
            </a:r>
            <a:r>
              <a:rPr lang="en-US" altLang="en-US" dirty="0"/>
              <a:t>)</a:t>
            </a:r>
          </a:p>
          <a:p>
            <a:pPr lvl="1"/>
            <a:r>
              <a:rPr lang="en-US" altLang="en-US" dirty="0"/>
              <a:t>Provides a </a:t>
            </a:r>
            <a:r>
              <a:rPr lang="en-US" altLang="en-US" b="1" dirty="0">
                <a:solidFill>
                  <a:srgbClr val="006699"/>
                </a:solidFill>
                <a:latin typeface="+mj-lt"/>
              </a:rPr>
              <a:t>high-availability</a:t>
            </a:r>
            <a:r>
              <a:rPr lang="en-US" altLang="en-US" b="1" dirty="0"/>
              <a:t> </a:t>
            </a:r>
            <a:r>
              <a:rPr lang="en-US" altLang="en-US" dirty="0"/>
              <a:t>service which survives failures</a:t>
            </a:r>
          </a:p>
          <a:p>
            <a:pPr lvl="2"/>
            <a:r>
              <a:rPr lang="en-US" altLang="en-US" b="1" dirty="0">
                <a:solidFill>
                  <a:srgbClr val="006699"/>
                </a:solidFill>
                <a:latin typeface="+mj-lt"/>
              </a:rPr>
              <a:t>Asymmetric clustering </a:t>
            </a:r>
            <a:r>
              <a:rPr lang="en-US" altLang="en-US" dirty="0"/>
              <a:t>has one machine in hot-standby mode</a:t>
            </a:r>
          </a:p>
          <a:p>
            <a:pPr lvl="2"/>
            <a:r>
              <a:rPr lang="en-US" altLang="en-US" b="1" dirty="0">
                <a:solidFill>
                  <a:srgbClr val="006699"/>
                </a:solidFill>
                <a:latin typeface="+mj-lt"/>
              </a:rPr>
              <a:t>Symmetric clustering </a:t>
            </a:r>
            <a:r>
              <a:rPr lang="en-US" altLang="en-US" dirty="0"/>
              <a:t>has multiple nodes running applications, monitoring each other</a:t>
            </a:r>
          </a:p>
          <a:p>
            <a:pPr lvl="1"/>
            <a:r>
              <a:rPr lang="en-US" altLang="en-US" dirty="0"/>
              <a:t>Some clusters are for </a:t>
            </a:r>
            <a:r>
              <a:rPr lang="en-US" altLang="en-US" b="1" dirty="0">
                <a:solidFill>
                  <a:srgbClr val="006699"/>
                </a:solidFill>
                <a:latin typeface="+mj-lt"/>
              </a:rPr>
              <a:t>high-performance computing </a:t>
            </a:r>
            <a:r>
              <a:rPr lang="en-US" altLang="en-US" dirty="0"/>
              <a:t>(</a:t>
            </a:r>
            <a:r>
              <a:rPr lang="en-US" altLang="en-US" b="1" dirty="0">
                <a:solidFill>
                  <a:srgbClr val="006699"/>
                </a:solidFill>
                <a:latin typeface="+mj-lt"/>
              </a:rPr>
              <a:t>HPC</a:t>
            </a:r>
            <a:r>
              <a:rPr lang="en-US" altLang="en-US" dirty="0"/>
              <a:t>)</a:t>
            </a:r>
          </a:p>
          <a:p>
            <a:pPr lvl="2"/>
            <a:r>
              <a:rPr lang="en-US" altLang="en-US" dirty="0"/>
              <a:t>Applications must be written to use </a:t>
            </a:r>
            <a:r>
              <a:rPr lang="en-US" altLang="en-US" b="1" dirty="0">
                <a:solidFill>
                  <a:srgbClr val="006699"/>
                </a:solidFill>
                <a:latin typeface="+mj-lt"/>
              </a:rPr>
              <a:t>parallelization</a:t>
            </a:r>
          </a:p>
          <a:p>
            <a:pPr lvl="1"/>
            <a:r>
              <a:rPr lang="en-US" altLang="en-US" dirty="0"/>
              <a:t>Some have</a:t>
            </a:r>
            <a:r>
              <a:rPr lang="en-US" altLang="en-US" b="1" dirty="0">
                <a:solidFill>
                  <a:srgbClr val="3366FF"/>
                </a:solidFill>
              </a:rPr>
              <a:t> </a:t>
            </a:r>
            <a:r>
              <a:rPr lang="en-US" altLang="en-US" b="1" dirty="0">
                <a:solidFill>
                  <a:srgbClr val="006699"/>
                </a:solidFill>
                <a:latin typeface="+mj-lt"/>
              </a:rPr>
              <a:t>distributed lock manager </a:t>
            </a:r>
            <a:r>
              <a:rPr lang="en-US" altLang="en-US" dirty="0"/>
              <a:t>(</a:t>
            </a:r>
            <a:r>
              <a:rPr lang="en-US" altLang="en-US" b="1" dirty="0">
                <a:solidFill>
                  <a:srgbClr val="006699"/>
                </a:solidFill>
                <a:latin typeface="+mj-lt"/>
              </a:rPr>
              <a:t>DLM</a:t>
            </a:r>
            <a:r>
              <a:rPr lang="en-US" altLang="en-US" dirty="0"/>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399C69F4-7B4D-4100-A321-7296749C9C1C}"/>
              </a:ext>
            </a:extLst>
          </p:cNvPr>
          <p:cNvSpPr>
            <a:spLocks noGrp="1" noChangeArrowheads="1"/>
          </p:cNvSpPr>
          <p:nvPr>
            <p:ph type="title" idx="4294967295"/>
          </p:nvPr>
        </p:nvSpPr>
        <p:spPr>
          <a:xfrm>
            <a:off x="457200" y="207963"/>
            <a:ext cx="8061325" cy="576262"/>
          </a:xfrm>
        </p:spPr>
        <p:txBody>
          <a:bodyPr/>
          <a:lstStyle/>
          <a:p>
            <a:r>
              <a:rPr lang="en-US" altLang="en-US"/>
              <a:t>Clustered Systems</a:t>
            </a:r>
          </a:p>
        </p:txBody>
      </p:sp>
      <p:pic>
        <p:nvPicPr>
          <p:cNvPr id="57347" name="Picture 2">
            <a:extLst>
              <a:ext uri="{FF2B5EF4-FFF2-40B4-BE49-F238E27FC236}">
                <a16:creationId xmlns:a16="http://schemas.microsoft.com/office/drawing/2014/main" id="{372567EC-7590-4FE5-8D94-D772F81D0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7275" y="2058988"/>
            <a:ext cx="5148263"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51997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80D2F35F-C53D-47E7-B577-3884591241BC}"/>
              </a:ext>
            </a:extLst>
          </p:cNvPr>
          <p:cNvSpPr>
            <a:spLocks noGrp="1" noChangeArrowheads="1"/>
          </p:cNvSpPr>
          <p:nvPr>
            <p:ph type="title"/>
          </p:nvPr>
        </p:nvSpPr>
        <p:spPr>
          <a:xfrm>
            <a:off x="457200" y="222250"/>
            <a:ext cx="8015288" cy="576263"/>
          </a:xfrm>
        </p:spPr>
        <p:txBody>
          <a:bodyPr/>
          <a:lstStyle/>
          <a:p>
            <a:r>
              <a:rPr lang="en-US" altLang="en-US"/>
              <a:t>PC Motherboard</a:t>
            </a:r>
          </a:p>
        </p:txBody>
      </p:sp>
      <p:pic>
        <p:nvPicPr>
          <p:cNvPr id="58371" name="Picture 5">
            <a:extLst>
              <a:ext uri="{FF2B5EF4-FFF2-40B4-BE49-F238E27FC236}">
                <a16:creationId xmlns:a16="http://schemas.microsoft.com/office/drawing/2014/main" id="{5878A734-D8F6-4F7D-8433-2C96A52E7C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0738" y="1046163"/>
            <a:ext cx="6867525" cy="5349875"/>
          </a:xfrm>
          <a:noFill/>
        </p:spPr>
      </p:pic>
    </p:spTree>
    <p:extLst>
      <p:ext uri="{BB962C8B-B14F-4D97-AF65-F5344CB8AC3E}">
        <p14:creationId xmlns:p14="http://schemas.microsoft.com/office/powerpoint/2010/main" val="40306514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446306" y="2888119"/>
            <a:ext cx="7016376" cy="1030738"/>
          </a:xfrm>
        </p:spPr>
        <p:txBody>
          <a:bodyPr/>
          <a:lstStyle/>
          <a:p>
            <a:pPr marL="457200" lvl="1" indent="0">
              <a:buNone/>
            </a:pPr>
            <a:r>
              <a:rPr lang="en-US" altLang="en-US" sz="3200" b="1" dirty="0">
                <a:solidFill>
                  <a:srgbClr val="006699"/>
                </a:solidFill>
                <a:latin typeface="+mj-lt"/>
              </a:rPr>
              <a:t>Computer System Environments</a:t>
            </a:r>
          </a:p>
        </p:txBody>
      </p:sp>
    </p:spTree>
    <p:extLst>
      <p:ext uri="{BB962C8B-B14F-4D97-AF65-F5344CB8AC3E}">
        <p14:creationId xmlns:p14="http://schemas.microsoft.com/office/powerpoint/2010/main" val="29483035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Traditional</a:t>
            </a:r>
          </a:p>
          <a:p>
            <a:r>
              <a:rPr lang="en-US" altLang="en-US" dirty="0"/>
              <a:t>Mobile</a:t>
            </a:r>
          </a:p>
          <a:p>
            <a:r>
              <a:rPr lang="en-US" altLang="en-US" dirty="0"/>
              <a:t>Client Server</a:t>
            </a:r>
          </a:p>
          <a:p>
            <a:r>
              <a:rPr lang="en-US" altLang="en-US" dirty="0"/>
              <a:t>Peer-to-Peer</a:t>
            </a:r>
          </a:p>
          <a:p>
            <a:r>
              <a:rPr lang="en-US" altLang="en-US" dirty="0"/>
              <a:t>Cloud computing</a:t>
            </a:r>
          </a:p>
          <a:p>
            <a:r>
              <a:rPr lang="en-US" altLang="en-US" dirty="0"/>
              <a:t>Real-time Embedded</a:t>
            </a:r>
          </a:p>
          <a:p>
            <a:endParaRPr lang="en-US" altLang="en-US" dirty="0"/>
          </a:p>
        </p:txBody>
      </p:sp>
    </p:spTree>
    <p:extLst>
      <p:ext uri="{BB962C8B-B14F-4D97-AF65-F5344CB8AC3E}">
        <p14:creationId xmlns:p14="http://schemas.microsoft.com/office/powerpoint/2010/main" val="4248804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Stand-alone general-purpose machines</a:t>
            </a:r>
          </a:p>
          <a:p>
            <a:r>
              <a:rPr lang="en-US" altLang="en-US" dirty="0"/>
              <a:t>But blurred as most systems interconnect with others (i.e., the Internet)</a:t>
            </a:r>
          </a:p>
          <a:p>
            <a:r>
              <a:rPr lang="en-US" altLang="en-US" b="1" dirty="0">
                <a:solidFill>
                  <a:srgbClr val="006699"/>
                </a:solidFill>
                <a:latin typeface="+mj-lt"/>
              </a:rPr>
              <a:t>Portals</a:t>
            </a:r>
            <a:r>
              <a:rPr lang="en-US" altLang="en-US" dirty="0"/>
              <a:t> provide web access to internal systems</a:t>
            </a:r>
          </a:p>
          <a:p>
            <a:r>
              <a:rPr lang="en-US" altLang="en-US" b="1" dirty="0">
                <a:solidFill>
                  <a:srgbClr val="006699"/>
                </a:solidFill>
                <a:latin typeface="+mj-lt"/>
              </a:rPr>
              <a:t>Network computers </a:t>
            </a:r>
            <a:r>
              <a:rPr lang="en-US" altLang="en-US" dirty="0"/>
              <a:t>(</a:t>
            </a:r>
            <a:r>
              <a:rPr lang="en-US" altLang="en-US" b="1" dirty="0">
                <a:solidFill>
                  <a:srgbClr val="006699"/>
                </a:solidFill>
                <a:latin typeface="+mj-lt"/>
              </a:rPr>
              <a:t>thin clients</a:t>
            </a:r>
            <a:r>
              <a:rPr lang="en-US" altLang="en-US" dirty="0"/>
              <a:t>) are like Web terminals</a:t>
            </a:r>
          </a:p>
          <a:p>
            <a:r>
              <a:rPr lang="en-US" altLang="en-US" dirty="0"/>
              <a:t>Mobile computers interconnect via </a:t>
            </a:r>
            <a:r>
              <a:rPr lang="en-US" altLang="en-US" b="1" dirty="0">
                <a:solidFill>
                  <a:srgbClr val="006699"/>
                </a:solidFill>
                <a:latin typeface="+mj-lt"/>
              </a:rPr>
              <a:t>wireless networks</a:t>
            </a:r>
          </a:p>
          <a:p>
            <a:r>
              <a:rPr lang="en-US" altLang="en-US" dirty="0"/>
              <a:t>Networking becoming ubiquitous – even home systems use </a:t>
            </a:r>
            <a:r>
              <a:rPr lang="en-US" altLang="en-US" b="1" dirty="0">
                <a:solidFill>
                  <a:srgbClr val="006699"/>
                </a:solidFill>
                <a:latin typeface="+mj-lt"/>
              </a:rPr>
              <a:t>firewalls</a:t>
            </a:r>
            <a:r>
              <a:rPr lang="en-US" altLang="en-US" dirty="0"/>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811213" y="1209674"/>
            <a:ext cx="7026501" cy="4178756"/>
          </a:xfrm>
        </p:spPr>
        <p:txBody>
          <a:bodyPr/>
          <a:lstStyle/>
          <a:p>
            <a:r>
              <a:rPr lang="en-US" altLang="en-US" dirty="0"/>
              <a:t>Handheld smartphones, tablets, etc.</a:t>
            </a:r>
          </a:p>
          <a:p>
            <a:r>
              <a:rPr lang="en-US" altLang="en-US" dirty="0"/>
              <a:t>What is the functional difference between them and a “traditional” laptop?</a:t>
            </a:r>
          </a:p>
          <a:p>
            <a:r>
              <a:rPr lang="en-US" altLang="en-US" dirty="0"/>
              <a:t>Extra feature – more OS features (GPS, gyroscope)</a:t>
            </a:r>
          </a:p>
          <a:p>
            <a:r>
              <a:rPr lang="en-US" altLang="en-US" dirty="0"/>
              <a:t>Allows new types of apps like </a:t>
            </a:r>
            <a:r>
              <a:rPr lang="en-US" altLang="en-US" b="1" i="1" dirty="0"/>
              <a:t>augmented reality</a:t>
            </a:r>
          </a:p>
          <a:p>
            <a:r>
              <a:rPr lang="en-US" altLang="en-US" dirty="0"/>
              <a:t>Use IEEE 802.11 wireless, or cellular data networks for connectivity</a:t>
            </a:r>
          </a:p>
          <a:p>
            <a:r>
              <a:rPr lang="en-US" altLang="en-US" dirty="0"/>
              <a:t>Leaders are </a:t>
            </a:r>
            <a:r>
              <a:rPr lang="en-US" altLang="en-US" b="1" dirty="0">
                <a:solidFill>
                  <a:srgbClr val="006699"/>
                </a:solidFill>
                <a:latin typeface="+mj-lt"/>
              </a:rPr>
              <a:t>Apple iOS </a:t>
            </a:r>
            <a:r>
              <a:rPr lang="en-US" altLang="en-US" dirty="0"/>
              <a:t>and </a:t>
            </a:r>
            <a:r>
              <a:rPr lang="en-US" altLang="en-US" b="1" dirty="0">
                <a:solidFill>
                  <a:srgbClr val="006699"/>
                </a:solidFill>
                <a:latin typeface="+mj-lt"/>
              </a:rPr>
              <a:t>Google Android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sz="2800"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dirty="0"/>
              <a:t>Client-Server Computing</a:t>
            </a:r>
          </a:p>
          <a:p>
            <a:pPr lvl="1">
              <a:lnSpc>
                <a:spcPct val="90000"/>
              </a:lnSpc>
              <a:buSzPct val="80000"/>
            </a:pPr>
            <a:r>
              <a:rPr lang="en-US" altLang="en-US" dirty="0"/>
              <a:t>Dumb terminals supplanted by smart PCs</a:t>
            </a:r>
          </a:p>
          <a:p>
            <a:pPr lvl="1">
              <a:lnSpc>
                <a:spcPct val="90000"/>
              </a:lnSpc>
              <a:buSzPct val="80000"/>
            </a:pPr>
            <a:r>
              <a:rPr lang="en-US" altLang="en-US" dirty="0"/>
              <a:t>Many systems now </a:t>
            </a:r>
            <a:r>
              <a:rPr lang="en-US" altLang="en-US" b="1" dirty="0">
                <a:solidFill>
                  <a:srgbClr val="006699"/>
                </a:solidFill>
                <a:latin typeface="+mj-lt"/>
              </a:rPr>
              <a:t>servers</a:t>
            </a:r>
            <a:r>
              <a:rPr lang="en-US" altLang="en-US" dirty="0"/>
              <a:t>, responding to requests generated by </a:t>
            </a:r>
            <a:r>
              <a:rPr lang="en-US" altLang="en-US" b="1" dirty="0">
                <a:solidFill>
                  <a:srgbClr val="006699"/>
                </a:solidFill>
                <a:latin typeface="+mj-lt"/>
              </a:rPr>
              <a:t>clients</a:t>
            </a:r>
          </a:p>
          <a:p>
            <a:pPr lvl="2">
              <a:lnSpc>
                <a:spcPct val="90000"/>
              </a:lnSpc>
            </a:pPr>
            <a:r>
              <a:rPr lang="en-US" altLang="en-US" b="1" dirty="0">
                <a:solidFill>
                  <a:srgbClr val="006699"/>
                </a:solidFill>
                <a:latin typeface="+mj-lt"/>
              </a:rPr>
              <a:t>Compute-server system </a:t>
            </a:r>
            <a:r>
              <a:rPr lang="en-US" altLang="en-US" dirty="0"/>
              <a:t>provides an interface to client to request services (i.e., database)</a:t>
            </a:r>
          </a:p>
          <a:p>
            <a:pPr lvl="2">
              <a:lnSpc>
                <a:spcPct val="90000"/>
              </a:lnSpc>
            </a:pPr>
            <a:r>
              <a:rPr lang="en-US" altLang="en-US" b="1" dirty="0">
                <a:solidFill>
                  <a:srgbClr val="006699"/>
                </a:solidFill>
                <a:latin typeface="+mj-lt"/>
              </a:rPr>
              <a:t>File-server system </a:t>
            </a:r>
            <a:r>
              <a:rPr lang="en-US" altLang="en-US" dirty="0"/>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sz="2800"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8"/>
            <a:ext cx="5057775" cy="4530725"/>
          </a:xfrm>
        </p:spPr>
        <p:txBody>
          <a:bodyPr/>
          <a:lstStyle/>
          <a:p>
            <a:r>
              <a:rPr lang="en-US" altLang="en-US" dirty="0"/>
              <a:t>Another model of distributed system</a:t>
            </a:r>
          </a:p>
          <a:p>
            <a:r>
              <a:rPr lang="en-US" altLang="en-US" dirty="0"/>
              <a:t>P2P does not distinguish clients and servers</a:t>
            </a:r>
          </a:p>
          <a:p>
            <a:pPr lvl="1"/>
            <a:r>
              <a:rPr lang="en-US" altLang="en-US" dirty="0"/>
              <a:t>Instead all nodes are considered peers</a:t>
            </a:r>
          </a:p>
          <a:p>
            <a:pPr lvl="1"/>
            <a:r>
              <a:rPr lang="en-US" altLang="en-US" dirty="0"/>
              <a:t>May each act as client, server or both</a:t>
            </a:r>
          </a:p>
          <a:p>
            <a:pPr lvl="1"/>
            <a:r>
              <a:rPr lang="en-US" altLang="en-US" dirty="0"/>
              <a:t>Node must join P2P network</a:t>
            </a:r>
          </a:p>
          <a:p>
            <a:pPr lvl="2"/>
            <a:r>
              <a:rPr lang="en-US" altLang="en-US" dirty="0"/>
              <a:t>Registers its service with central lookup service on network, or</a:t>
            </a:r>
          </a:p>
          <a:p>
            <a:pPr lvl="2"/>
            <a:r>
              <a:rPr lang="en-US" altLang="en-US" dirty="0"/>
              <a:t>Broadcast request for service and respond to requests for service via </a:t>
            </a:r>
            <a:r>
              <a:rPr lang="en-US" altLang="en-US" b="1" i="1" dirty="0"/>
              <a:t>discovery protocol</a:t>
            </a:r>
          </a:p>
          <a:p>
            <a:pPr lvl="1"/>
            <a:r>
              <a:rPr lang="en-US" altLang="en-US" dirty="0"/>
              <a:t>Examples include</a:t>
            </a:r>
            <a:r>
              <a:rPr lang="en-US" altLang="en-US" i="1" dirty="0"/>
              <a:t> </a:t>
            </a:r>
            <a:r>
              <a:rPr lang="en-US" altLang="en-US" dirty="0"/>
              <a:t>Napster</a:t>
            </a:r>
            <a:r>
              <a:rPr lang="en-US" altLang="en-US" i="1" dirty="0"/>
              <a:t> </a:t>
            </a:r>
            <a:r>
              <a:rPr lang="en-US" altLang="en-US" dirty="0"/>
              <a:t>and</a:t>
            </a:r>
            <a:r>
              <a:rPr lang="en-US" altLang="en-US" i="1" dirty="0"/>
              <a:t> </a:t>
            </a:r>
            <a:r>
              <a:rPr lang="en-US" altLang="en-US" dirty="0"/>
              <a:t>Gnutella</a:t>
            </a:r>
            <a:r>
              <a:rPr lang="en-US" altLang="en-US" i="1" dirty="0"/>
              <a:t>, </a:t>
            </a:r>
            <a:r>
              <a:rPr lang="en-US" altLang="en-US" b="1" kern="1200" dirty="0">
                <a:solidFill>
                  <a:srgbClr val="006699"/>
                </a:solidFill>
                <a:latin typeface="+mj-lt"/>
                <a:cs typeface="+mn-cs"/>
              </a:rPr>
              <a:t>Voice over IP </a:t>
            </a:r>
            <a:r>
              <a:rPr lang="en-US" altLang="en-US" dirty="0"/>
              <a:t>(</a:t>
            </a:r>
            <a:r>
              <a:rPr lang="en-US" altLang="en-US" b="1" kern="1200" dirty="0">
                <a:solidFill>
                  <a:srgbClr val="006699"/>
                </a:solidFill>
                <a:latin typeface="+mj-lt"/>
                <a:cs typeface="+mn-cs"/>
              </a:rPr>
              <a:t>VoIP</a:t>
            </a:r>
            <a:r>
              <a:rPr lang="en-US" altLang="en-US" dirty="0"/>
              <a:t>)</a:t>
            </a:r>
            <a:r>
              <a:rPr lang="en-US" altLang="en-US" i="1" dirty="0"/>
              <a:t> </a:t>
            </a:r>
            <a:r>
              <a:rPr lang="en-US" altLang="en-US" dirty="0"/>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0"/>
            <a:ext cx="6347976" cy="4807787"/>
          </a:xfrm>
        </p:spPr>
        <p:txBody>
          <a:bodyPr/>
          <a:lstStyle/>
          <a:p>
            <a:r>
              <a:rPr lang="en-US" altLang="en-US" dirty="0"/>
              <a:t>Delivers computing, storage, even apps as a service across a network</a:t>
            </a:r>
          </a:p>
          <a:p>
            <a:r>
              <a:rPr lang="en-US" altLang="en-US" dirty="0"/>
              <a:t>Logical extension of virtualization because it uses virtualization as the base for it functionality.</a:t>
            </a:r>
          </a:p>
          <a:p>
            <a:pPr lvl="1"/>
            <a:r>
              <a:rPr lang="en-US" altLang="en-US" dirty="0"/>
              <a:t>Amazon </a:t>
            </a:r>
            <a:r>
              <a:rPr lang="en-US" altLang="en-US" b="1" kern="1200" dirty="0">
                <a:solidFill>
                  <a:srgbClr val="006699"/>
                </a:solidFill>
                <a:latin typeface="+mj-lt"/>
                <a:cs typeface="+mn-cs"/>
              </a:rPr>
              <a:t>EC2</a:t>
            </a:r>
            <a:r>
              <a:rPr lang="en-US" altLang="en-US" dirty="0"/>
              <a:t>  has thousands of servers, millions of virtual machines, petabytes of storage available across the Internet, pay based on usage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0"/>
            <a:ext cx="7712075" cy="5103813"/>
          </a:xfrm>
        </p:spPr>
        <p:txBody>
          <a:bodyPr/>
          <a:lstStyle/>
          <a:p>
            <a:r>
              <a:rPr lang="en-US" altLang="en-US"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92200"/>
            <a:ext cx="7645400" cy="1571625"/>
          </a:xfrm>
        </p:spPr>
        <p:txBody>
          <a:bodyPr/>
          <a:lstStyle/>
          <a:p>
            <a:r>
              <a:rPr lang="en-US" altLang="en-US"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sz="2800" kern="0" dirty="0"/>
              <a:t>Cloud Computing (cont.)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058863" y="73025"/>
            <a:ext cx="8229600" cy="711200"/>
          </a:xfrm>
        </p:spPr>
        <p:txBody>
          <a:bodyPr/>
          <a:lstStyle/>
          <a:p>
            <a:r>
              <a:rPr lang="en-US" altLang="en-US" sz="2800"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820738" y="1154113"/>
            <a:ext cx="7688262" cy="4530725"/>
          </a:xfrm>
        </p:spPr>
        <p:txBody>
          <a:bodyPr/>
          <a:lstStyle/>
          <a:p>
            <a:r>
              <a:rPr lang="en-US" altLang="en-US" dirty="0"/>
              <a:t>Real-time embedded systems most prevalent form of computers</a:t>
            </a:r>
          </a:p>
          <a:p>
            <a:pPr lvl="1"/>
            <a:r>
              <a:rPr lang="en-US" altLang="en-US" dirty="0"/>
              <a:t>Vary considerable, special purpose, limited purpose OS,  </a:t>
            </a:r>
            <a:r>
              <a:rPr lang="en-US" altLang="en-US" b="1" kern="1200" dirty="0">
                <a:solidFill>
                  <a:srgbClr val="006699"/>
                </a:solidFill>
                <a:latin typeface="+mj-lt"/>
                <a:cs typeface="+mn-cs"/>
              </a:rPr>
              <a:t>real-time OS</a:t>
            </a:r>
          </a:p>
          <a:p>
            <a:pPr lvl="1"/>
            <a:r>
              <a:rPr lang="en-US" altLang="en-US" dirty="0"/>
              <a:t>Use expanding</a:t>
            </a:r>
          </a:p>
          <a:p>
            <a:r>
              <a:rPr lang="en-US" altLang="en-US" dirty="0"/>
              <a:t>Many other special computing environments as well</a:t>
            </a:r>
          </a:p>
          <a:p>
            <a:pPr lvl="1"/>
            <a:r>
              <a:rPr lang="en-US" altLang="en-US" dirty="0"/>
              <a:t>Some have OSes, some perform tasks without an OS</a:t>
            </a:r>
          </a:p>
          <a:p>
            <a:r>
              <a:rPr lang="en-US" altLang="en-US" dirty="0"/>
              <a:t>Real-time OS has well-defined fixed time constraints</a:t>
            </a:r>
          </a:p>
          <a:p>
            <a:pPr lvl="1"/>
            <a:r>
              <a:rPr lang="en-US" altLang="en-US" dirty="0"/>
              <a:t>Processing </a:t>
            </a:r>
            <a:r>
              <a:rPr lang="en-US" altLang="en-US" b="1" i="1" dirty="0"/>
              <a:t>must</a:t>
            </a:r>
            <a:r>
              <a:rPr lang="en-US" altLang="en-US" dirty="0"/>
              <a:t> be done within constraint</a:t>
            </a:r>
          </a:p>
          <a:p>
            <a:pPr lvl="1"/>
            <a:r>
              <a:rPr lang="en-US" altLang="en-US" dirty="0"/>
              <a:t>Correct operation only if constraints met</a:t>
            </a:r>
          </a:p>
          <a:p>
            <a:pPr lvl="1"/>
            <a:endParaRPr lang="en-US"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961113"/>
            <a:ext cx="7704137" cy="4530725"/>
          </a:xfrm>
        </p:spPr>
        <p:txBody>
          <a:bodyPr/>
          <a:lstStyle/>
          <a:p>
            <a:r>
              <a:rPr lang="en-US" altLang="en-US" dirty="0"/>
              <a:t>Operating systems made available in source-code format rather than just binary </a:t>
            </a:r>
            <a:r>
              <a:rPr lang="en-US" altLang="en-US" b="1" kern="1200" dirty="0">
                <a:solidFill>
                  <a:srgbClr val="006699"/>
                </a:solidFill>
                <a:latin typeface="+mj-lt"/>
                <a:cs typeface="+mn-cs"/>
              </a:rPr>
              <a:t>closed-source</a:t>
            </a:r>
            <a:r>
              <a:rPr lang="en-US" altLang="en-US" b="1" dirty="0">
                <a:solidFill>
                  <a:srgbClr val="3366FF"/>
                </a:solidFill>
              </a:rPr>
              <a:t> </a:t>
            </a:r>
            <a:r>
              <a:rPr lang="en-US" altLang="en-US" dirty="0"/>
              <a:t>and</a:t>
            </a:r>
            <a:r>
              <a:rPr lang="en-US" altLang="en-US" b="1" dirty="0">
                <a:solidFill>
                  <a:srgbClr val="3366FF"/>
                </a:solidFill>
              </a:rPr>
              <a:t> </a:t>
            </a:r>
            <a:r>
              <a:rPr lang="en-US" altLang="en-US" b="1" kern="1200" dirty="0">
                <a:solidFill>
                  <a:srgbClr val="006699"/>
                </a:solidFill>
                <a:latin typeface="+mj-lt"/>
                <a:cs typeface="+mn-cs"/>
              </a:rPr>
              <a:t>proprietary</a:t>
            </a:r>
          </a:p>
          <a:p>
            <a:r>
              <a:rPr lang="en-US" altLang="en-US" dirty="0"/>
              <a:t>Counter to the </a:t>
            </a:r>
            <a:r>
              <a:rPr lang="en-US" altLang="en-US" b="1" kern="1200" dirty="0">
                <a:solidFill>
                  <a:srgbClr val="006699"/>
                </a:solidFill>
                <a:latin typeface="+mj-lt"/>
                <a:cs typeface="+mn-cs"/>
              </a:rPr>
              <a:t>copy protection </a:t>
            </a:r>
            <a:r>
              <a:rPr lang="en-US" altLang="en-US" dirty="0">
                <a:solidFill>
                  <a:srgbClr val="000000"/>
                </a:solidFill>
              </a:rPr>
              <a:t>and </a:t>
            </a:r>
            <a:r>
              <a:rPr lang="en-US" altLang="en-US" b="1" kern="1200" dirty="0">
                <a:solidFill>
                  <a:srgbClr val="006699"/>
                </a:solidFill>
                <a:latin typeface="+mj-lt"/>
                <a:cs typeface="+mn-cs"/>
              </a:rPr>
              <a:t>Digital Rights Management </a:t>
            </a:r>
            <a:r>
              <a:rPr lang="en-US" altLang="en-US" dirty="0"/>
              <a:t>(</a:t>
            </a:r>
            <a:r>
              <a:rPr lang="en-US" altLang="en-US" b="1" kern="1200" dirty="0">
                <a:solidFill>
                  <a:srgbClr val="006699"/>
                </a:solidFill>
                <a:latin typeface="+mj-lt"/>
                <a:cs typeface="+mn-cs"/>
              </a:rPr>
              <a:t>DRM</a:t>
            </a:r>
            <a:r>
              <a:rPr lang="en-US" altLang="en-US" dirty="0"/>
              <a:t>) </a:t>
            </a:r>
            <a:r>
              <a:rPr lang="en-US" altLang="en-US" dirty="0">
                <a:solidFill>
                  <a:srgbClr val="000000"/>
                </a:solidFill>
              </a:rPr>
              <a:t>movement</a:t>
            </a:r>
            <a:endParaRPr lang="en-US" altLang="en-US" sz="800" dirty="0">
              <a:solidFill>
                <a:srgbClr val="000000"/>
              </a:solidFill>
            </a:endParaRPr>
          </a:p>
          <a:p>
            <a:r>
              <a:rPr lang="en-US" altLang="en-US" dirty="0">
                <a:solidFill>
                  <a:srgbClr val="000000"/>
                </a:solidFill>
              </a:rPr>
              <a:t>Started by </a:t>
            </a:r>
            <a:r>
              <a:rPr lang="en-US" altLang="en-US" b="1" kern="1200" dirty="0">
                <a:solidFill>
                  <a:srgbClr val="006699"/>
                </a:solidFill>
                <a:latin typeface="+mj-lt"/>
                <a:cs typeface="+mn-cs"/>
              </a:rPr>
              <a:t>Free Software Foundation </a:t>
            </a:r>
            <a:r>
              <a:rPr lang="en-US" altLang="en-US" dirty="0">
                <a:solidFill>
                  <a:srgbClr val="000000"/>
                </a:solidFill>
              </a:rPr>
              <a:t>(</a:t>
            </a:r>
            <a:r>
              <a:rPr lang="en-US" altLang="en-US" b="1" kern="1200" dirty="0">
                <a:solidFill>
                  <a:srgbClr val="006699"/>
                </a:solidFill>
                <a:latin typeface="+mj-lt"/>
                <a:cs typeface="+mn-cs"/>
              </a:rPr>
              <a:t>FSF</a:t>
            </a:r>
            <a:r>
              <a:rPr lang="en-US" altLang="en-US" dirty="0"/>
              <a:t>)</a:t>
            </a:r>
            <a:r>
              <a:rPr lang="en-US" altLang="en-US" dirty="0">
                <a:solidFill>
                  <a:srgbClr val="000000"/>
                </a:solidFill>
              </a:rPr>
              <a:t>, which has </a:t>
            </a:r>
            <a:r>
              <a:rPr lang="ja-JP" altLang="en-US" dirty="0">
                <a:solidFill>
                  <a:srgbClr val="000000"/>
                </a:solidFill>
              </a:rPr>
              <a:t>“</a:t>
            </a:r>
            <a:r>
              <a:rPr lang="en-US" altLang="ja-JP" dirty="0">
                <a:solidFill>
                  <a:srgbClr val="000000"/>
                </a:solidFill>
              </a:rPr>
              <a:t>copyleft</a:t>
            </a:r>
            <a:r>
              <a:rPr lang="ja-JP" altLang="en-US" dirty="0">
                <a:solidFill>
                  <a:srgbClr val="000000"/>
                </a:solidFill>
              </a:rPr>
              <a:t>”</a:t>
            </a:r>
            <a:r>
              <a:rPr lang="en-US" altLang="ja-JP" dirty="0">
                <a:solidFill>
                  <a:srgbClr val="000000"/>
                </a:solidFill>
              </a:rPr>
              <a:t> </a:t>
            </a:r>
            <a:r>
              <a:rPr lang="en-US" altLang="ja-JP" b="1" kern="1200" dirty="0">
                <a:solidFill>
                  <a:srgbClr val="006699"/>
                </a:solidFill>
                <a:latin typeface="+mj-lt"/>
                <a:cs typeface="+mn-cs"/>
              </a:rPr>
              <a:t>GNU Public License </a:t>
            </a:r>
            <a:r>
              <a:rPr lang="en-US" altLang="ja-JP" dirty="0"/>
              <a:t>(</a:t>
            </a:r>
            <a:r>
              <a:rPr lang="en-US" altLang="ja-JP" b="1" kern="1200" dirty="0">
                <a:solidFill>
                  <a:srgbClr val="006699"/>
                </a:solidFill>
                <a:latin typeface="+mj-lt"/>
                <a:cs typeface="+mn-cs"/>
              </a:rPr>
              <a:t>GPL</a:t>
            </a:r>
            <a:r>
              <a:rPr lang="en-US" altLang="ja-JP" dirty="0"/>
              <a:t>)</a:t>
            </a:r>
          </a:p>
          <a:p>
            <a:pPr lvl="1"/>
            <a:r>
              <a:rPr lang="en-US" altLang="en-US" sz="1600" dirty="0"/>
              <a:t>Free software and open-source software are two different ideas championed by different groups of people</a:t>
            </a:r>
          </a:p>
          <a:p>
            <a:pPr lvl="2"/>
            <a:r>
              <a:rPr lang="en-US" altLang="en-US" sz="1600" b="1" dirty="0">
                <a:solidFill>
                  <a:srgbClr val="663300"/>
                </a:solidFill>
              </a:rPr>
              <a:t>https://www.gnu.org/philosophy/open-source-misses-the-point.en.html</a:t>
            </a:r>
          </a:p>
          <a:p>
            <a:r>
              <a:rPr lang="en-US" altLang="en-US" dirty="0">
                <a:solidFill>
                  <a:srgbClr val="000000"/>
                </a:solidFill>
              </a:rPr>
              <a:t>Examples include </a:t>
            </a:r>
            <a:r>
              <a:rPr lang="en-US" altLang="en-US" b="1" kern="1200" dirty="0">
                <a:solidFill>
                  <a:srgbClr val="006699"/>
                </a:solidFill>
                <a:latin typeface="+mj-lt"/>
                <a:cs typeface="+mn-cs"/>
              </a:rPr>
              <a:t>GNU/Linux </a:t>
            </a:r>
            <a:r>
              <a:rPr lang="en-US" altLang="en-US" dirty="0"/>
              <a:t>and </a:t>
            </a:r>
            <a:r>
              <a:rPr lang="en-US" altLang="en-US" b="1" kern="1200" dirty="0">
                <a:solidFill>
                  <a:srgbClr val="006699"/>
                </a:solidFill>
                <a:latin typeface="+mj-lt"/>
                <a:cs typeface="+mn-cs"/>
              </a:rPr>
              <a:t>BSD UNIX </a:t>
            </a:r>
            <a:r>
              <a:rPr lang="en-US" altLang="en-US" dirty="0">
                <a:solidFill>
                  <a:srgbClr val="000000"/>
                </a:solidFill>
              </a:rPr>
              <a:t>(including core of </a:t>
            </a:r>
            <a:r>
              <a:rPr lang="en-US" altLang="en-US" b="1" kern="1200" dirty="0">
                <a:solidFill>
                  <a:srgbClr val="006699"/>
                </a:solidFill>
                <a:latin typeface="+mj-lt"/>
                <a:cs typeface="+mn-cs"/>
              </a:rPr>
              <a:t>Mac</a:t>
            </a:r>
            <a:r>
              <a:rPr lang="en-US" altLang="en-US" b="1" dirty="0">
                <a:solidFill>
                  <a:srgbClr val="3366FF"/>
                </a:solidFill>
              </a:rPr>
              <a:t> </a:t>
            </a:r>
            <a:r>
              <a:rPr lang="en-US" altLang="en-US" b="1" kern="1200" dirty="0">
                <a:solidFill>
                  <a:srgbClr val="006699"/>
                </a:solidFill>
                <a:latin typeface="+mj-lt"/>
                <a:cs typeface="+mn-cs"/>
              </a:rPr>
              <a:t>OS X</a:t>
            </a:r>
            <a:r>
              <a:rPr lang="en-US" altLang="en-US" dirty="0">
                <a:solidFill>
                  <a:srgbClr val="000000"/>
                </a:solidFill>
              </a:rPr>
              <a:t>), and many more</a:t>
            </a:r>
          </a:p>
          <a:p>
            <a:r>
              <a:rPr lang="en-US" altLang="en-US" dirty="0">
                <a:solidFill>
                  <a:srgbClr val="000000"/>
                </a:solidFill>
              </a:rPr>
              <a:t>Can use VMM like VMware Player (Free on Windows), </a:t>
            </a:r>
            <a:r>
              <a:rPr lang="en-US" altLang="en-US" dirty="0" err="1">
                <a:solidFill>
                  <a:srgbClr val="000000"/>
                </a:solidFill>
              </a:rPr>
              <a:t>Virtualbox</a:t>
            </a:r>
            <a:r>
              <a:rPr lang="en-US" altLang="en-US" dirty="0">
                <a:solidFill>
                  <a:srgbClr val="000000"/>
                </a:solidFill>
              </a:rPr>
              <a:t> (open source and free on many platforms - </a:t>
            </a:r>
            <a:r>
              <a:rPr lang="en-US" altLang="en-US" dirty="0"/>
              <a:t>http://www.virtualbox.com) </a:t>
            </a:r>
          </a:p>
          <a:p>
            <a:pPr lvl="1"/>
            <a:r>
              <a:rPr lang="en-US" altLang="en-US" dirty="0">
                <a:solidFill>
                  <a:srgbClr val="000000"/>
                </a:solidFill>
              </a:rPr>
              <a:t>Use to run guest operating systems for exploration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ECECFDC0-04E7-4125-BDC9-A8852EAD52A0}"/>
              </a:ext>
            </a:extLst>
          </p:cNvPr>
          <p:cNvSpPr>
            <a:spLocks noGrp="1" noChangeArrowheads="1"/>
          </p:cNvSpPr>
          <p:nvPr>
            <p:ph type="title" idx="4294967295"/>
          </p:nvPr>
        </p:nvSpPr>
        <p:spPr>
          <a:xfrm>
            <a:off x="1033463" y="198438"/>
            <a:ext cx="7534275" cy="576262"/>
          </a:xfrm>
        </p:spPr>
        <p:txBody>
          <a:bodyPr/>
          <a:lstStyle/>
          <a:p>
            <a:pPr eaLnBrk="1" hangingPunct="1"/>
            <a:r>
              <a:rPr lang="en-US" altLang="en-US"/>
              <a:t>The Study of Operating Systems</a:t>
            </a:r>
          </a:p>
        </p:txBody>
      </p:sp>
      <p:sp>
        <p:nvSpPr>
          <p:cNvPr id="113667" name="Rectangle 1">
            <a:extLst>
              <a:ext uri="{FF2B5EF4-FFF2-40B4-BE49-F238E27FC236}">
                <a16:creationId xmlns:a16="http://schemas.microsoft.com/office/drawing/2014/main" id="{A9ADB72A-C379-40B9-96E3-D4FAFB9F20C1}"/>
              </a:ext>
            </a:extLst>
          </p:cNvPr>
          <p:cNvSpPr>
            <a:spLocks noChangeArrowheads="1"/>
          </p:cNvSpPr>
          <p:nvPr/>
        </p:nvSpPr>
        <p:spPr bwMode="auto">
          <a:xfrm>
            <a:off x="647700" y="1222375"/>
            <a:ext cx="7920038" cy="4703763"/>
          </a:xfrm>
          <a:prstGeom prst="rect">
            <a:avLst/>
          </a:prstGeom>
          <a:solidFill>
            <a:srgbClr val="CEEBFA"/>
          </a:solidFill>
          <a:ln w="9525" algn="ctr">
            <a:solidFill>
              <a:schemeClr val="tx1"/>
            </a:solidFill>
            <a:round/>
            <a:headEnd/>
            <a:tailEnd/>
          </a:ln>
        </p:spPr>
        <p:txBody>
          <a:bodyPr wrap="none"/>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200" dirty="0">
                <a:latin typeface="Verdana" panose="020B0604030504040204" pitchFamily="34" charset="0"/>
              </a:rPr>
              <a:t>There has never been a more interesting time to study operating systems, and it has never been </a:t>
            </a:r>
          </a:p>
          <a:p>
            <a:pPr>
              <a:spcBef>
                <a:spcPct val="0"/>
              </a:spcBef>
              <a:buClrTx/>
              <a:buSzTx/>
              <a:buFontTx/>
              <a:buNone/>
            </a:pPr>
            <a:r>
              <a:rPr kumimoji="0" lang="en-US" altLang="en-US" sz="1200" dirty="0">
                <a:latin typeface="Verdana" panose="020B0604030504040204" pitchFamily="34" charset="0"/>
              </a:rPr>
              <a:t>easier. The open-source movement has overtaken operating systems, causing many of them to be</a:t>
            </a:r>
          </a:p>
          <a:p>
            <a:pPr>
              <a:spcBef>
                <a:spcPct val="0"/>
              </a:spcBef>
              <a:buClrTx/>
              <a:buSzTx/>
              <a:buFontTx/>
              <a:buNone/>
            </a:pPr>
            <a:r>
              <a:rPr kumimoji="0" lang="en-US" altLang="en-US" sz="1200" dirty="0">
                <a:latin typeface="Verdana" panose="020B0604030504040204" pitchFamily="34" charset="0"/>
              </a:rPr>
              <a:t>made available in both source and binary (executable) format. The list of operating</a:t>
            </a:r>
          </a:p>
          <a:p>
            <a:pPr>
              <a:spcBef>
                <a:spcPct val="0"/>
              </a:spcBef>
              <a:buClrTx/>
              <a:buSzTx/>
              <a:buFontTx/>
              <a:buNone/>
            </a:pPr>
            <a:r>
              <a:rPr kumimoji="0" lang="en-US" altLang="en-US" sz="1200" dirty="0">
                <a:latin typeface="Verdana" panose="020B0604030504040204" pitchFamily="34" charset="0"/>
              </a:rPr>
              <a:t>systems available in both formats includes Linux, BUSD UNIX, Solaris, and part of macOS. </a:t>
            </a:r>
          </a:p>
          <a:p>
            <a:pPr>
              <a:spcBef>
                <a:spcPct val="0"/>
              </a:spcBef>
              <a:buClrTx/>
              <a:buSzTx/>
              <a:buFontTx/>
              <a:buNone/>
            </a:pPr>
            <a:r>
              <a:rPr kumimoji="0" lang="en-US" altLang="en-US" sz="1200" dirty="0">
                <a:latin typeface="Verdana" panose="020B0604030504040204" pitchFamily="34" charset="0"/>
              </a:rPr>
              <a:t>The availability of source code allows us to study operating systems from the inside out. </a:t>
            </a:r>
          </a:p>
          <a:p>
            <a:pPr>
              <a:spcBef>
                <a:spcPct val="0"/>
              </a:spcBef>
              <a:buClrTx/>
              <a:buSzTx/>
              <a:buFontTx/>
              <a:buNone/>
            </a:pPr>
            <a:r>
              <a:rPr kumimoji="0" lang="en-US" altLang="en-US" sz="1200" dirty="0">
                <a:latin typeface="Verdana" panose="020B0604030504040204" pitchFamily="34" charset="0"/>
              </a:rPr>
              <a:t>Questions that we could once answer only by looking at documentation or the behavior of an</a:t>
            </a:r>
          </a:p>
          <a:p>
            <a:pPr>
              <a:spcBef>
                <a:spcPct val="0"/>
              </a:spcBef>
              <a:buClrTx/>
              <a:buSzTx/>
              <a:buFontTx/>
              <a:buNone/>
            </a:pPr>
            <a:r>
              <a:rPr kumimoji="0" lang="en-US" altLang="en-US" sz="1200" dirty="0">
                <a:latin typeface="Verdana" panose="020B0604030504040204" pitchFamily="34" charset="0"/>
              </a:rPr>
              <a:t>operating system we can now answer by examining the code itself.</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Operating systems that are no longer commercially viable have been open-sourced as well, enabling </a:t>
            </a:r>
          </a:p>
          <a:p>
            <a:pPr>
              <a:spcBef>
                <a:spcPct val="0"/>
              </a:spcBef>
              <a:buClrTx/>
              <a:buSzTx/>
              <a:buFontTx/>
              <a:buNone/>
            </a:pPr>
            <a:r>
              <a:rPr kumimoji="0" lang="en-US" altLang="en-US" sz="1200" dirty="0">
                <a:latin typeface="Verdana" panose="020B0604030504040204" pitchFamily="34" charset="0"/>
              </a:rPr>
              <a:t>us to study how systems operated in a time of fewer CPU, memory, and storage resources. </a:t>
            </a:r>
          </a:p>
          <a:p>
            <a:pPr>
              <a:spcBef>
                <a:spcPct val="0"/>
              </a:spcBef>
              <a:buClrTx/>
              <a:buSzTx/>
              <a:buFontTx/>
              <a:buNone/>
            </a:pPr>
            <a:r>
              <a:rPr kumimoji="0" lang="en-US" altLang="en-US" sz="1200" dirty="0">
                <a:latin typeface="Verdana" panose="020B0604030504040204" pitchFamily="34" charset="0"/>
              </a:rPr>
              <a:t>An extensive but incomplete list of open-source operating-system projects is available</a:t>
            </a:r>
          </a:p>
          <a:p>
            <a:pPr>
              <a:spcBef>
                <a:spcPct val="0"/>
              </a:spcBef>
              <a:buClrTx/>
              <a:buSzTx/>
              <a:buFontTx/>
              <a:buNone/>
            </a:pPr>
            <a:r>
              <a:rPr kumimoji="0" lang="en-US" altLang="en-US" sz="1200" dirty="0">
                <a:latin typeface="Verdana" panose="020B0604030504040204" pitchFamily="34" charset="0"/>
              </a:rPr>
              <a:t>from https://curlie.org/Computers/Software/Operating_Systems/Open_Source/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In addition, the rise of virtualization as a mainstream (and frequently free) computer function </a:t>
            </a:r>
          </a:p>
          <a:p>
            <a:pPr>
              <a:spcBef>
                <a:spcPct val="0"/>
              </a:spcBef>
              <a:buClrTx/>
              <a:buSzTx/>
              <a:buFontTx/>
              <a:buNone/>
            </a:pPr>
            <a:r>
              <a:rPr kumimoji="0" lang="en-US" altLang="en-US" sz="1200" dirty="0">
                <a:latin typeface="Verdana" panose="020B0604030504040204" pitchFamily="34" charset="0"/>
              </a:rPr>
              <a:t>makes it possible to run many operating systems on top of one core system. For example, VMware</a:t>
            </a:r>
          </a:p>
          <a:p>
            <a:pPr>
              <a:spcBef>
                <a:spcPct val="0"/>
              </a:spcBef>
              <a:buClrTx/>
              <a:buSzTx/>
              <a:buFontTx/>
              <a:buNone/>
            </a:pPr>
            <a:r>
              <a:rPr kumimoji="0" lang="en-US" altLang="en-US" sz="1200" dirty="0">
                <a:latin typeface="Verdana" panose="020B0604030504040204" pitchFamily="34" charset="0"/>
              </a:rPr>
              <a:t>(http://www.vmware.com) provides a free “player” for Windows on which hundreds of free</a:t>
            </a:r>
          </a:p>
          <a:p>
            <a:pPr>
              <a:spcBef>
                <a:spcPct val="0"/>
              </a:spcBef>
              <a:buClrTx/>
              <a:buSzTx/>
              <a:buFontTx/>
              <a:buNone/>
            </a:pPr>
            <a:r>
              <a:rPr kumimoji="0" lang="en-US" altLang="en-US" sz="1200" dirty="0">
                <a:latin typeface="Verdana" panose="020B0604030504040204" pitchFamily="34" charset="0"/>
              </a:rPr>
              <a:t>“virtual appliances” can run. </a:t>
            </a:r>
            <a:r>
              <a:rPr kumimoji="0" lang="en-US" altLang="en-US" sz="1200" dirty="0" err="1">
                <a:latin typeface="Verdana" panose="020B0604030504040204" pitchFamily="34" charset="0"/>
              </a:rPr>
              <a:t>Virtualbox</a:t>
            </a:r>
            <a:r>
              <a:rPr kumimoji="0" lang="en-US" altLang="en-US" sz="1200" dirty="0">
                <a:latin typeface="Verdana" panose="020B0604030504040204" pitchFamily="34" charset="0"/>
              </a:rPr>
              <a:t> (http://www.virtualbox.com) provides a free, open-source</a:t>
            </a:r>
          </a:p>
          <a:p>
            <a:pPr>
              <a:spcBef>
                <a:spcPct val="0"/>
              </a:spcBef>
              <a:buClrTx/>
              <a:buSzTx/>
              <a:buFontTx/>
              <a:buNone/>
            </a:pPr>
            <a:r>
              <a:rPr kumimoji="0" lang="en-US" altLang="en-US" sz="1200" dirty="0">
                <a:latin typeface="Verdana" panose="020B0604030504040204" pitchFamily="34" charset="0"/>
              </a:rPr>
              <a:t>virtual machine manager on many operating systems. Using such tools, students can try out </a:t>
            </a:r>
          </a:p>
          <a:p>
            <a:pPr>
              <a:spcBef>
                <a:spcPct val="0"/>
              </a:spcBef>
              <a:buClrTx/>
              <a:buSzTx/>
              <a:buFontTx/>
              <a:buNone/>
            </a:pPr>
            <a:r>
              <a:rPr kumimoji="0" lang="en-US" altLang="en-US" sz="1200" dirty="0">
                <a:latin typeface="Verdana" panose="020B0604030504040204" pitchFamily="34" charset="0"/>
              </a:rPr>
              <a:t>hundreds of operating systems without dedicated hardware.</a:t>
            </a:r>
          </a:p>
          <a:p>
            <a:pPr>
              <a:spcBef>
                <a:spcPct val="0"/>
              </a:spcBef>
              <a:buClrTx/>
              <a:buSzTx/>
              <a:buFontTx/>
              <a:buNone/>
            </a:pPr>
            <a:endParaRPr kumimoji="0" lang="en-US" altLang="en-US" sz="1200" dirty="0">
              <a:latin typeface="Verdana" panose="020B0604030504040204" pitchFamily="34" charset="0"/>
            </a:endParaRPr>
          </a:p>
          <a:p>
            <a:pPr>
              <a:spcBef>
                <a:spcPct val="0"/>
              </a:spcBef>
              <a:buClrTx/>
              <a:buSzTx/>
              <a:buFontTx/>
              <a:buNone/>
            </a:pPr>
            <a:r>
              <a:rPr kumimoji="0" lang="en-US" altLang="en-US" sz="1200" dirty="0">
                <a:latin typeface="Verdana" panose="020B0604030504040204" pitchFamily="34" charset="0"/>
              </a:rPr>
              <a:t>The advent of open-source operating systems has also made it easier to make the move from </a:t>
            </a:r>
          </a:p>
          <a:p>
            <a:pPr>
              <a:spcBef>
                <a:spcPct val="0"/>
              </a:spcBef>
              <a:buClrTx/>
              <a:buSzTx/>
              <a:buFontTx/>
              <a:buNone/>
            </a:pPr>
            <a:r>
              <a:rPr kumimoji="0" lang="en-US" altLang="en-US" sz="1200" dirty="0">
                <a:latin typeface="Verdana" panose="020B0604030504040204" pitchFamily="34" charset="0"/>
              </a:rPr>
              <a:t>student to operating-system developer. With some knowledge, some effort, and an Internet </a:t>
            </a:r>
          </a:p>
          <a:p>
            <a:pPr>
              <a:spcBef>
                <a:spcPct val="0"/>
              </a:spcBef>
              <a:buClrTx/>
              <a:buSzTx/>
              <a:buFontTx/>
              <a:buNone/>
            </a:pPr>
            <a:r>
              <a:rPr kumimoji="0" lang="en-US" altLang="en-US" sz="1200" dirty="0">
                <a:latin typeface="Verdana" panose="020B0604030504040204" pitchFamily="34" charset="0"/>
              </a:rPr>
              <a:t>connection, a student can even create a new operating-system distribution. Just a few years ago, </a:t>
            </a:r>
          </a:p>
          <a:p>
            <a:pPr>
              <a:spcBef>
                <a:spcPct val="0"/>
              </a:spcBef>
              <a:buClrTx/>
              <a:buSzTx/>
              <a:buFontTx/>
              <a:buNone/>
            </a:pPr>
            <a:r>
              <a:rPr kumimoji="0" lang="en-US" altLang="en-US" sz="1200" dirty="0">
                <a:latin typeface="Verdana" panose="020B0604030504040204" pitchFamily="34" charset="0"/>
              </a:rPr>
              <a:t>it was difficult or impossible to get access to source code. Now, such access is limited only by</a:t>
            </a:r>
          </a:p>
          <a:p>
            <a:pPr>
              <a:spcBef>
                <a:spcPct val="0"/>
              </a:spcBef>
              <a:buClrTx/>
              <a:buSzTx/>
              <a:buFontTx/>
              <a:buNone/>
            </a:pPr>
            <a:r>
              <a:rPr kumimoji="0" lang="en-US" altLang="en-US" sz="1200" dirty="0">
                <a:latin typeface="Verdana" panose="020B0604030504040204" pitchFamily="34" charset="0"/>
              </a:rPr>
              <a:t>how much interest, time, and disk space a student has.</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6334E2B-E53E-40B6-95AC-130B7A6B180F}"/>
              </a:ext>
            </a:extLst>
          </p:cNvPr>
          <p:cNvCxnSpPr/>
          <p:nvPr/>
        </p:nvCxnSpPr>
        <p:spPr bwMode="auto">
          <a:xfrm>
            <a:off x="0" y="0"/>
            <a:ext cx="914400" cy="0"/>
          </a:xfrm>
          <a:prstGeom prst="line">
            <a:avLst/>
          </a:prstGeom>
          <a:solidFill>
            <a:schemeClr val="accent1"/>
          </a:solidFill>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cxnSp>
      <p:sp>
        <p:nvSpPr>
          <p:cNvPr id="486402" name="Rectangle 2"/>
          <p:cNvSpPr>
            <a:spLocks noGrp="1" noChangeArrowheads="1"/>
          </p:cNvSpPr>
          <p:nvPr>
            <p:ph type="title"/>
          </p:nvPr>
        </p:nvSpPr>
        <p:spPr>
          <a:xfrm>
            <a:off x="469900" y="2736850"/>
            <a:ext cx="8267700" cy="609600"/>
          </a:xfrm>
        </p:spPr>
        <p:txBody>
          <a:bodyPr/>
          <a:lstStyle/>
          <a:p>
            <a:pPr>
              <a:defRPr/>
            </a:pPr>
            <a:r>
              <a:rPr lang="en-US" altLang="en-US" dirty="0">
                <a:effectLst>
                  <a:outerShdw blurRad="38100" dist="38100" dir="2700000" algn="tl">
                    <a:srgbClr val="C0C0C0"/>
                  </a:outerShdw>
                </a:effectLst>
              </a:rPr>
              <a:t>Kernel Data Structure</a:t>
            </a:r>
          </a:p>
        </p:txBody>
      </p:sp>
      <p:sp>
        <p:nvSpPr>
          <p:cNvPr id="11267" name="Rectangle 3"/>
          <p:cNvSpPr>
            <a:spLocks noChangeArrowheads="1"/>
          </p:cNvSpPr>
          <p:nvPr/>
        </p:nvSpPr>
        <p:spPr bwMode="auto">
          <a:xfrm>
            <a:off x="1422400" y="2851150"/>
            <a:ext cx="6845300" cy="281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ＭＳ Ｐゴシック" panose="020B0600070205080204" pitchFamily="34" charset="-128"/>
              </a:defRPr>
            </a:lvl1pPr>
            <a:lvl2pPr marL="742950" indent="-285750">
              <a:defRPr sz="1600">
                <a:solidFill>
                  <a:schemeClr val="tx1"/>
                </a:solidFill>
                <a:latin typeface="Helvetica" panose="020B0604020202020204" pitchFamily="34" charset="0"/>
                <a:ea typeface="ＭＳ Ｐゴシック" panose="020B0600070205080204" pitchFamily="34" charset="-128"/>
              </a:defRPr>
            </a:lvl2pPr>
            <a:lvl3pPr marL="1143000" indent="-228600">
              <a:defRPr sz="1600">
                <a:solidFill>
                  <a:schemeClr val="tx1"/>
                </a:solidFill>
                <a:latin typeface="Helvetica" panose="020B0604020202020204" pitchFamily="34" charset="0"/>
                <a:ea typeface="ＭＳ Ｐゴシック" panose="020B0600070205080204" pitchFamily="34" charset="-128"/>
              </a:defRPr>
            </a:lvl3pPr>
            <a:lvl4pPr marL="1600200" indent="-228600">
              <a:defRPr sz="1600">
                <a:solidFill>
                  <a:schemeClr val="tx1"/>
                </a:solidFill>
                <a:latin typeface="Helvetica" panose="020B0604020202020204" pitchFamily="34" charset="0"/>
                <a:ea typeface="ＭＳ Ｐゴシック" panose="020B0600070205080204" pitchFamily="34" charset="-128"/>
              </a:defRPr>
            </a:lvl4pPr>
            <a:lvl5pPr marL="2057400" indent="-228600">
              <a:defRPr sz="1600">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600">
                <a:solidFill>
                  <a:schemeClr val="tx1"/>
                </a:solidFill>
                <a:latin typeface="Helvetica" panose="020B0604020202020204" pitchFamily="34" charset="0"/>
                <a:ea typeface="ＭＳ Ｐゴシック" panose="020B0600070205080204" pitchFamily="34" charset="-128"/>
              </a:defRPr>
            </a:lvl9pPr>
          </a:lstStyle>
          <a:p>
            <a:pPr>
              <a:spcBef>
                <a:spcPct val="35000"/>
              </a:spcBef>
              <a:buClr>
                <a:schemeClr val="tx2"/>
              </a:buClr>
              <a:buSzPct val="90000"/>
            </a:pPr>
            <a:endParaRPr kumimoji="1" lang="en-US" altLang="en-US" sz="1800"/>
          </a:p>
        </p:txBody>
      </p:sp>
    </p:spTree>
    <p:extLst>
      <p:ext uri="{BB962C8B-B14F-4D97-AF65-F5344CB8AC3E}">
        <p14:creationId xmlns:p14="http://schemas.microsoft.com/office/powerpoint/2010/main" val="24414396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457200" y="220663"/>
            <a:ext cx="8229600" cy="576262"/>
          </a:xfrm>
        </p:spPr>
        <p:txBody>
          <a:bodyPr/>
          <a:lstStyle/>
          <a:p>
            <a:r>
              <a:rPr lang="en-US" altLang="en-US"/>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Font typeface="Monotype Sorts" charse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806450" y="1233488"/>
            <a:ext cx="5468938" cy="1604962"/>
          </a:xfrm>
        </p:spPr>
        <p:txBody>
          <a:bodyPr/>
          <a:lstStyle/>
          <a:p>
            <a:r>
              <a:rPr lang="en-US" altLang="en-US" sz="1800" b="1">
                <a:solidFill>
                  <a:srgbClr val="3366FF"/>
                </a:solidFill>
              </a:rPr>
              <a:t>Binary search tree</a:t>
            </a:r>
            <a:br>
              <a:rPr lang="en-US" altLang="en-US" sz="1800"/>
            </a:br>
            <a:r>
              <a:rPr lang="en-US" altLang="en-US" sz="1800"/>
              <a:t>left &lt;= right</a:t>
            </a:r>
          </a:p>
          <a:p>
            <a:pPr lvl="1"/>
            <a:r>
              <a:rPr lang="en-US" altLang="en-US" sz="1800"/>
              <a:t>Search performance is </a:t>
            </a:r>
            <a:r>
              <a:rPr lang="en-US" altLang="en-US" sz="1800" i="1"/>
              <a:t>O(n)</a:t>
            </a:r>
          </a:p>
          <a:p>
            <a:pPr lvl="1"/>
            <a:r>
              <a:rPr lang="en-US" altLang="en-US" sz="1800" b="1">
                <a:solidFill>
                  <a:srgbClr val="3366FF"/>
                </a:solidFill>
              </a:rPr>
              <a:t>Balanced binary search tree </a:t>
            </a:r>
            <a:r>
              <a:rPr lang="en-US" altLang="en-US" sz="1800"/>
              <a:t>is </a:t>
            </a:r>
            <a:r>
              <a:rPr lang="en-US" altLang="en-US" sz="1800" i="1"/>
              <a:t>O(lg n)</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2979738"/>
            <a:ext cx="275590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806450" y="1233488"/>
            <a:ext cx="7726363" cy="4983162"/>
          </a:xfrm>
        </p:spPr>
        <p:txBody>
          <a:bodyPr/>
          <a:lstStyle/>
          <a:p>
            <a:r>
              <a:rPr lang="en-US" altLang="en-US" sz="1800" b="1">
                <a:solidFill>
                  <a:srgbClr val="3366FF"/>
                </a:solidFill>
              </a:rPr>
              <a:t>Hash function </a:t>
            </a:r>
            <a:r>
              <a:rPr lang="en-US" altLang="en-US" sz="1800"/>
              <a:t>can create a</a:t>
            </a:r>
            <a:r>
              <a:rPr lang="en-US" altLang="en-US" sz="1800" b="1">
                <a:solidFill>
                  <a:srgbClr val="3366FF"/>
                </a:solidFill>
              </a:rPr>
              <a:t> hash map</a:t>
            </a: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pPr>
              <a:buFont typeface="Monotype Sorts" pitchFamily="-84" charset="2"/>
              <a:buNone/>
            </a:pPr>
            <a:endParaRPr lang="en-US" altLang="en-US" sz="1800" b="1" i="1">
              <a:solidFill>
                <a:srgbClr val="3366FF"/>
              </a:solidFill>
            </a:endParaRPr>
          </a:p>
          <a:p>
            <a:r>
              <a:rPr lang="en-US" altLang="en-US" sz="1800" b="1">
                <a:solidFill>
                  <a:srgbClr val="3366FF"/>
                </a:solidFill>
              </a:rPr>
              <a:t>Bitmap</a:t>
            </a:r>
            <a:r>
              <a:rPr lang="en-US" altLang="en-US" sz="1800"/>
              <a:t> – string of </a:t>
            </a:r>
            <a:r>
              <a:rPr lang="en-US" altLang="en-US" sz="1800" i="1"/>
              <a:t>n</a:t>
            </a:r>
            <a:r>
              <a:rPr lang="en-US" altLang="en-US" sz="1800"/>
              <a:t> binary digits representing the status of </a:t>
            </a:r>
            <a:r>
              <a:rPr lang="en-US" altLang="en-US" sz="1800" i="1"/>
              <a:t>n</a:t>
            </a:r>
            <a:r>
              <a:rPr lang="en-US" altLang="en-US" sz="1800"/>
              <a:t> items</a:t>
            </a:r>
          </a:p>
          <a:p>
            <a:r>
              <a:rPr lang="en-US" altLang="en-US" sz="1800"/>
              <a:t>Linux data structures defined in </a:t>
            </a:r>
            <a:r>
              <a:rPr lang="en-US" altLang="en-US" sz="1800" b="1" i="1"/>
              <a:t>include</a:t>
            </a:r>
            <a:r>
              <a:rPr lang="en-US" altLang="en-US" sz="1800"/>
              <a:t> files </a:t>
            </a:r>
            <a:r>
              <a:rPr lang="en-US" altLang="en-US" sz="1800">
                <a:latin typeface="Courier New" panose="02070309020205020404" pitchFamily="49" charset="0"/>
                <a:cs typeface="Courier New" panose="02070309020205020404" pitchFamily="49" charset="0"/>
              </a:rPr>
              <a:t>&lt;linux/list.h&gt;, &lt;linux/kfifo.h&gt;, &lt;linux/rbtree.h&gt;</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4277124629"/>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12150</TotalTime>
  <Words>7801</Words>
  <Application>Microsoft Office PowerPoint</Application>
  <PresentationFormat>On-screen Show (4:3)</PresentationFormat>
  <Paragraphs>810</Paragraphs>
  <Slides>74</Slides>
  <Notes>61</Notes>
  <HiddenSlides>30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74</vt:i4>
      </vt:variant>
    </vt:vector>
  </HeadingPairs>
  <TitlesOfParts>
    <vt:vector size="83" baseType="lpstr">
      <vt:lpstr>Arial</vt:lpstr>
      <vt:lpstr>Courier New</vt:lpstr>
      <vt:lpstr>Helvetica</vt:lpstr>
      <vt:lpstr>Monotype Sorts</vt:lpstr>
      <vt:lpstr>Times New Roman</vt:lpstr>
      <vt:lpstr>Verdana</vt:lpstr>
      <vt:lpstr>Webdings</vt:lpstr>
      <vt:lpstr>Wingdings</vt:lpstr>
      <vt:lpstr>os-8</vt:lpstr>
      <vt:lpstr>Chapter 1:  Introduction</vt:lpstr>
      <vt:lpstr>Chapter 1: Introduction</vt:lpstr>
      <vt:lpstr>Objectives</vt:lpstr>
      <vt:lpstr>What Does the Term Operating System Mean?</vt:lpstr>
      <vt:lpstr>What is an Operating System?</vt:lpstr>
      <vt:lpstr>Computer System Structure</vt:lpstr>
      <vt:lpstr>Abstract View of Components of Computer</vt:lpstr>
      <vt:lpstr>What Operating Systems Do</vt:lpstr>
      <vt:lpstr>Defining Operating Systems</vt:lpstr>
      <vt:lpstr>Operating System Definition</vt:lpstr>
      <vt:lpstr>PowerPoint Presentation</vt:lpstr>
      <vt:lpstr>Computer System Organization</vt:lpstr>
      <vt:lpstr>Computer-System Operation</vt:lpstr>
      <vt:lpstr>Common Functions of Interrupts</vt:lpstr>
      <vt:lpstr>Interrupt Timeline</vt:lpstr>
      <vt:lpstr>Interrupt Handling</vt:lpstr>
      <vt:lpstr>Interrupt-drive I/O Cycle</vt:lpstr>
      <vt:lpstr>I/O Structure</vt:lpstr>
      <vt:lpstr>I/O Structure (Cont.)</vt:lpstr>
      <vt:lpstr>Computer Startup</vt:lpstr>
      <vt:lpstr>PowerPoint Presentation</vt:lpstr>
      <vt:lpstr>Storage Structure</vt:lpstr>
      <vt:lpstr>Storage Structure (Cont.)</vt:lpstr>
      <vt:lpstr>Storage Definitions and Notation Review</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vt:lpstr>
      <vt:lpstr>Memory Layout for Multiprogrammed System</vt:lpstr>
      <vt:lpstr>Dual-mode Operation</vt:lpstr>
      <vt:lpstr>Transition from User to Kernel Mode</vt:lpstr>
      <vt:lpstr>Timer</vt:lpstr>
      <vt:lpstr>Process Management</vt:lpstr>
      <vt:lpstr>Process Management Activities</vt:lpstr>
      <vt:lpstr>Memory Management</vt:lpstr>
      <vt:lpstr>File-system Management</vt:lpstr>
      <vt:lpstr>Mass-Storage Management</vt:lpstr>
      <vt:lpstr>Caching</vt:lpstr>
      <vt:lpstr>Characteristics of Various Types of Storage</vt:lpstr>
      <vt:lpstr>Migration of data “A” from Disk to Register</vt:lpstr>
      <vt:lpstr>I/O Subsystem</vt:lpstr>
      <vt:lpstr>Protection and Security</vt:lpstr>
      <vt:lpstr>Virtualization</vt:lpstr>
      <vt:lpstr>Virtualization (cont.)</vt:lpstr>
      <vt:lpstr>Computing Environments - Virtualization</vt:lpstr>
      <vt:lpstr>Distributed Systems</vt:lpstr>
      <vt:lpstr>PowerPoint Presentation</vt:lpstr>
      <vt:lpstr>Computer-System Architecture</vt:lpstr>
      <vt:lpstr>Symmetric Multiprocessing Architecture</vt:lpstr>
      <vt:lpstr>Dual-Core Design</vt:lpstr>
      <vt:lpstr>Non-Uniform Memory Access System</vt:lpstr>
      <vt:lpstr>Clustered Systems</vt:lpstr>
      <vt:lpstr>Clustered Systems</vt:lpstr>
      <vt:lpstr>PC Motherboard</vt:lpstr>
      <vt:lpstr>PowerPoint Presentation</vt:lpstr>
      <vt:lpstr>Computing Environments</vt:lpstr>
      <vt:lpstr>Traditional</vt:lpstr>
      <vt:lpstr>Mobile</vt:lpstr>
      <vt:lpstr>Client Server</vt:lpstr>
      <vt:lpstr>Peer-to-Peer</vt:lpstr>
      <vt:lpstr>Cloud Computing</vt:lpstr>
      <vt:lpstr>Cloud Computing (Cont.)</vt:lpstr>
      <vt:lpstr>PowerPoint Presentation</vt:lpstr>
      <vt:lpstr>Real-Time Embedded Systems</vt:lpstr>
      <vt:lpstr>Free and Open-Source Operating Systems</vt:lpstr>
      <vt:lpstr>The Study of Operating Systems</vt:lpstr>
      <vt:lpstr>Kernel Data Structure</vt:lpstr>
      <vt:lpstr>Kernel Data Structures</vt:lpstr>
      <vt:lpstr>Kernel Data Structures</vt:lpstr>
      <vt:lpstr>Kernel Data Structures</vt:lpstr>
      <vt:lpstr>End of Chapter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CS Graduate Portal</cp:lastModifiedBy>
  <cp:revision>256</cp:revision>
  <cp:lastPrinted>2001-06-14T13:58:17Z</cp:lastPrinted>
  <dcterms:created xsi:type="dcterms:W3CDTF">2011-01-13T23:43:38Z</dcterms:created>
  <dcterms:modified xsi:type="dcterms:W3CDTF">2026-01-17T11:51:40Z</dcterms:modified>
</cp:coreProperties>
</file>